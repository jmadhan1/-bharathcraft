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F29BD-535F-8E08-F9FC-1EAAC63F3B22}" v="433" dt="2025-10-01T18:08:19.02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72" y="3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7900" y="-12326"/>
            <a:ext cx="14570710" cy="9288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team@bharatcraft.a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omputer and a phone on a desk&#10;&#10;AI-generated content may be incorrect.">
            <a:extLst>
              <a:ext uri="{FF2B5EF4-FFF2-40B4-BE49-F238E27FC236}">
                <a16:creationId xmlns:a16="http://schemas.microsoft.com/office/drawing/2014/main" id="{A7B21CCE-9D6B-E4EF-A37B-7F89C1E14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41" y="266700"/>
            <a:ext cx="17663679" cy="975360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-337705" y="0"/>
            <a:ext cx="18625705" cy="10312978"/>
            <a:chOff x="-337705" y="0"/>
            <a:chExt cx="18625705" cy="10312978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3" name="object 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37705" y="25978"/>
              <a:ext cx="18288000" cy="1028700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5" name="object 5"/>
            <p:cNvSpPr/>
            <p:nvPr/>
          </p:nvSpPr>
          <p:spPr>
            <a:xfrm>
              <a:off x="6207173" y="3159117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4" h="635635">
                  <a:moveTo>
                    <a:pt x="251951" y="428632"/>
                  </a:moveTo>
                  <a:lnTo>
                    <a:pt x="228954" y="393961"/>
                  </a:lnTo>
                  <a:lnTo>
                    <a:pt x="11540" y="332779"/>
                  </a:lnTo>
                  <a:lnTo>
                    <a:pt x="8126" y="331810"/>
                  </a:lnTo>
                  <a:lnTo>
                    <a:pt x="5349" y="329910"/>
                  </a:lnTo>
                  <a:lnTo>
                    <a:pt x="3209" y="327078"/>
                  </a:lnTo>
                  <a:lnTo>
                    <a:pt x="1069" y="324247"/>
                  </a:lnTo>
                  <a:lnTo>
                    <a:pt x="0" y="321056"/>
                  </a:lnTo>
                  <a:lnTo>
                    <a:pt x="0" y="317507"/>
                  </a:lnTo>
                  <a:lnTo>
                    <a:pt x="0" y="313958"/>
                  </a:lnTo>
                  <a:lnTo>
                    <a:pt x="1069" y="310768"/>
                  </a:lnTo>
                  <a:lnTo>
                    <a:pt x="3209" y="307937"/>
                  </a:lnTo>
                  <a:lnTo>
                    <a:pt x="5349" y="305105"/>
                  </a:lnTo>
                  <a:lnTo>
                    <a:pt x="8126" y="303205"/>
                  </a:lnTo>
                  <a:lnTo>
                    <a:pt x="11540" y="302236"/>
                  </a:lnTo>
                  <a:lnTo>
                    <a:pt x="206326" y="251975"/>
                  </a:lnTo>
                  <a:lnTo>
                    <a:pt x="214432" y="249318"/>
                  </a:lnTo>
                  <a:lnTo>
                    <a:pt x="245634" y="222025"/>
                  </a:lnTo>
                  <a:lnTo>
                    <a:pt x="302179" y="11596"/>
                  </a:lnTo>
                  <a:lnTo>
                    <a:pt x="303139" y="8168"/>
                  </a:lnTo>
                  <a:lnTo>
                    <a:pt x="305037" y="5378"/>
                  </a:lnTo>
                  <a:lnTo>
                    <a:pt x="307873" y="3227"/>
                  </a:lnTo>
                  <a:lnTo>
                    <a:pt x="310709" y="1075"/>
                  </a:lnTo>
                  <a:lnTo>
                    <a:pt x="313907" y="0"/>
                  </a:lnTo>
                  <a:lnTo>
                    <a:pt x="317467" y="0"/>
                  </a:lnTo>
                  <a:lnTo>
                    <a:pt x="321027" y="0"/>
                  </a:lnTo>
                  <a:lnTo>
                    <a:pt x="382951" y="206382"/>
                  </a:lnTo>
                  <a:lnTo>
                    <a:pt x="385612" y="214491"/>
                  </a:lnTo>
                  <a:lnTo>
                    <a:pt x="412925" y="245696"/>
                  </a:lnTo>
                  <a:lnTo>
                    <a:pt x="623362" y="302204"/>
                  </a:lnTo>
                  <a:lnTo>
                    <a:pt x="626805" y="303153"/>
                  </a:lnTo>
                  <a:lnTo>
                    <a:pt x="629608" y="305049"/>
                  </a:lnTo>
                  <a:lnTo>
                    <a:pt x="631771" y="307890"/>
                  </a:lnTo>
                  <a:lnTo>
                    <a:pt x="633934" y="310731"/>
                  </a:lnTo>
                  <a:lnTo>
                    <a:pt x="635016" y="313936"/>
                  </a:lnTo>
                  <a:lnTo>
                    <a:pt x="635016" y="317507"/>
                  </a:lnTo>
                  <a:lnTo>
                    <a:pt x="635016" y="321078"/>
                  </a:lnTo>
                  <a:lnTo>
                    <a:pt x="633934" y="324284"/>
                  </a:lnTo>
                  <a:lnTo>
                    <a:pt x="631771" y="327125"/>
                  </a:lnTo>
                  <a:lnTo>
                    <a:pt x="629608" y="329966"/>
                  </a:lnTo>
                  <a:lnTo>
                    <a:pt x="626805" y="331861"/>
                  </a:lnTo>
                  <a:lnTo>
                    <a:pt x="623362" y="332811"/>
                  </a:lnTo>
                  <a:lnTo>
                    <a:pt x="428576" y="383008"/>
                  </a:lnTo>
                  <a:lnTo>
                    <a:pt x="420467" y="385668"/>
                  </a:lnTo>
                  <a:lnTo>
                    <a:pt x="389263" y="412981"/>
                  </a:lnTo>
                  <a:lnTo>
                    <a:pt x="332723" y="623419"/>
                  </a:lnTo>
                  <a:lnTo>
                    <a:pt x="331763" y="626847"/>
                  </a:lnTo>
                  <a:lnTo>
                    <a:pt x="329866" y="629637"/>
                  </a:lnTo>
                  <a:lnTo>
                    <a:pt x="327029" y="631788"/>
                  </a:lnTo>
                  <a:lnTo>
                    <a:pt x="324193" y="633940"/>
                  </a:lnTo>
                  <a:lnTo>
                    <a:pt x="320995" y="635015"/>
                  </a:lnTo>
                  <a:lnTo>
                    <a:pt x="317435" y="635015"/>
                  </a:lnTo>
                  <a:lnTo>
                    <a:pt x="313875" y="635015"/>
                  </a:lnTo>
                  <a:lnTo>
                    <a:pt x="302148" y="623419"/>
                  </a:lnTo>
                  <a:lnTo>
                    <a:pt x="251951" y="428632"/>
                  </a:lnTo>
                  <a:close/>
                </a:path>
              </a:pathLst>
            </a:custGeom>
            <a:ln w="79374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bject 6"/>
          <p:cNvSpPr/>
          <p:nvPr/>
        </p:nvSpPr>
        <p:spPr>
          <a:xfrm>
            <a:off x="6715125" y="31908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499" y="0"/>
                </a:moveTo>
                <a:lnTo>
                  <a:pt x="63499" y="126999"/>
                </a:lnTo>
              </a:path>
              <a:path w="127000" h="127000">
                <a:moveTo>
                  <a:pt x="126999" y="63499"/>
                </a:moveTo>
                <a:lnTo>
                  <a:pt x="0" y="63499"/>
                </a:lnTo>
              </a:path>
            </a:pathLst>
          </a:custGeom>
          <a:ln w="79374">
            <a:solidFill>
              <a:srgbClr val="FF9933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30925" y="3627437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79375" y="7937"/>
                </a:moveTo>
                <a:lnTo>
                  <a:pt x="71437" y="7937"/>
                </a:lnTo>
                <a:lnTo>
                  <a:pt x="71437" y="0"/>
                </a:lnTo>
                <a:lnTo>
                  <a:pt x="7937" y="0"/>
                </a:lnTo>
                <a:lnTo>
                  <a:pt x="7937" y="7937"/>
                </a:lnTo>
                <a:lnTo>
                  <a:pt x="0" y="7937"/>
                </a:lnTo>
                <a:lnTo>
                  <a:pt x="0" y="71437"/>
                </a:lnTo>
                <a:lnTo>
                  <a:pt x="7937" y="71437"/>
                </a:lnTo>
                <a:lnTo>
                  <a:pt x="7937" y="79375"/>
                </a:lnTo>
                <a:lnTo>
                  <a:pt x="71437" y="79375"/>
                </a:lnTo>
                <a:lnTo>
                  <a:pt x="71437" y="71437"/>
                </a:lnTo>
                <a:lnTo>
                  <a:pt x="79375" y="71437"/>
                </a:lnTo>
                <a:lnTo>
                  <a:pt x="79375" y="7937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09067" y="5165148"/>
            <a:ext cx="5145405" cy="914400"/>
          </a:xfrm>
          <a:custGeom>
            <a:avLst/>
            <a:gdLst/>
            <a:ahLst/>
            <a:cxnLst/>
            <a:rect l="l" t="t" r="r" b="b"/>
            <a:pathLst>
              <a:path w="5145405" h="914400">
                <a:moveTo>
                  <a:pt x="5145023" y="914399"/>
                </a:moveTo>
                <a:lnTo>
                  <a:pt x="0" y="914399"/>
                </a:lnTo>
                <a:lnTo>
                  <a:pt x="0" y="0"/>
                </a:lnTo>
                <a:lnTo>
                  <a:pt x="5145023" y="0"/>
                </a:lnTo>
                <a:lnTo>
                  <a:pt x="5145023" y="914399"/>
                </a:lnTo>
                <a:close/>
              </a:path>
            </a:pathLst>
          </a:custGeom>
          <a:solidFill>
            <a:srgbClr val="000000">
              <a:alpha val="50199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717239" y="5011717"/>
            <a:ext cx="5038725" cy="1217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800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Bharatcraft</a:t>
            </a:r>
            <a:endParaRPr sz="7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66614" y="7122680"/>
            <a:ext cx="8415020" cy="1289050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64"/>
              </a:spcBef>
            </a:pPr>
            <a:r>
              <a:rPr sz="30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31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3000" spc="-9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Powered</a:t>
            </a:r>
            <a:r>
              <a:rPr sz="3000" spc="-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sz="3000" spc="-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Marketplace</a:t>
            </a:r>
            <a:r>
              <a:rPr sz="3000" spc="-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000" spc="-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Artisan</a:t>
            </a:r>
            <a:r>
              <a:rPr sz="3000" spc="-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455"/>
              </a:spcBef>
            </a:pPr>
            <a:r>
              <a:rPr sz="2500" b="1" spc="-150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Empowering</a:t>
            </a:r>
            <a:r>
              <a:rPr sz="2500" b="1" spc="-100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50" b="1" spc="-150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2450" b="1" spc="-145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14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Million</a:t>
            </a:r>
            <a:r>
              <a:rPr sz="2500" b="1" spc="-95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30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Artisans</a:t>
            </a:r>
            <a:r>
              <a:rPr sz="2500" b="1" spc="-100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25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500" b="1" spc="-95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60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</a:t>
            </a:r>
            <a:r>
              <a:rPr sz="2500" b="1" spc="-100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55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sz="2500" b="1" spc="-95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0" dirty="0">
                <a:solidFill>
                  <a:srgbClr val="86EFA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Markets</a:t>
            </a:r>
            <a:endParaRPr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38354" y="9072129"/>
            <a:ext cx="7038975" cy="1219200"/>
            <a:chOff x="5629275" y="6162675"/>
            <a:chExt cx="7038975" cy="1219200"/>
          </a:xfrm>
        </p:grpSpPr>
        <p:sp>
          <p:nvSpPr>
            <p:cNvPr id="12" name="object 12"/>
            <p:cNvSpPr/>
            <p:nvPr/>
          </p:nvSpPr>
          <p:spPr>
            <a:xfrm>
              <a:off x="5638800" y="6172200"/>
              <a:ext cx="7019925" cy="1200150"/>
            </a:xfrm>
            <a:custGeom>
              <a:avLst/>
              <a:gdLst/>
              <a:ahLst/>
              <a:cxnLst/>
              <a:rect l="l" t="t" r="r" b="b"/>
              <a:pathLst>
                <a:path w="7019925" h="1200150">
                  <a:moveTo>
                    <a:pt x="6877050" y="1200150"/>
                  </a:moveTo>
                  <a:lnTo>
                    <a:pt x="142875" y="1200150"/>
                  </a:lnTo>
                  <a:lnTo>
                    <a:pt x="135855" y="1199978"/>
                  </a:lnTo>
                  <a:lnTo>
                    <a:pt x="94748" y="1191800"/>
                  </a:lnTo>
                  <a:lnTo>
                    <a:pt x="57755" y="1172028"/>
                  </a:lnTo>
                  <a:lnTo>
                    <a:pt x="28120" y="1142392"/>
                  </a:lnTo>
                  <a:lnTo>
                    <a:pt x="8347" y="1105399"/>
                  </a:lnTo>
                  <a:lnTo>
                    <a:pt x="171" y="1064293"/>
                  </a:lnTo>
                  <a:lnTo>
                    <a:pt x="0" y="1057275"/>
                  </a:lnTo>
                  <a:lnTo>
                    <a:pt x="0" y="142875"/>
                  </a:lnTo>
                  <a:lnTo>
                    <a:pt x="6149" y="101399"/>
                  </a:lnTo>
                  <a:lnTo>
                    <a:pt x="24078" y="63497"/>
                  </a:lnTo>
                  <a:lnTo>
                    <a:pt x="52233" y="32429"/>
                  </a:lnTo>
                  <a:lnTo>
                    <a:pt x="88198" y="10874"/>
                  </a:lnTo>
                  <a:lnTo>
                    <a:pt x="128870" y="686"/>
                  </a:lnTo>
                  <a:lnTo>
                    <a:pt x="142875" y="0"/>
                  </a:lnTo>
                  <a:lnTo>
                    <a:pt x="6877050" y="0"/>
                  </a:lnTo>
                  <a:lnTo>
                    <a:pt x="6918522" y="6150"/>
                  </a:lnTo>
                  <a:lnTo>
                    <a:pt x="6956424" y="24078"/>
                  </a:lnTo>
                  <a:lnTo>
                    <a:pt x="6987493" y="52234"/>
                  </a:lnTo>
                  <a:lnTo>
                    <a:pt x="7009047" y="88198"/>
                  </a:lnTo>
                  <a:lnTo>
                    <a:pt x="7019237" y="128870"/>
                  </a:lnTo>
                  <a:lnTo>
                    <a:pt x="7019925" y="142875"/>
                  </a:lnTo>
                  <a:lnTo>
                    <a:pt x="7019925" y="1057275"/>
                  </a:lnTo>
                  <a:lnTo>
                    <a:pt x="7013772" y="1098749"/>
                  </a:lnTo>
                  <a:lnTo>
                    <a:pt x="6995844" y="1136651"/>
                  </a:lnTo>
                  <a:lnTo>
                    <a:pt x="6967687" y="1167719"/>
                  </a:lnTo>
                  <a:lnTo>
                    <a:pt x="6931723" y="1189273"/>
                  </a:lnTo>
                  <a:lnTo>
                    <a:pt x="6891053" y="1199463"/>
                  </a:lnTo>
                  <a:lnTo>
                    <a:pt x="6877050" y="120015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638800" y="6172200"/>
              <a:ext cx="7019925" cy="1200150"/>
            </a:xfrm>
            <a:custGeom>
              <a:avLst/>
              <a:gdLst/>
              <a:ahLst/>
              <a:cxnLst/>
              <a:rect l="l" t="t" r="r" b="b"/>
              <a:pathLst>
                <a:path w="7019925" h="1200150">
                  <a:moveTo>
                    <a:pt x="0" y="1057275"/>
                  </a:moveTo>
                  <a:lnTo>
                    <a:pt x="0" y="142875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20" y="57756"/>
                  </a:lnTo>
                  <a:lnTo>
                    <a:pt x="57755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5" y="0"/>
                  </a:lnTo>
                  <a:lnTo>
                    <a:pt x="6877050" y="0"/>
                  </a:lnTo>
                  <a:lnTo>
                    <a:pt x="6918522" y="6150"/>
                  </a:lnTo>
                  <a:lnTo>
                    <a:pt x="6956424" y="24078"/>
                  </a:lnTo>
                  <a:lnTo>
                    <a:pt x="6987493" y="52234"/>
                  </a:lnTo>
                  <a:lnTo>
                    <a:pt x="7009047" y="88198"/>
                  </a:lnTo>
                  <a:lnTo>
                    <a:pt x="7019237" y="128870"/>
                  </a:lnTo>
                  <a:lnTo>
                    <a:pt x="7019925" y="142875"/>
                  </a:lnTo>
                  <a:lnTo>
                    <a:pt x="7019925" y="1057275"/>
                  </a:lnTo>
                  <a:lnTo>
                    <a:pt x="7013772" y="1098749"/>
                  </a:lnTo>
                  <a:lnTo>
                    <a:pt x="6995844" y="1136651"/>
                  </a:lnTo>
                  <a:lnTo>
                    <a:pt x="6967687" y="1167719"/>
                  </a:lnTo>
                  <a:lnTo>
                    <a:pt x="6931723" y="1189273"/>
                  </a:lnTo>
                  <a:lnTo>
                    <a:pt x="6891053" y="1199463"/>
                  </a:lnTo>
                  <a:lnTo>
                    <a:pt x="6877050" y="1200150"/>
                  </a:lnTo>
                  <a:lnTo>
                    <a:pt x="142875" y="1200150"/>
                  </a:lnTo>
                  <a:lnTo>
                    <a:pt x="101399" y="1193998"/>
                  </a:lnTo>
                  <a:lnTo>
                    <a:pt x="63496" y="1176070"/>
                  </a:lnTo>
                  <a:lnTo>
                    <a:pt x="32429" y="1147914"/>
                  </a:lnTo>
                  <a:lnTo>
                    <a:pt x="10874" y="1111950"/>
                  </a:lnTo>
                  <a:lnTo>
                    <a:pt x="685" y="1071278"/>
                  </a:lnTo>
                  <a:lnTo>
                    <a:pt x="0" y="1057275"/>
                  </a:lnTo>
                  <a:close/>
                </a:path>
              </a:pathLst>
            </a:custGeom>
            <a:ln w="19050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88062" y="9272635"/>
            <a:ext cx="6111875" cy="825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550" b="1" spc="-17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TechGig</a:t>
            </a:r>
            <a:r>
              <a:rPr sz="2550" b="1" spc="-125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b="1" spc="-135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Hackathon</a:t>
            </a:r>
            <a:r>
              <a:rPr sz="2550" b="1" spc="-13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50" b="1" spc="-2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IN" sz="2450" b="1" spc="-2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000" spc="-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sz="2000" spc="-7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  <a:r>
              <a:rPr sz="2000" spc="-7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7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sz="2050" spc="-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50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Driving</a:t>
            </a:r>
            <a:r>
              <a:rPr sz="2000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r>
              <a:rPr sz="2000" spc="-7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Resilience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6482" y="1234068"/>
            <a:ext cx="10795635" cy="117538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500" spc="-35" dirty="0">
                <a:solidFill>
                  <a:srgbClr val="FFFFFF"/>
                </a:solidFill>
                <a:latin typeface="Times New Roman"/>
                <a:cs typeface="Times New Roman"/>
              </a:rPr>
              <a:t>Millions</a:t>
            </a:r>
            <a:r>
              <a:rPr sz="2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5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Times New Roman"/>
                <a:cs typeface="Times New Roman"/>
              </a:rPr>
              <a:t>skilled</a:t>
            </a:r>
            <a:r>
              <a:rPr sz="2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artisans</a:t>
            </a:r>
            <a:r>
              <a:rPr sz="25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70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500" spc="-20" dirty="0">
                <a:solidFill>
                  <a:srgbClr val="FFFFFF"/>
                </a:solidFill>
                <a:latin typeface="Times New Roman"/>
                <a:cs typeface="Times New Roman"/>
              </a:rPr>
              <a:t>trapped</a:t>
            </a:r>
            <a:r>
              <a:rPr sz="25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85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5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Times New Roman"/>
                <a:cs typeface="Times New Roman"/>
              </a:rPr>
              <a:t>ecosystem</a:t>
            </a:r>
            <a:r>
              <a:rPr sz="2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5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exploitation</a:t>
            </a:r>
            <a:r>
              <a:rPr sz="245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550"/>
              </a:spcBef>
            </a:pPr>
            <a:r>
              <a:rPr sz="245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245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5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Money </a:t>
            </a:r>
            <a:r>
              <a:rPr sz="24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Goes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72155" y="7339409"/>
            <a:ext cx="5182870" cy="27892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75" dirty="0">
                <a:solidFill>
                  <a:srgbClr val="F77070"/>
                </a:solidFill>
                <a:latin typeface="Times New Roman"/>
                <a:cs typeface="Times New Roman"/>
              </a:rPr>
              <a:t>Artisans </a:t>
            </a:r>
            <a:r>
              <a:rPr sz="1650" b="1" spc="-55" dirty="0">
                <a:solidFill>
                  <a:srgbClr val="F77070"/>
                </a:solidFill>
                <a:latin typeface="Times New Roman"/>
                <a:cs typeface="Times New Roman"/>
              </a:rPr>
              <a:t>create</a:t>
            </a:r>
            <a:r>
              <a:rPr sz="1650" b="1" spc="-65" dirty="0">
                <a:solidFill>
                  <a:srgbClr val="F77070"/>
                </a:solidFill>
                <a:latin typeface="Times New Roman"/>
                <a:cs typeface="Times New Roman"/>
              </a:rPr>
              <a:t> </a:t>
            </a:r>
            <a:r>
              <a:rPr sz="1650" b="1" spc="-55" dirty="0">
                <a:solidFill>
                  <a:srgbClr val="F77070"/>
                </a:solidFill>
                <a:latin typeface="Times New Roman"/>
                <a:cs typeface="Times New Roman"/>
              </a:rPr>
              <a:t>the</a:t>
            </a:r>
            <a:r>
              <a:rPr sz="1650" b="1" spc="-65" dirty="0">
                <a:solidFill>
                  <a:srgbClr val="F77070"/>
                </a:solidFill>
                <a:latin typeface="Times New Roman"/>
                <a:cs typeface="Times New Roman"/>
              </a:rPr>
              <a:t> value </a:t>
            </a:r>
            <a:r>
              <a:rPr sz="1650" b="1" spc="-70" dirty="0">
                <a:solidFill>
                  <a:srgbClr val="F77070"/>
                </a:solidFill>
                <a:latin typeface="Times New Roman"/>
                <a:cs typeface="Times New Roman"/>
              </a:rPr>
              <a:t>but</a:t>
            </a:r>
            <a:r>
              <a:rPr sz="1650" b="1" spc="-65" dirty="0">
                <a:solidFill>
                  <a:srgbClr val="F77070"/>
                </a:solidFill>
                <a:latin typeface="Times New Roman"/>
                <a:cs typeface="Times New Roman"/>
              </a:rPr>
              <a:t> </a:t>
            </a:r>
            <a:r>
              <a:rPr sz="1650" b="1" spc="-60" dirty="0">
                <a:solidFill>
                  <a:srgbClr val="F77070"/>
                </a:solidFill>
                <a:latin typeface="Times New Roman"/>
                <a:cs typeface="Times New Roman"/>
              </a:rPr>
              <a:t>receive</a:t>
            </a:r>
            <a:r>
              <a:rPr sz="1650" b="1" spc="-65" dirty="0">
                <a:solidFill>
                  <a:srgbClr val="F77070"/>
                </a:solidFill>
                <a:latin typeface="Times New Roman"/>
                <a:cs typeface="Times New Roman"/>
              </a:rPr>
              <a:t> </a:t>
            </a:r>
            <a:r>
              <a:rPr sz="1650" b="1" spc="-55" dirty="0">
                <a:solidFill>
                  <a:srgbClr val="F77070"/>
                </a:solidFill>
                <a:latin typeface="Times New Roman"/>
                <a:cs typeface="Times New Roman"/>
              </a:rPr>
              <a:t>the</a:t>
            </a:r>
            <a:r>
              <a:rPr sz="1650" b="1" spc="-65" dirty="0">
                <a:solidFill>
                  <a:srgbClr val="F77070"/>
                </a:solidFill>
                <a:latin typeface="Times New Roman"/>
                <a:cs typeface="Times New Roman"/>
              </a:rPr>
              <a:t> </a:t>
            </a:r>
            <a:r>
              <a:rPr sz="1650" b="1" spc="-75" dirty="0">
                <a:solidFill>
                  <a:srgbClr val="F77070"/>
                </a:solidFill>
                <a:latin typeface="Times New Roman"/>
                <a:cs typeface="Times New Roman"/>
              </a:rPr>
              <a:t>smallest</a:t>
            </a:r>
            <a:r>
              <a:rPr sz="1650" b="1" spc="-65" dirty="0">
                <a:solidFill>
                  <a:srgbClr val="F77070"/>
                </a:solidFill>
                <a:latin typeface="Times New Roman"/>
                <a:cs typeface="Times New Roman"/>
              </a:rPr>
              <a:t> </a:t>
            </a:r>
            <a:r>
              <a:rPr sz="1650" b="1" spc="-10" dirty="0">
                <a:solidFill>
                  <a:srgbClr val="F77070"/>
                </a:solidFill>
                <a:latin typeface="Times New Roman"/>
                <a:cs typeface="Times New Roman"/>
              </a:rPr>
              <a:t>share</a:t>
            </a:r>
            <a:r>
              <a:rPr sz="1700" b="1" spc="-10" dirty="0">
                <a:solidFill>
                  <a:srgbClr val="F77070"/>
                </a:solidFill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67719" y="9894947"/>
            <a:ext cx="1723389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95" dirty="0">
                <a:solidFill>
                  <a:srgbClr val="FFFFFF"/>
                </a:solidFill>
                <a:latin typeface="Times New Roman"/>
                <a:cs typeface="Times New Roman"/>
              </a:rPr>
              <a:t>02</a:t>
            </a:r>
            <a:r>
              <a:rPr sz="13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13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sz="13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18288000" cy="1028700"/>
            <a:chOff x="0" y="0"/>
            <a:chExt cx="18288000" cy="102870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18288000" cy="1028700"/>
            </a:xfrm>
            <a:custGeom>
              <a:avLst/>
              <a:gdLst/>
              <a:ahLst/>
              <a:cxnLst/>
              <a:rect l="l" t="t" r="r" b="b"/>
              <a:pathLst>
                <a:path w="18288000" h="1028700">
                  <a:moveTo>
                    <a:pt x="18288000" y="1028700"/>
                  </a:moveTo>
                  <a:lnTo>
                    <a:pt x="0" y="1028700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02870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653632" y="314016"/>
              <a:ext cx="445134" cy="400685"/>
            </a:xfrm>
            <a:custGeom>
              <a:avLst/>
              <a:gdLst/>
              <a:ahLst/>
              <a:cxnLst/>
              <a:rect l="l" t="t" r="r" b="b"/>
              <a:pathLst>
                <a:path w="445134" h="400684">
                  <a:moveTo>
                    <a:pt x="438916" y="333683"/>
                  </a:moveTo>
                  <a:lnTo>
                    <a:pt x="261116" y="22533"/>
                  </a:lnTo>
                  <a:lnTo>
                    <a:pt x="257170" y="15570"/>
                  </a:lnTo>
                  <a:lnTo>
                    <a:pt x="251739" y="10074"/>
                  </a:lnTo>
                  <a:lnTo>
                    <a:pt x="244824" y="6044"/>
                  </a:lnTo>
                  <a:lnTo>
                    <a:pt x="237908" y="2014"/>
                  </a:lnTo>
                  <a:lnTo>
                    <a:pt x="230449" y="0"/>
                  </a:lnTo>
                  <a:lnTo>
                    <a:pt x="222445" y="0"/>
                  </a:lnTo>
                  <a:lnTo>
                    <a:pt x="214441" y="0"/>
                  </a:lnTo>
                  <a:lnTo>
                    <a:pt x="206981" y="2014"/>
                  </a:lnTo>
                  <a:lnTo>
                    <a:pt x="200066" y="6044"/>
                  </a:lnTo>
                  <a:lnTo>
                    <a:pt x="193150" y="10074"/>
                  </a:lnTo>
                  <a:lnTo>
                    <a:pt x="187720" y="15570"/>
                  </a:lnTo>
                  <a:lnTo>
                    <a:pt x="183773" y="22533"/>
                  </a:lnTo>
                  <a:lnTo>
                    <a:pt x="5973" y="333683"/>
                  </a:lnTo>
                  <a:lnTo>
                    <a:pt x="1985" y="340591"/>
                  </a:lnTo>
                  <a:lnTo>
                    <a:pt x="0" y="348032"/>
                  </a:lnTo>
                  <a:lnTo>
                    <a:pt x="17" y="356009"/>
                  </a:lnTo>
                  <a:lnTo>
                    <a:pt x="35" y="363985"/>
                  </a:lnTo>
                  <a:lnTo>
                    <a:pt x="2053" y="371418"/>
                  </a:lnTo>
                  <a:lnTo>
                    <a:pt x="6072" y="378307"/>
                  </a:lnTo>
                  <a:lnTo>
                    <a:pt x="10091" y="385197"/>
                  </a:lnTo>
                  <a:lnTo>
                    <a:pt x="15568" y="390612"/>
                  </a:lnTo>
                  <a:lnTo>
                    <a:pt x="22502" y="394554"/>
                  </a:lnTo>
                  <a:lnTo>
                    <a:pt x="29436" y="398495"/>
                  </a:lnTo>
                  <a:lnTo>
                    <a:pt x="36891" y="400430"/>
                  </a:lnTo>
                  <a:lnTo>
                    <a:pt x="44867" y="400358"/>
                  </a:lnTo>
                  <a:lnTo>
                    <a:pt x="400467" y="400358"/>
                  </a:lnTo>
                  <a:lnTo>
                    <a:pt x="404366" y="400354"/>
                  </a:lnTo>
                  <a:lnTo>
                    <a:pt x="408199" y="399846"/>
                  </a:lnTo>
                  <a:lnTo>
                    <a:pt x="411964" y="398833"/>
                  </a:lnTo>
                  <a:lnTo>
                    <a:pt x="415730" y="397821"/>
                  </a:lnTo>
                  <a:lnTo>
                    <a:pt x="419301" y="396338"/>
                  </a:lnTo>
                  <a:lnTo>
                    <a:pt x="422676" y="394386"/>
                  </a:lnTo>
                  <a:lnTo>
                    <a:pt x="426051" y="392434"/>
                  </a:lnTo>
                  <a:lnTo>
                    <a:pt x="429117" y="390078"/>
                  </a:lnTo>
                  <a:lnTo>
                    <a:pt x="431872" y="387319"/>
                  </a:lnTo>
                  <a:lnTo>
                    <a:pt x="434628" y="384560"/>
                  </a:lnTo>
                  <a:lnTo>
                    <a:pt x="443361" y="367396"/>
                  </a:lnTo>
                  <a:lnTo>
                    <a:pt x="444369" y="363630"/>
                  </a:lnTo>
                  <a:lnTo>
                    <a:pt x="444872" y="359796"/>
                  </a:lnTo>
                  <a:lnTo>
                    <a:pt x="444871" y="355897"/>
                  </a:lnTo>
                  <a:lnTo>
                    <a:pt x="444870" y="351998"/>
                  </a:lnTo>
                  <a:lnTo>
                    <a:pt x="444365" y="348165"/>
                  </a:lnTo>
                  <a:lnTo>
                    <a:pt x="443355" y="344398"/>
                  </a:lnTo>
                  <a:lnTo>
                    <a:pt x="442346" y="340632"/>
                  </a:lnTo>
                  <a:lnTo>
                    <a:pt x="440866" y="337060"/>
                  </a:lnTo>
                  <a:lnTo>
                    <a:pt x="438916" y="333683"/>
                  </a:lnTo>
                </a:path>
                <a:path w="445134" h="400684">
                  <a:moveTo>
                    <a:pt x="222667" y="133658"/>
                  </a:moveTo>
                  <a:lnTo>
                    <a:pt x="222667" y="222558"/>
                  </a:lnTo>
                </a:path>
                <a:path w="445134" h="400684">
                  <a:moveTo>
                    <a:pt x="222667" y="311458"/>
                  </a:moveTo>
                  <a:lnTo>
                    <a:pt x="222889" y="311458"/>
                  </a:lnTo>
                </a:path>
              </a:pathLst>
            </a:custGeom>
            <a:ln w="44450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77900" y="-12326"/>
            <a:ext cx="14570710" cy="873957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95"/>
              </a:spcBef>
            </a:pPr>
            <a:r>
              <a:rPr spc="-220" dirty="0">
                <a:latin typeface="Times New Roman"/>
                <a:cs typeface="Times New Roman"/>
              </a:rPr>
              <a:t>The</a:t>
            </a:r>
            <a:r>
              <a:rPr spc="-315" dirty="0">
                <a:latin typeface="Times New Roman"/>
                <a:cs typeface="Times New Roman"/>
              </a:rPr>
              <a:t> </a:t>
            </a:r>
            <a:r>
              <a:rPr spc="-235" dirty="0">
                <a:latin typeface="Times New Roman"/>
                <a:cs typeface="Times New Roman"/>
              </a:rPr>
              <a:t>Artisan</a:t>
            </a:r>
            <a:r>
              <a:rPr spc="-310" dirty="0">
                <a:latin typeface="Times New Roman"/>
                <a:cs typeface="Times New Roman"/>
              </a:rPr>
              <a:t> </a:t>
            </a:r>
            <a:r>
              <a:rPr spc="-275" dirty="0">
                <a:latin typeface="Times New Roman"/>
                <a:cs typeface="Times New Roman"/>
              </a:rPr>
              <a:t>Crisis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457200" y="3276600"/>
            <a:ext cx="8534400" cy="1085850"/>
            <a:chOff x="457200" y="3276600"/>
            <a:chExt cx="8534400" cy="1085850"/>
          </a:xfrm>
        </p:grpSpPr>
        <p:sp>
          <p:nvSpPr>
            <p:cNvPr id="10" name="object 10"/>
            <p:cNvSpPr/>
            <p:nvPr/>
          </p:nvSpPr>
          <p:spPr>
            <a:xfrm>
              <a:off x="461962" y="3281362"/>
              <a:ext cx="8524875" cy="1076325"/>
            </a:xfrm>
            <a:custGeom>
              <a:avLst/>
              <a:gdLst/>
              <a:ahLst/>
              <a:cxnLst/>
              <a:rect l="l" t="t" r="r" b="b"/>
              <a:pathLst>
                <a:path w="8524875" h="1076325">
                  <a:moveTo>
                    <a:pt x="0" y="9667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8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8415337" y="0"/>
                  </a:lnTo>
                  <a:lnTo>
                    <a:pt x="8422529" y="0"/>
                  </a:lnTo>
                  <a:lnTo>
                    <a:pt x="8429652" y="701"/>
                  </a:lnTo>
                  <a:lnTo>
                    <a:pt x="8470211" y="14464"/>
                  </a:lnTo>
                  <a:lnTo>
                    <a:pt x="8502418" y="42701"/>
                  </a:lnTo>
                  <a:lnTo>
                    <a:pt x="8506413" y="48681"/>
                  </a:lnTo>
                  <a:lnTo>
                    <a:pt x="8510409" y="54661"/>
                  </a:lnTo>
                  <a:lnTo>
                    <a:pt x="8513783" y="60974"/>
                  </a:lnTo>
                  <a:lnTo>
                    <a:pt x="8516535" y="67618"/>
                  </a:lnTo>
                  <a:lnTo>
                    <a:pt x="8519288" y="74263"/>
                  </a:lnTo>
                  <a:lnTo>
                    <a:pt x="8521366" y="81113"/>
                  </a:lnTo>
                  <a:lnTo>
                    <a:pt x="8522769" y="88167"/>
                  </a:lnTo>
                  <a:lnTo>
                    <a:pt x="8524173" y="95221"/>
                  </a:lnTo>
                  <a:lnTo>
                    <a:pt x="8524874" y="102345"/>
                  </a:lnTo>
                  <a:lnTo>
                    <a:pt x="8524875" y="109537"/>
                  </a:lnTo>
                  <a:lnTo>
                    <a:pt x="8524875" y="966787"/>
                  </a:lnTo>
                  <a:lnTo>
                    <a:pt x="8524874" y="973979"/>
                  </a:lnTo>
                  <a:lnTo>
                    <a:pt x="8524173" y="981102"/>
                  </a:lnTo>
                  <a:lnTo>
                    <a:pt x="8522769" y="988156"/>
                  </a:lnTo>
                  <a:lnTo>
                    <a:pt x="8521366" y="995211"/>
                  </a:lnTo>
                  <a:lnTo>
                    <a:pt x="8519288" y="1002060"/>
                  </a:lnTo>
                  <a:lnTo>
                    <a:pt x="8516535" y="1008705"/>
                  </a:lnTo>
                  <a:lnTo>
                    <a:pt x="8513783" y="1015350"/>
                  </a:lnTo>
                  <a:lnTo>
                    <a:pt x="8510409" y="1021662"/>
                  </a:lnTo>
                  <a:lnTo>
                    <a:pt x="8506413" y="1027642"/>
                  </a:lnTo>
                  <a:lnTo>
                    <a:pt x="8502417" y="1033623"/>
                  </a:lnTo>
                  <a:lnTo>
                    <a:pt x="8470211" y="1061859"/>
                  </a:lnTo>
                  <a:lnTo>
                    <a:pt x="8429652" y="1075623"/>
                  </a:lnTo>
                  <a:lnTo>
                    <a:pt x="8415337" y="1076325"/>
                  </a:lnTo>
                  <a:lnTo>
                    <a:pt x="109537" y="1076325"/>
                  </a:lnTo>
                  <a:lnTo>
                    <a:pt x="67619" y="1067986"/>
                  </a:lnTo>
                  <a:lnTo>
                    <a:pt x="48681" y="1057864"/>
                  </a:lnTo>
                  <a:lnTo>
                    <a:pt x="42701" y="1053868"/>
                  </a:lnTo>
                  <a:lnTo>
                    <a:pt x="37168" y="1049327"/>
                  </a:lnTo>
                  <a:lnTo>
                    <a:pt x="32082" y="1044241"/>
                  </a:lnTo>
                  <a:lnTo>
                    <a:pt x="26996" y="1039156"/>
                  </a:lnTo>
                  <a:lnTo>
                    <a:pt x="22456" y="1033623"/>
                  </a:lnTo>
                  <a:lnTo>
                    <a:pt x="18460" y="1027642"/>
                  </a:lnTo>
                  <a:lnTo>
                    <a:pt x="14464" y="1021662"/>
                  </a:lnTo>
                  <a:lnTo>
                    <a:pt x="11090" y="1015350"/>
                  </a:lnTo>
                  <a:lnTo>
                    <a:pt x="8337" y="1008705"/>
                  </a:lnTo>
                  <a:lnTo>
                    <a:pt x="5585" y="1002060"/>
                  </a:lnTo>
                  <a:lnTo>
                    <a:pt x="3507" y="995211"/>
                  </a:lnTo>
                  <a:lnTo>
                    <a:pt x="2104" y="988156"/>
                  </a:lnTo>
                  <a:lnTo>
                    <a:pt x="701" y="981102"/>
                  </a:lnTo>
                  <a:lnTo>
                    <a:pt x="0" y="973979"/>
                  </a:lnTo>
                  <a:lnTo>
                    <a:pt x="0" y="96678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57225" y="3724275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381000" y="190500"/>
                  </a:moveTo>
                  <a:lnTo>
                    <a:pt x="219075" y="28575"/>
                  </a:lnTo>
                  <a:lnTo>
                    <a:pt x="123825" y="123825"/>
                  </a:lnTo>
                  <a:lnTo>
                    <a:pt x="0" y="0"/>
                  </a:lnTo>
                </a:path>
                <a:path w="381000" h="190500">
                  <a:moveTo>
                    <a:pt x="266700" y="190500"/>
                  </a:moveTo>
                  <a:lnTo>
                    <a:pt x="381000" y="190500"/>
                  </a:lnTo>
                  <a:lnTo>
                    <a:pt x="381000" y="76200"/>
                  </a:lnTo>
                </a:path>
              </a:pathLst>
            </a:custGeom>
            <a:ln w="38100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92225" y="3313362"/>
            <a:ext cx="3192145" cy="8623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sz="39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3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Artisans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Earning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Below Minimum Wage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7200" y="4514850"/>
            <a:ext cx="8534400" cy="1085850"/>
            <a:chOff x="457200" y="4514850"/>
            <a:chExt cx="8534400" cy="1085850"/>
          </a:xfrm>
        </p:grpSpPr>
        <p:sp>
          <p:nvSpPr>
            <p:cNvPr id="14" name="object 14"/>
            <p:cNvSpPr/>
            <p:nvPr/>
          </p:nvSpPr>
          <p:spPr>
            <a:xfrm>
              <a:off x="461962" y="4519612"/>
              <a:ext cx="8524875" cy="1076325"/>
            </a:xfrm>
            <a:custGeom>
              <a:avLst/>
              <a:gdLst/>
              <a:ahLst/>
              <a:cxnLst/>
              <a:rect l="l" t="t" r="r" b="b"/>
              <a:pathLst>
                <a:path w="8524875" h="1076325">
                  <a:moveTo>
                    <a:pt x="0" y="9667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0"/>
                  </a:lnTo>
                  <a:lnTo>
                    <a:pt x="26996" y="37167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60"/>
                  </a:lnTo>
                  <a:lnTo>
                    <a:pt x="54661" y="14463"/>
                  </a:lnTo>
                  <a:lnTo>
                    <a:pt x="60974" y="11089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8415337" y="0"/>
                  </a:lnTo>
                  <a:lnTo>
                    <a:pt x="8422529" y="0"/>
                  </a:lnTo>
                  <a:lnTo>
                    <a:pt x="8429652" y="701"/>
                  </a:lnTo>
                  <a:lnTo>
                    <a:pt x="8470211" y="14463"/>
                  </a:lnTo>
                  <a:lnTo>
                    <a:pt x="8502418" y="42700"/>
                  </a:lnTo>
                  <a:lnTo>
                    <a:pt x="8506413" y="48681"/>
                  </a:lnTo>
                  <a:lnTo>
                    <a:pt x="8510409" y="54661"/>
                  </a:lnTo>
                  <a:lnTo>
                    <a:pt x="8513783" y="60973"/>
                  </a:lnTo>
                  <a:lnTo>
                    <a:pt x="8516535" y="67618"/>
                  </a:lnTo>
                  <a:lnTo>
                    <a:pt x="8519288" y="74263"/>
                  </a:lnTo>
                  <a:lnTo>
                    <a:pt x="8521366" y="81113"/>
                  </a:lnTo>
                  <a:lnTo>
                    <a:pt x="8522769" y="88167"/>
                  </a:lnTo>
                  <a:lnTo>
                    <a:pt x="8524173" y="95221"/>
                  </a:lnTo>
                  <a:lnTo>
                    <a:pt x="8524874" y="102345"/>
                  </a:lnTo>
                  <a:lnTo>
                    <a:pt x="8524875" y="109537"/>
                  </a:lnTo>
                  <a:lnTo>
                    <a:pt x="8524875" y="966787"/>
                  </a:lnTo>
                  <a:lnTo>
                    <a:pt x="8524874" y="973979"/>
                  </a:lnTo>
                  <a:lnTo>
                    <a:pt x="8524173" y="981102"/>
                  </a:lnTo>
                  <a:lnTo>
                    <a:pt x="8522769" y="988156"/>
                  </a:lnTo>
                  <a:lnTo>
                    <a:pt x="8521366" y="995211"/>
                  </a:lnTo>
                  <a:lnTo>
                    <a:pt x="8519288" y="1002060"/>
                  </a:lnTo>
                  <a:lnTo>
                    <a:pt x="8516535" y="1008705"/>
                  </a:lnTo>
                  <a:lnTo>
                    <a:pt x="8513783" y="1015350"/>
                  </a:lnTo>
                  <a:lnTo>
                    <a:pt x="8487705" y="1049327"/>
                  </a:lnTo>
                  <a:lnTo>
                    <a:pt x="8476192" y="1057863"/>
                  </a:lnTo>
                  <a:lnTo>
                    <a:pt x="8470211" y="1061859"/>
                  </a:lnTo>
                  <a:lnTo>
                    <a:pt x="8429652" y="1075623"/>
                  </a:lnTo>
                  <a:lnTo>
                    <a:pt x="8415337" y="1076325"/>
                  </a:lnTo>
                  <a:lnTo>
                    <a:pt x="109537" y="1076325"/>
                  </a:lnTo>
                  <a:lnTo>
                    <a:pt x="67619" y="1067985"/>
                  </a:lnTo>
                  <a:lnTo>
                    <a:pt x="60974" y="1065233"/>
                  </a:lnTo>
                  <a:lnTo>
                    <a:pt x="54661" y="1061859"/>
                  </a:lnTo>
                  <a:lnTo>
                    <a:pt x="48681" y="1057863"/>
                  </a:lnTo>
                  <a:lnTo>
                    <a:pt x="42701" y="1053868"/>
                  </a:lnTo>
                  <a:lnTo>
                    <a:pt x="37168" y="1049327"/>
                  </a:lnTo>
                  <a:lnTo>
                    <a:pt x="32082" y="1044241"/>
                  </a:lnTo>
                  <a:lnTo>
                    <a:pt x="26996" y="1039156"/>
                  </a:lnTo>
                  <a:lnTo>
                    <a:pt x="8337" y="1008705"/>
                  </a:lnTo>
                  <a:lnTo>
                    <a:pt x="5585" y="1002060"/>
                  </a:lnTo>
                  <a:lnTo>
                    <a:pt x="3507" y="995211"/>
                  </a:lnTo>
                  <a:lnTo>
                    <a:pt x="2104" y="988156"/>
                  </a:lnTo>
                  <a:lnTo>
                    <a:pt x="701" y="981102"/>
                  </a:lnTo>
                  <a:lnTo>
                    <a:pt x="0" y="973979"/>
                  </a:lnTo>
                  <a:lnTo>
                    <a:pt x="0" y="96678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657225" y="4886325"/>
              <a:ext cx="266700" cy="342900"/>
            </a:xfrm>
            <a:custGeom>
              <a:avLst/>
              <a:gdLst/>
              <a:ahLst/>
              <a:cxnLst/>
              <a:rect l="l" t="t" r="r" b="b"/>
              <a:pathLst>
                <a:path w="266700" h="342900">
                  <a:moveTo>
                    <a:pt x="266700" y="342900"/>
                  </a:moveTo>
                  <a:lnTo>
                    <a:pt x="266700" y="304800"/>
                  </a:lnTo>
                  <a:lnTo>
                    <a:pt x="266699" y="299796"/>
                  </a:lnTo>
                  <a:lnTo>
                    <a:pt x="266211" y="294841"/>
                  </a:lnTo>
                  <a:lnTo>
                    <a:pt x="265235" y="289934"/>
                  </a:lnTo>
                  <a:lnTo>
                    <a:pt x="264259" y="285026"/>
                  </a:lnTo>
                  <a:lnTo>
                    <a:pt x="244381" y="250918"/>
                  </a:lnTo>
                  <a:lnTo>
                    <a:pt x="232834" y="241442"/>
                  </a:lnTo>
                  <a:lnTo>
                    <a:pt x="228674" y="238662"/>
                  </a:lnTo>
                  <a:lnTo>
                    <a:pt x="195503" y="228600"/>
                  </a:lnTo>
                  <a:lnTo>
                    <a:pt x="190500" y="228600"/>
                  </a:lnTo>
                  <a:lnTo>
                    <a:pt x="76200" y="228600"/>
                  </a:lnTo>
                  <a:lnTo>
                    <a:pt x="71196" y="228600"/>
                  </a:lnTo>
                  <a:lnTo>
                    <a:pt x="66241" y="229088"/>
                  </a:lnTo>
                  <a:lnTo>
                    <a:pt x="29705" y="244221"/>
                  </a:lnTo>
                  <a:lnTo>
                    <a:pt x="22318" y="250918"/>
                  </a:lnTo>
                  <a:lnTo>
                    <a:pt x="18780" y="254456"/>
                  </a:lnTo>
                  <a:lnTo>
                    <a:pt x="1464" y="289934"/>
                  </a:lnTo>
                  <a:lnTo>
                    <a:pt x="488" y="294841"/>
                  </a:lnTo>
                  <a:lnTo>
                    <a:pt x="0" y="299796"/>
                  </a:lnTo>
                  <a:lnTo>
                    <a:pt x="0" y="304800"/>
                  </a:lnTo>
                  <a:lnTo>
                    <a:pt x="0" y="342900"/>
                  </a:lnTo>
                </a:path>
                <a:path w="266700" h="342900">
                  <a:moveTo>
                    <a:pt x="209550" y="76200"/>
                  </a:moveTo>
                  <a:lnTo>
                    <a:pt x="199487" y="114374"/>
                  </a:lnTo>
                  <a:lnTo>
                    <a:pt x="196707" y="118534"/>
                  </a:lnTo>
                  <a:lnTo>
                    <a:pt x="193928" y="122694"/>
                  </a:lnTo>
                  <a:lnTo>
                    <a:pt x="162510" y="146599"/>
                  </a:lnTo>
                  <a:lnTo>
                    <a:pt x="133350" y="152400"/>
                  </a:lnTo>
                  <a:lnTo>
                    <a:pt x="128346" y="152399"/>
                  </a:lnTo>
                  <a:lnTo>
                    <a:pt x="91015" y="139557"/>
                  </a:lnTo>
                  <a:lnTo>
                    <a:pt x="69992" y="118534"/>
                  </a:lnTo>
                  <a:lnTo>
                    <a:pt x="67212" y="114374"/>
                  </a:lnTo>
                  <a:lnTo>
                    <a:pt x="58614" y="91065"/>
                  </a:lnTo>
                  <a:lnTo>
                    <a:pt x="57638" y="86158"/>
                  </a:lnTo>
                  <a:lnTo>
                    <a:pt x="57149" y="81203"/>
                  </a:lnTo>
                  <a:lnTo>
                    <a:pt x="57150" y="76200"/>
                  </a:lnTo>
                  <a:lnTo>
                    <a:pt x="57149" y="71196"/>
                  </a:lnTo>
                  <a:lnTo>
                    <a:pt x="57638" y="66241"/>
                  </a:lnTo>
                  <a:lnTo>
                    <a:pt x="58614" y="61334"/>
                  </a:lnTo>
                  <a:lnTo>
                    <a:pt x="59590" y="56426"/>
                  </a:lnTo>
                  <a:lnTo>
                    <a:pt x="79468" y="22318"/>
                  </a:lnTo>
                  <a:lnTo>
                    <a:pt x="83006" y="18780"/>
                  </a:lnTo>
                  <a:lnTo>
                    <a:pt x="118484" y="1464"/>
                  </a:lnTo>
                  <a:lnTo>
                    <a:pt x="123391" y="488"/>
                  </a:lnTo>
                  <a:lnTo>
                    <a:pt x="128346" y="0"/>
                  </a:lnTo>
                  <a:lnTo>
                    <a:pt x="133350" y="0"/>
                  </a:lnTo>
                  <a:lnTo>
                    <a:pt x="138353" y="0"/>
                  </a:lnTo>
                  <a:lnTo>
                    <a:pt x="162510" y="5800"/>
                  </a:lnTo>
                  <a:lnTo>
                    <a:pt x="167132" y="7715"/>
                  </a:lnTo>
                  <a:lnTo>
                    <a:pt x="187231" y="22318"/>
                  </a:lnTo>
                  <a:lnTo>
                    <a:pt x="190769" y="25856"/>
                  </a:lnTo>
                  <a:lnTo>
                    <a:pt x="208085" y="61334"/>
                  </a:lnTo>
                  <a:lnTo>
                    <a:pt x="209549" y="71196"/>
                  </a:lnTo>
                  <a:lnTo>
                    <a:pt x="209550" y="76200"/>
                  </a:lnTo>
                  <a:close/>
                </a:path>
              </a:pathLst>
            </a:custGeom>
            <a:ln w="38100">
              <a:solidFill>
                <a:srgbClr val="F9731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025" y="5098351"/>
              <a:ext cx="95250" cy="14992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23925" y="4888801"/>
              <a:ext cx="57785" cy="147955"/>
            </a:xfrm>
            <a:custGeom>
              <a:avLst/>
              <a:gdLst/>
              <a:ahLst/>
              <a:cxnLst/>
              <a:rect l="l" t="t" r="r" b="b"/>
              <a:pathLst>
                <a:path w="57784" h="147954">
                  <a:moveTo>
                    <a:pt x="0" y="0"/>
                  </a:moveTo>
                  <a:lnTo>
                    <a:pt x="8195" y="2098"/>
                  </a:lnTo>
                  <a:lnTo>
                    <a:pt x="15829" y="5468"/>
                  </a:lnTo>
                  <a:lnTo>
                    <a:pt x="22902" y="10109"/>
                  </a:lnTo>
                  <a:lnTo>
                    <a:pt x="29975" y="14750"/>
                  </a:lnTo>
                  <a:lnTo>
                    <a:pt x="36106" y="20412"/>
                  </a:lnTo>
                  <a:lnTo>
                    <a:pt x="41293" y="27095"/>
                  </a:lnTo>
                  <a:lnTo>
                    <a:pt x="46480" y="33777"/>
                  </a:lnTo>
                  <a:lnTo>
                    <a:pt x="57299" y="73818"/>
                  </a:lnTo>
                  <a:lnTo>
                    <a:pt x="57299" y="82278"/>
                  </a:lnTo>
                  <a:lnTo>
                    <a:pt x="41293" y="120542"/>
                  </a:lnTo>
                  <a:lnTo>
                    <a:pt x="36106" y="127225"/>
                  </a:lnTo>
                  <a:lnTo>
                    <a:pt x="29975" y="132887"/>
                  </a:lnTo>
                  <a:lnTo>
                    <a:pt x="22902" y="137528"/>
                  </a:lnTo>
                  <a:lnTo>
                    <a:pt x="15829" y="142169"/>
                  </a:lnTo>
                  <a:lnTo>
                    <a:pt x="8195" y="145539"/>
                  </a:lnTo>
                  <a:lnTo>
                    <a:pt x="0" y="147637"/>
                  </a:lnTo>
                </a:path>
              </a:pathLst>
            </a:custGeom>
            <a:ln w="38100">
              <a:solidFill>
                <a:srgbClr val="F9731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92225" y="4551612"/>
            <a:ext cx="2498725" cy="8623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 spc="229" dirty="0">
                <a:solidFill>
                  <a:srgbClr val="FFFFFF"/>
                </a:solidFill>
                <a:latin typeface="Times New Roman"/>
                <a:cs typeface="Times New Roman"/>
              </a:rPr>
              <a:t>4-</a:t>
            </a:r>
            <a:r>
              <a:rPr sz="39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Intermediaries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Supply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Chain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7200" y="5753100"/>
            <a:ext cx="8534400" cy="1085850"/>
            <a:chOff x="457200" y="5753100"/>
            <a:chExt cx="8534400" cy="1085850"/>
          </a:xfrm>
        </p:grpSpPr>
        <p:sp>
          <p:nvSpPr>
            <p:cNvPr id="20" name="object 20"/>
            <p:cNvSpPr/>
            <p:nvPr/>
          </p:nvSpPr>
          <p:spPr>
            <a:xfrm>
              <a:off x="461962" y="5757862"/>
              <a:ext cx="8524875" cy="1076325"/>
            </a:xfrm>
            <a:custGeom>
              <a:avLst/>
              <a:gdLst/>
              <a:ahLst/>
              <a:cxnLst/>
              <a:rect l="l" t="t" r="r" b="b"/>
              <a:pathLst>
                <a:path w="8524875" h="1076325">
                  <a:moveTo>
                    <a:pt x="0" y="9667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2"/>
                  </a:lnTo>
                  <a:lnTo>
                    <a:pt x="5585" y="74263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5"/>
                  </a:lnTo>
                  <a:lnTo>
                    <a:pt x="74264" y="5585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8415337" y="0"/>
                  </a:lnTo>
                  <a:lnTo>
                    <a:pt x="8422529" y="0"/>
                  </a:lnTo>
                  <a:lnTo>
                    <a:pt x="8429652" y="701"/>
                  </a:lnTo>
                  <a:lnTo>
                    <a:pt x="8436706" y="2104"/>
                  </a:lnTo>
                  <a:lnTo>
                    <a:pt x="8443761" y="3507"/>
                  </a:lnTo>
                  <a:lnTo>
                    <a:pt x="8482173" y="22455"/>
                  </a:lnTo>
                  <a:lnTo>
                    <a:pt x="8506413" y="48681"/>
                  </a:lnTo>
                  <a:lnTo>
                    <a:pt x="8510409" y="54662"/>
                  </a:lnTo>
                  <a:lnTo>
                    <a:pt x="8513783" y="60974"/>
                  </a:lnTo>
                  <a:lnTo>
                    <a:pt x="8516535" y="67618"/>
                  </a:lnTo>
                  <a:lnTo>
                    <a:pt x="8519288" y="74263"/>
                  </a:lnTo>
                  <a:lnTo>
                    <a:pt x="8521366" y="81112"/>
                  </a:lnTo>
                  <a:lnTo>
                    <a:pt x="8522769" y="88167"/>
                  </a:lnTo>
                  <a:lnTo>
                    <a:pt x="8524173" y="95221"/>
                  </a:lnTo>
                  <a:lnTo>
                    <a:pt x="8524874" y="102345"/>
                  </a:lnTo>
                  <a:lnTo>
                    <a:pt x="8524875" y="109537"/>
                  </a:lnTo>
                  <a:lnTo>
                    <a:pt x="8524875" y="966787"/>
                  </a:lnTo>
                  <a:lnTo>
                    <a:pt x="8524874" y="973979"/>
                  </a:lnTo>
                  <a:lnTo>
                    <a:pt x="8524173" y="981102"/>
                  </a:lnTo>
                  <a:lnTo>
                    <a:pt x="8522769" y="988156"/>
                  </a:lnTo>
                  <a:lnTo>
                    <a:pt x="8521366" y="995211"/>
                  </a:lnTo>
                  <a:lnTo>
                    <a:pt x="8502417" y="1033623"/>
                  </a:lnTo>
                  <a:lnTo>
                    <a:pt x="8476192" y="1057863"/>
                  </a:lnTo>
                  <a:lnTo>
                    <a:pt x="8470211" y="1061859"/>
                  </a:lnTo>
                  <a:lnTo>
                    <a:pt x="8436706" y="1074219"/>
                  </a:lnTo>
                  <a:lnTo>
                    <a:pt x="8429652" y="1075623"/>
                  </a:lnTo>
                  <a:lnTo>
                    <a:pt x="8422529" y="1076324"/>
                  </a:lnTo>
                  <a:lnTo>
                    <a:pt x="8415337" y="1076325"/>
                  </a:lnTo>
                  <a:lnTo>
                    <a:pt x="109537" y="1076325"/>
                  </a:lnTo>
                  <a:lnTo>
                    <a:pt x="102345" y="1076324"/>
                  </a:lnTo>
                  <a:lnTo>
                    <a:pt x="95221" y="1075623"/>
                  </a:lnTo>
                  <a:lnTo>
                    <a:pt x="88167" y="1074219"/>
                  </a:lnTo>
                  <a:lnTo>
                    <a:pt x="81113" y="1072816"/>
                  </a:lnTo>
                  <a:lnTo>
                    <a:pt x="42701" y="1053868"/>
                  </a:lnTo>
                  <a:lnTo>
                    <a:pt x="14464" y="1021661"/>
                  </a:lnTo>
                  <a:lnTo>
                    <a:pt x="701" y="981102"/>
                  </a:lnTo>
                  <a:lnTo>
                    <a:pt x="0" y="973979"/>
                  </a:lnTo>
                  <a:lnTo>
                    <a:pt x="0" y="96678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733425" y="6105525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14300" y="0"/>
                  </a:moveTo>
                  <a:lnTo>
                    <a:pt x="114300" y="381000"/>
                  </a:lnTo>
                </a:path>
                <a:path w="228600" h="381000">
                  <a:moveTo>
                    <a:pt x="209550" y="57150"/>
                  </a:moveTo>
                  <a:lnTo>
                    <a:pt x="66675" y="57150"/>
                  </a:lnTo>
                  <a:lnTo>
                    <a:pt x="62297" y="57150"/>
                  </a:lnTo>
                  <a:lnTo>
                    <a:pt x="57961" y="57577"/>
                  </a:lnTo>
                  <a:lnTo>
                    <a:pt x="53667" y="58431"/>
                  </a:lnTo>
                  <a:lnTo>
                    <a:pt x="49373" y="59285"/>
                  </a:lnTo>
                  <a:lnTo>
                    <a:pt x="45204" y="60549"/>
                  </a:lnTo>
                  <a:lnTo>
                    <a:pt x="41159" y="62225"/>
                  </a:lnTo>
                  <a:lnTo>
                    <a:pt x="37114" y="63900"/>
                  </a:lnTo>
                  <a:lnTo>
                    <a:pt x="33272" y="65954"/>
                  </a:lnTo>
                  <a:lnTo>
                    <a:pt x="29632" y="68386"/>
                  </a:lnTo>
                  <a:lnTo>
                    <a:pt x="25992" y="70819"/>
                  </a:lnTo>
                  <a:lnTo>
                    <a:pt x="22624" y="73582"/>
                  </a:lnTo>
                  <a:lnTo>
                    <a:pt x="19528" y="76678"/>
                  </a:lnTo>
                  <a:lnTo>
                    <a:pt x="16432" y="79774"/>
                  </a:lnTo>
                  <a:lnTo>
                    <a:pt x="13669" y="83142"/>
                  </a:lnTo>
                  <a:lnTo>
                    <a:pt x="11236" y="86782"/>
                  </a:lnTo>
                  <a:lnTo>
                    <a:pt x="8804" y="90422"/>
                  </a:lnTo>
                  <a:lnTo>
                    <a:pt x="6750" y="94264"/>
                  </a:lnTo>
                  <a:lnTo>
                    <a:pt x="5075" y="98309"/>
                  </a:lnTo>
                  <a:lnTo>
                    <a:pt x="3399" y="102354"/>
                  </a:lnTo>
                  <a:lnTo>
                    <a:pt x="2135" y="106523"/>
                  </a:lnTo>
                  <a:lnTo>
                    <a:pt x="1281" y="110817"/>
                  </a:lnTo>
                  <a:lnTo>
                    <a:pt x="427" y="115111"/>
                  </a:lnTo>
                  <a:lnTo>
                    <a:pt x="0" y="119447"/>
                  </a:lnTo>
                  <a:lnTo>
                    <a:pt x="0" y="123825"/>
                  </a:lnTo>
                  <a:lnTo>
                    <a:pt x="0" y="128202"/>
                  </a:lnTo>
                  <a:lnTo>
                    <a:pt x="427" y="132538"/>
                  </a:lnTo>
                  <a:lnTo>
                    <a:pt x="1281" y="136832"/>
                  </a:lnTo>
                  <a:lnTo>
                    <a:pt x="2135" y="141126"/>
                  </a:lnTo>
                  <a:lnTo>
                    <a:pt x="3399" y="145295"/>
                  </a:lnTo>
                  <a:lnTo>
                    <a:pt x="5075" y="149340"/>
                  </a:lnTo>
                  <a:lnTo>
                    <a:pt x="6750" y="153385"/>
                  </a:lnTo>
                  <a:lnTo>
                    <a:pt x="8804" y="157227"/>
                  </a:lnTo>
                  <a:lnTo>
                    <a:pt x="11236" y="160867"/>
                  </a:lnTo>
                  <a:lnTo>
                    <a:pt x="13669" y="164507"/>
                  </a:lnTo>
                  <a:lnTo>
                    <a:pt x="29632" y="179263"/>
                  </a:lnTo>
                  <a:lnTo>
                    <a:pt x="33272" y="181695"/>
                  </a:lnTo>
                  <a:lnTo>
                    <a:pt x="53667" y="189218"/>
                  </a:lnTo>
                  <a:lnTo>
                    <a:pt x="57961" y="190072"/>
                  </a:lnTo>
                  <a:lnTo>
                    <a:pt x="62297" y="190500"/>
                  </a:lnTo>
                  <a:lnTo>
                    <a:pt x="66675" y="190500"/>
                  </a:lnTo>
                  <a:lnTo>
                    <a:pt x="161925" y="190500"/>
                  </a:lnTo>
                  <a:lnTo>
                    <a:pt x="166302" y="190500"/>
                  </a:lnTo>
                  <a:lnTo>
                    <a:pt x="170638" y="190927"/>
                  </a:lnTo>
                  <a:lnTo>
                    <a:pt x="174932" y="191781"/>
                  </a:lnTo>
                  <a:lnTo>
                    <a:pt x="179226" y="192635"/>
                  </a:lnTo>
                  <a:lnTo>
                    <a:pt x="183395" y="193899"/>
                  </a:lnTo>
                  <a:lnTo>
                    <a:pt x="187440" y="195575"/>
                  </a:lnTo>
                  <a:lnTo>
                    <a:pt x="191485" y="197250"/>
                  </a:lnTo>
                  <a:lnTo>
                    <a:pt x="195327" y="199304"/>
                  </a:lnTo>
                  <a:lnTo>
                    <a:pt x="198967" y="201736"/>
                  </a:lnTo>
                  <a:lnTo>
                    <a:pt x="202607" y="204169"/>
                  </a:lnTo>
                  <a:lnTo>
                    <a:pt x="217363" y="220132"/>
                  </a:lnTo>
                  <a:lnTo>
                    <a:pt x="219795" y="223772"/>
                  </a:lnTo>
                  <a:lnTo>
                    <a:pt x="227318" y="244167"/>
                  </a:lnTo>
                  <a:lnTo>
                    <a:pt x="228172" y="248461"/>
                  </a:lnTo>
                  <a:lnTo>
                    <a:pt x="228600" y="252797"/>
                  </a:lnTo>
                  <a:lnTo>
                    <a:pt x="228600" y="257175"/>
                  </a:lnTo>
                  <a:lnTo>
                    <a:pt x="228600" y="261552"/>
                  </a:lnTo>
                  <a:lnTo>
                    <a:pt x="223524" y="282690"/>
                  </a:lnTo>
                  <a:lnTo>
                    <a:pt x="221849" y="286735"/>
                  </a:lnTo>
                  <a:lnTo>
                    <a:pt x="195327" y="315045"/>
                  </a:lnTo>
                  <a:lnTo>
                    <a:pt x="174932" y="322568"/>
                  </a:lnTo>
                  <a:lnTo>
                    <a:pt x="170638" y="323422"/>
                  </a:lnTo>
                  <a:lnTo>
                    <a:pt x="166302" y="323849"/>
                  </a:lnTo>
                  <a:lnTo>
                    <a:pt x="161925" y="323850"/>
                  </a:lnTo>
                  <a:lnTo>
                    <a:pt x="0" y="323850"/>
                  </a:lnTo>
                </a:path>
              </a:pathLst>
            </a:custGeom>
            <a:ln w="38100">
              <a:solidFill>
                <a:srgbClr val="F9731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92225" y="5789862"/>
            <a:ext cx="2404745" cy="8623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 spc="210" dirty="0">
                <a:solidFill>
                  <a:srgbClr val="FFFFFF"/>
                </a:solidFill>
                <a:latin typeface="Times New Roman"/>
                <a:cs typeface="Times New Roman"/>
              </a:rPr>
              <a:t>20-</a:t>
            </a:r>
            <a:r>
              <a:rPr sz="3950" b="1" spc="165" dirty="0">
                <a:solidFill>
                  <a:srgbClr val="FFFFFF"/>
                </a:solidFill>
                <a:latin typeface="Times New Roman"/>
                <a:cs typeface="Times New Roman"/>
              </a:rPr>
              <a:t>40%</a:t>
            </a: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Margins</a:t>
            </a:r>
            <a:r>
              <a:rPr sz="15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Taken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Middlemen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7200" y="6991350"/>
            <a:ext cx="8534400" cy="1085850"/>
            <a:chOff x="457200" y="6991350"/>
            <a:chExt cx="8534400" cy="1085850"/>
          </a:xfrm>
        </p:grpSpPr>
        <p:sp>
          <p:nvSpPr>
            <p:cNvPr id="24" name="object 24"/>
            <p:cNvSpPr/>
            <p:nvPr/>
          </p:nvSpPr>
          <p:spPr>
            <a:xfrm>
              <a:off x="461962" y="6996112"/>
              <a:ext cx="8524875" cy="1076325"/>
            </a:xfrm>
            <a:custGeom>
              <a:avLst/>
              <a:gdLst/>
              <a:ahLst/>
              <a:cxnLst/>
              <a:rect l="l" t="t" r="r" b="b"/>
              <a:pathLst>
                <a:path w="8524875" h="1076325">
                  <a:moveTo>
                    <a:pt x="0" y="9667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0"/>
                  </a:lnTo>
                  <a:lnTo>
                    <a:pt x="26996" y="37167"/>
                  </a:lnTo>
                  <a:lnTo>
                    <a:pt x="32082" y="32082"/>
                  </a:lnTo>
                  <a:lnTo>
                    <a:pt x="37168" y="26995"/>
                  </a:lnTo>
                  <a:lnTo>
                    <a:pt x="67619" y="8338"/>
                  </a:lnTo>
                  <a:lnTo>
                    <a:pt x="74264" y="5585"/>
                  </a:lnTo>
                  <a:lnTo>
                    <a:pt x="81113" y="3508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8415337" y="0"/>
                  </a:lnTo>
                  <a:lnTo>
                    <a:pt x="8422529" y="0"/>
                  </a:lnTo>
                  <a:lnTo>
                    <a:pt x="8429652" y="701"/>
                  </a:lnTo>
                  <a:lnTo>
                    <a:pt x="8436706" y="2104"/>
                  </a:lnTo>
                  <a:lnTo>
                    <a:pt x="8443761" y="3508"/>
                  </a:lnTo>
                  <a:lnTo>
                    <a:pt x="8450609" y="5585"/>
                  </a:lnTo>
                  <a:lnTo>
                    <a:pt x="8457254" y="8338"/>
                  </a:lnTo>
                  <a:lnTo>
                    <a:pt x="8463898" y="11089"/>
                  </a:lnTo>
                  <a:lnTo>
                    <a:pt x="8492791" y="32082"/>
                  </a:lnTo>
                  <a:lnTo>
                    <a:pt x="8497877" y="37167"/>
                  </a:lnTo>
                  <a:lnTo>
                    <a:pt x="8502418" y="42700"/>
                  </a:lnTo>
                  <a:lnTo>
                    <a:pt x="8506413" y="48681"/>
                  </a:lnTo>
                  <a:lnTo>
                    <a:pt x="8510409" y="54661"/>
                  </a:lnTo>
                  <a:lnTo>
                    <a:pt x="8522769" y="88166"/>
                  </a:lnTo>
                  <a:lnTo>
                    <a:pt x="8524173" y="95221"/>
                  </a:lnTo>
                  <a:lnTo>
                    <a:pt x="8524874" y="102344"/>
                  </a:lnTo>
                  <a:lnTo>
                    <a:pt x="8524875" y="109537"/>
                  </a:lnTo>
                  <a:lnTo>
                    <a:pt x="8524875" y="966787"/>
                  </a:lnTo>
                  <a:lnTo>
                    <a:pt x="8524874" y="973979"/>
                  </a:lnTo>
                  <a:lnTo>
                    <a:pt x="8524173" y="981102"/>
                  </a:lnTo>
                  <a:lnTo>
                    <a:pt x="8522769" y="988156"/>
                  </a:lnTo>
                  <a:lnTo>
                    <a:pt x="8521366" y="995211"/>
                  </a:lnTo>
                  <a:lnTo>
                    <a:pt x="8502417" y="1033622"/>
                  </a:lnTo>
                  <a:lnTo>
                    <a:pt x="8470211" y="1061859"/>
                  </a:lnTo>
                  <a:lnTo>
                    <a:pt x="8436706" y="1074219"/>
                  </a:lnTo>
                  <a:lnTo>
                    <a:pt x="8429652" y="1075623"/>
                  </a:lnTo>
                  <a:lnTo>
                    <a:pt x="8422529" y="1076324"/>
                  </a:lnTo>
                  <a:lnTo>
                    <a:pt x="8415337" y="1076325"/>
                  </a:lnTo>
                  <a:lnTo>
                    <a:pt x="109537" y="1076325"/>
                  </a:lnTo>
                  <a:lnTo>
                    <a:pt x="67619" y="1067985"/>
                  </a:lnTo>
                  <a:lnTo>
                    <a:pt x="60974" y="1065233"/>
                  </a:lnTo>
                  <a:lnTo>
                    <a:pt x="54661" y="1061859"/>
                  </a:lnTo>
                  <a:lnTo>
                    <a:pt x="48681" y="1057863"/>
                  </a:lnTo>
                  <a:lnTo>
                    <a:pt x="42701" y="1053867"/>
                  </a:lnTo>
                  <a:lnTo>
                    <a:pt x="18460" y="1027641"/>
                  </a:lnTo>
                  <a:lnTo>
                    <a:pt x="14464" y="1021661"/>
                  </a:lnTo>
                  <a:lnTo>
                    <a:pt x="701" y="981102"/>
                  </a:lnTo>
                  <a:lnTo>
                    <a:pt x="0" y="973979"/>
                  </a:lnTo>
                  <a:lnTo>
                    <a:pt x="0" y="96678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714375" y="7400925"/>
              <a:ext cx="323850" cy="285750"/>
            </a:xfrm>
            <a:custGeom>
              <a:avLst/>
              <a:gdLst/>
              <a:ahLst/>
              <a:cxnLst/>
              <a:rect l="l" t="t" r="r" b="b"/>
              <a:pathLst>
                <a:path w="323850" h="285750">
                  <a:moveTo>
                    <a:pt x="266700" y="0"/>
                  </a:moveTo>
                  <a:lnTo>
                    <a:pt x="246251" y="4345"/>
                  </a:lnTo>
                  <a:lnTo>
                    <a:pt x="228838" y="14763"/>
                  </a:lnTo>
                  <a:lnTo>
                    <a:pt x="216068" y="27324"/>
                  </a:lnTo>
                  <a:lnTo>
                    <a:pt x="209550" y="38099"/>
                  </a:lnTo>
                  <a:lnTo>
                    <a:pt x="170876" y="28222"/>
                  </a:lnTo>
                  <a:lnTo>
                    <a:pt x="125588" y="27657"/>
                  </a:lnTo>
                  <a:lnTo>
                    <a:pt x="79771" y="37147"/>
                  </a:lnTo>
                  <a:lnTo>
                    <a:pt x="39511" y="57432"/>
                  </a:lnTo>
                  <a:lnTo>
                    <a:pt x="10892" y="89252"/>
                  </a:lnTo>
                  <a:lnTo>
                    <a:pt x="0" y="133349"/>
                  </a:lnTo>
                  <a:lnTo>
                    <a:pt x="595" y="157192"/>
                  </a:lnTo>
                  <a:lnTo>
                    <a:pt x="4762" y="178355"/>
                  </a:lnTo>
                  <a:lnTo>
                    <a:pt x="16073" y="198447"/>
                  </a:lnTo>
                  <a:lnTo>
                    <a:pt x="38100" y="219074"/>
                  </a:lnTo>
                  <a:lnTo>
                    <a:pt x="38100" y="285749"/>
                  </a:lnTo>
                  <a:lnTo>
                    <a:pt x="114300" y="285749"/>
                  </a:lnTo>
                  <a:lnTo>
                    <a:pt x="114300" y="247649"/>
                  </a:lnTo>
                  <a:lnTo>
                    <a:pt x="171450" y="247649"/>
                  </a:lnTo>
                  <a:lnTo>
                    <a:pt x="171450" y="285749"/>
                  </a:lnTo>
                  <a:lnTo>
                    <a:pt x="247650" y="285749"/>
                  </a:lnTo>
                  <a:lnTo>
                    <a:pt x="247650" y="209549"/>
                  </a:lnTo>
                  <a:lnTo>
                    <a:pt x="260836" y="202257"/>
                  </a:lnTo>
                  <a:lnTo>
                    <a:pt x="271700" y="194071"/>
                  </a:lnTo>
                  <a:lnTo>
                    <a:pt x="280064" y="184100"/>
                  </a:lnTo>
                  <a:lnTo>
                    <a:pt x="285750" y="171449"/>
                  </a:lnTo>
                  <a:lnTo>
                    <a:pt x="323850" y="171449"/>
                  </a:lnTo>
                  <a:lnTo>
                    <a:pt x="323850" y="95249"/>
                  </a:lnTo>
                  <a:lnTo>
                    <a:pt x="285750" y="95249"/>
                  </a:lnTo>
                  <a:lnTo>
                    <a:pt x="284112" y="82599"/>
                  </a:lnTo>
                  <a:lnTo>
                    <a:pt x="279796" y="72628"/>
                  </a:lnTo>
                  <a:lnTo>
                    <a:pt x="273694" y="64442"/>
                  </a:lnTo>
                  <a:lnTo>
                    <a:pt x="266700" y="57149"/>
                  </a:lnTo>
                  <a:lnTo>
                    <a:pt x="266700" y="0"/>
                  </a:lnTo>
                  <a:close/>
                </a:path>
              </a:pathLst>
            </a:custGeom>
            <a:ln w="38100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175" y="7458075"/>
              <a:ext cx="95250" cy="9525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23925" y="7515225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190" y="0"/>
                  </a:lnTo>
                </a:path>
              </a:pathLst>
            </a:custGeom>
            <a:ln w="38100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92225" y="7028112"/>
            <a:ext cx="2629535" cy="8623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12-</a:t>
            </a:r>
            <a:r>
              <a:rPr sz="39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18%</a:t>
            </a: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70" dirty="0">
                <a:solidFill>
                  <a:srgbClr val="FFFFFF"/>
                </a:solidFill>
                <a:latin typeface="Times New Roman"/>
                <a:cs typeface="Times New Roman"/>
              </a:rPr>
              <a:t>Retail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Price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Reaches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Artisans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296400" y="4210050"/>
            <a:ext cx="8534400" cy="876300"/>
            <a:chOff x="9296400" y="4210050"/>
            <a:chExt cx="8534400" cy="876300"/>
          </a:xfrm>
        </p:grpSpPr>
        <p:sp>
          <p:nvSpPr>
            <p:cNvPr id="30" name="object 30"/>
            <p:cNvSpPr/>
            <p:nvPr/>
          </p:nvSpPr>
          <p:spPr>
            <a:xfrm>
              <a:off x="9305925" y="4219575"/>
              <a:ext cx="8515350" cy="857250"/>
            </a:xfrm>
            <a:custGeom>
              <a:avLst/>
              <a:gdLst/>
              <a:ahLst/>
              <a:cxnLst/>
              <a:rect l="l" t="t" r="r" b="b"/>
              <a:pathLst>
                <a:path w="8515350" h="857250">
                  <a:moveTo>
                    <a:pt x="8453053" y="857250"/>
                  </a:moveTo>
                  <a:lnTo>
                    <a:pt x="62297" y="857250"/>
                  </a:lnTo>
                  <a:lnTo>
                    <a:pt x="57961" y="856822"/>
                  </a:lnTo>
                  <a:lnTo>
                    <a:pt x="22624" y="840816"/>
                  </a:lnTo>
                  <a:lnTo>
                    <a:pt x="2133" y="807875"/>
                  </a:lnTo>
                  <a:lnTo>
                    <a:pt x="0" y="794952"/>
                  </a:lnTo>
                  <a:lnTo>
                    <a:pt x="0" y="790575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8453053" y="0"/>
                  </a:lnTo>
                  <a:lnTo>
                    <a:pt x="8489354" y="13668"/>
                  </a:lnTo>
                  <a:lnTo>
                    <a:pt x="8511948" y="45204"/>
                  </a:lnTo>
                  <a:lnTo>
                    <a:pt x="8515350" y="62297"/>
                  </a:lnTo>
                  <a:lnTo>
                    <a:pt x="8515350" y="794952"/>
                  </a:lnTo>
                  <a:lnTo>
                    <a:pt x="8501678" y="831257"/>
                  </a:lnTo>
                  <a:lnTo>
                    <a:pt x="8470142" y="853849"/>
                  </a:lnTo>
                  <a:lnTo>
                    <a:pt x="8457387" y="856822"/>
                  </a:lnTo>
                  <a:lnTo>
                    <a:pt x="8453053" y="8572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9305925" y="4219575"/>
              <a:ext cx="8515350" cy="857250"/>
            </a:xfrm>
            <a:custGeom>
              <a:avLst/>
              <a:gdLst/>
              <a:ahLst/>
              <a:cxnLst/>
              <a:rect l="l" t="t" r="r" b="b"/>
              <a:pathLst>
                <a:path w="8515350" h="857250">
                  <a:moveTo>
                    <a:pt x="0" y="790575"/>
                  </a:moveTo>
                  <a:lnTo>
                    <a:pt x="0" y="66675"/>
                  </a:lnTo>
                  <a:lnTo>
                    <a:pt x="0" y="62297"/>
                  </a:lnTo>
                  <a:lnTo>
                    <a:pt x="426" y="57961"/>
                  </a:lnTo>
                  <a:lnTo>
                    <a:pt x="1280" y="53667"/>
                  </a:lnTo>
                  <a:lnTo>
                    <a:pt x="2133" y="49373"/>
                  </a:lnTo>
                  <a:lnTo>
                    <a:pt x="3398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41158" y="5074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8448675" y="0"/>
                  </a:lnTo>
                  <a:lnTo>
                    <a:pt x="8453053" y="0"/>
                  </a:lnTo>
                  <a:lnTo>
                    <a:pt x="8457387" y="427"/>
                  </a:lnTo>
                  <a:lnTo>
                    <a:pt x="8461680" y="1281"/>
                  </a:lnTo>
                  <a:lnTo>
                    <a:pt x="8465974" y="2135"/>
                  </a:lnTo>
                  <a:lnTo>
                    <a:pt x="8470142" y="3400"/>
                  </a:lnTo>
                  <a:lnTo>
                    <a:pt x="8474187" y="5075"/>
                  </a:lnTo>
                  <a:lnTo>
                    <a:pt x="8478231" y="6750"/>
                  </a:lnTo>
                  <a:lnTo>
                    <a:pt x="8482074" y="8804"/>
                  </a:lnTo>
                  <a:lnTo>
                    <a:pt x="8485714" y="11236"/>
                  </a:lnTo>
                  <a:lnTo>
                    <a:pt x="8489354" y="13668"/>
                  </a:lnTo>
                  <a:lnTo>
                    <a:pt x="8510272" y="41159"/>
                  </a:lnTo>
                  <a:lnTo>
                    <a:pt x="8511948" y="45204"/>
                  </a:lnTo>
                  <a:lnTo>
                    <a:pt x="8513212" y="49373"/>
                  </a:lnTo>
                  <a:lnTo>
                    <a:pt x="8514068" y="53667"/>
                  </a:lnTo>
                  <a:lnTo>
                    <a:pt x="8514922" y="57961"/>
                  </a:lnTo>
                  <a:lnTo>
                    <a:pt x="8515350" y="62297"/>
                  </a:lnTo>
                  <a:lnTo>
                    <a:pt x="8515350" y="66675"/>
                  </a:lnTo>
                  <a:lnTo>
                    <a:pt x="8515350" y="790575"/>
                  </a:lnTo>
                  <a:lnTo>
                    <a:pt x="8515350" y="794952"/>
                  </a:lnTo>
                  <a:lnTo>
                    <a:pt x="8514922" y="799288"/>
                  </a:lnTo>
                  <a:lnTo>
                    <a:pt x="8514068" y="803582"/>
                  </a:lnTo>
                  <a:lnTo>
                    <a:pt x="8513212" y="807875"/>
                  </a:lnTo>
                  <a:lnTo>
                    <a:pt x="8511948" y="812045"/>
                  </a:lnTo>
                  <a:lnTo>
                    <a:pt x="8510272" y="816089"/>
                  </a:lnTo>
                  <a:lnTo>
                    <a:pt x="8508597" y="820134"/>
                  </a:lnTo>
                  <a:lnTo>
                    <a:pt x="8485716" y="846012"/>
                  </a:lnTo>
                  <a:lnTo>
                    <a:pt x="8482075" y="848444"/>
                  </a:lnTo>
                  <a:lnTo>
                    <a:pt x="8478233" y="850498"/>
                  </a:lnTo>
                  <a:lnTo>
                    <a:pt x="8474188" y="852173"/>
                  </a:lnTo>
                  <a:lnTo>
                    <a:pt x="8470142" y="853849"/>
                  </a:lnTo>
                  <a:lnTo>
                    <a:pt x="8465974" y="855114"/>
                  </a:lnTo>
                  <a:lnTo>
                    <a:pt x="8461680" y="855967"/>
                  </a:lnTo>
                  <a:lnTo>
                    <a:pt x="8457387" y="856822"/>
                  </a:lnTo>
                  <a:lnTo>
                    <a:pt x="8453053" y="857250"/>
                  </a:lnTo>
                  <a:lnTo>
                    <a:pt x="8448675" y="857250"/>
                  </a:lnTo>
                  <a:lnTo>
                    <a:pt x="66675" y="857250"/>
                  </a:lnTo>
                  <a:lnTo>
                    <a:pt x="62297" y="857250"/>
                  </a:lnTo>
                  <a:lnTo>
                    <a:pt x="57961" y="856822"/>
                  </a:lnTo>
                  <a:lnTo>
                    <a:pt x="53667" y="855967"/>
                  </a:lnTo>
                  <a:lnTo>
                    <a:pt x="49373" y="855114"/>
                  </a:lnTo>
                  <a:lnTo>
                    <a:pt x="45204" y="853849"/>
                  </a:lnTo>
                  <a:lnTo>
                    <a:pt x="41159" y="852173"/>
                  </a:lnTo>
                  <a:lnTo>
                    <a:pt x="37114" y="850498"/>
                  </a:lnTo>
                  <a:lnTo>
                    <a:pt x="33272" y="848444"/>
                  </a:lnTo>
                  <a:lnTo>
                    <a:pt x="29632" y="846012"/>
                  </a:lnTo>
                  <a:lnTo>
                    <a:pt x="25992" y="843580"/>
                  </a:lnTo>
                  <a:lnTo>
                    <a:pt x="22624" y="840816"/>
                  </a:lnTo>
                  <a:lnTo>
                    <a:pt x="19528" y="837720"/>
                  </a:lnTo>
                  <a:lnTo>
                    <a:pt x="16432" y="834625"/>
                  </a:lnTo>
                  <a:lnTo>
                    <a:pt x="13668" y="831257"/>
                  </a:lnTo>
                  <a:lnTo>
                    <a:pt x="11235" y="827616"/>
                  </a:lnTo>
                  <a:lnTo>
                    <a:pt x="8803" y="823977"/>
                  </a:lnTo>
                  <a:lnTo>
                    <a:pt x="6749" y="820134"/>
                  </a:lnTo>
                  <a:lnTo>
                    <a:pt x="5074" y="816089"/>
                  </a:lnTo>
                  <a:lnTo>
                    <a:pt x="3398" y="812045"/>
                  </a:lnTo>
                  <a:lnTo>
                    <a:pt x="2133" y="807875"/>
                  </a:lnTo>
                  <a:lnTo>
                    <a:pt x="1280" y="803582"/>
                  </a:lnTo>
                  <a:lnTo>
                    <a:pt x="426" y="799288"/>
                  </a:lnTo>
                  <a:lnTo>
                    <a:pt x="0" y="794952"/>
                  </a:lnTo>
                  <a:lnTo>
                    <a:pt x="0" y="790575"/>
                  </a:lnTo>
                  <a:close/>
                </a:path>
              </a:pathLst>
            </a:custGeom>
            <a:ln w="19050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01187" y="4491037"/>
              <a:ext cx="200025" cy="20002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456730" y="4562475"/>
              <a:ext cx="287655" cy="228600"/>
            </a:xfrm>
            <a:custGeom>
              <a:avLst/>
              <a:gdLst/>
              <a:ahLst/>
              <a:cxnLst/>
              <a:rect l="l" t="t" r="r" b="b"/>
              <a:pathLst>
                <a:path w="287654" h="228600">
                  <a:moveTo>
                    <a:pt x="230195" y="28575"/>
                  </a:moveTo>
                  <a:lnTo>
                    <a:pt x="238564" y="8369"/>
                  </a:lnTo>
                  <a:lnTo>
                    <a:pt x="241243" y="5689"/>
                  </a:lnTo>
                  <a:lnTo>
                    <a:pt x="244334" y="3625"/>
                  </a:lnTo>
                  <a:lnTo>
                    <a:pt x="247834" y="2175"/>
                  </a:lnTo>
                  <a:lnTo>
                    <a:pt x="251335" y="725"/>
                  </a:lnTo>
                  <a:lnTo>
                    <a:pt x="254980" y="0"/>
                  </a:lnTo>
                  <a:lnTo>
                    <a:pt x="258770" y="0"/>
                  </a:lnTo>
                  <a:lnTo>
                    <a:pt x="262559" y="0"/>
                  </a:lnTo>
                  <a:lnTo>
                    <a:pt x="266204" y="725"/>
                  </a:lnTo>
                  <a:lnTo>
                    <a:pt x="269705" y="2175"/>
                  </a:lnTo>
                  <a:lnTo>
                    <a:pt x="273206" y="3625"/>
                  </a:lnTo>
                  <a:lnTo>
                    <a:pt x="276296" y="5689"/>
                  </a:lnTo>
                  <a:lnTo>
                    <a:pt x="278975" y="8369"/>
                  </a:lnTo>
                  <a:lnTo>
                    <a:pt x="281655" y="11048"/>
                  </a:lnTo>
                  <a:lnTo>
                    <a:pt x="287345" y="28575"/>
                  </a:lnTo>
                  <a:lnTo>
                    <a:pt x="287345" y="114300"/>
                  </a:lnTo>
                  <a:lnTo>
                    <a:pt x="278644" y="158040"/>
                  </a:lnTo>
                  <a:lnTo>
                    <a:pt x="268082" y="177801"/>
                  </a:lnTo>
                  <a:lnTo>
                    <a:pt x="263912" y="184041"/>
                  </a:lnTo>
                  <a:lnTo>
                    <a:pt x="236546" y="209336"/>
                  </a:lnTo>
                  <a:lnTo>
                    <a:pt x="230306" y="213506"/>
                  </a:lnTo>
                  <a:lnTo>
                    <a:pt x="187983" y="227867"/>
                  </a:lnTo>
                  <a:lnTo>
                    <a:pt x="173045" y="228600"/>
                  </a:lnTo>
                  <a:lnTo>
                    <a:pt x="144470" y="228600"/>
                  </a:lnTo>
                  <a:lnTo>
                    <a:pt x="94660" y="219813"/>
                  </a:lnTo>
                  <a:lnTo>
                    <a:pt x="58887" y="195167"/>
                  </a:lnTo>
                  <a:lnTo>
                    <a:pt x="7452" y="143732"/>
                  </a:lnTo>
                  <a:lnTo>
                    <a:pt x="0" y="127495"/>
                  </a:lnTo>
                  <a:lnTo>
                    <a:pt x="96" y="123828"/>
                  </a:lnTo>
                  <a:lnTo>
                    <a:pt x="193" y="120162"/>
                  </a:lnTo>
                  <a:lnTo>
                    <a:pt x="28009" y="96014"/>
                  </a:lnTo>
                  <a:lnTo>
                    <a:pt x="31676" y="95931"/>
                  </a:lnTo>
                  <a:lnTo>
                    <a:pt x="47886" y="103441"/>
                  </a:lnTo>
                  <a:lnTo>
                    <a:pt x="73032" y="128587"/>
                  </a:lnTo>
                </a:path>
              </a:pathLst>
            </a:custGeom>
            <a:ln w="28575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912350" y="4328059"/>
            <a:ext cx="1314450" cy="6343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Artisan</a:t>
            </a:r>
            <a:r>
              <a:rPr sz="1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Creates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50" b="1" spc="-45" dirty="0">
                <a:solidFill>
                  <a:srgbClr val="EF4444"/>
                </a:solidFill>
                <a:latin typeface="Times New Roman"/>
                <a:cs typeface="Times New Roman"/>
              </a:rPr>
              <a:t>12-</a:t>
            </a:r>
            <a:r>
              <a:rPr sz="2450" b="1" spc="-25" dirty="0">
                <a:solidFill>
                  <a:srgbClr val="EF4444"/>
                </a:solidFill>
                <a:latin typeface="Times New Roman"/>
                <a:cs typeface="Times New Roman"/>
              </a:rPr>
              <a:t>18%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296400" y="5238750"/>
            <a:ext cx="8534400" cy="876300"/>
            <a:chOff x="9296400" y="5238750"/>
            <a:chExt cx="8534400" cy="876300"/>
          </a:xfrm>
        </p:grpSpPr>
        <p:sp>
          <p:nvSpPr>
            <p:cNvPr id="36" name="object 36"/>
            <p:cNvSpPr/>
            <p:nvPr/>
          </p:nvSpPr>
          <p:spPr>
            <a:xfrm>
              <a:off x="9305925" y="5248275"/>
              <a:ext cx="8515350" cy="857250"/>
            </a:xfrm>
            <a:custGeom>
              <a:avLst/>
              <a:gdLst/>
              <a:ahLst/>
              <a:cxnLst/>
              <a:rect l="l" t="t" r="r" b="b"/>
              <a:pathLst>
                <a:path w="8515350" h="857250">
                  <a:moveTo>
                    <a:pt x="8453053" y="857250"/>
                  </a:moveTo>
                  <a:lnTo>
                    <a:pt x="62297" y="857250"/>
                  </a:lnTo>
                  <a:lnTo>
                    <a:pt x="57961" y="856822"/>
                  </a:lnTo>
                  <a:lnTo>
                    <a:pt x="22624" y="840816"/>
                  </a:lnTo>
                  <a:lnTo>
                    <a:pt x="2133" y="807875"/>
                  </a:lnTo>
                  <a:lnTo>
                    <a:pt x="0" y="794952"/>
                  </a:lnTo>
                  <a:lnTo>
                    <a:pt x="0" y="790575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400"/>
                  </a:lnTo>
                  <a:lnTo>
                    <a:pt x="62297" y="0"/>
                  </a:lnTo>
                  <a:lnTo>
                    <a:pt x="8453053" y="0"/>
                  </a:lnTo>
                  <a:lnTo>
                    <a:pt x="8489354" y="13668"/>
                  </a:lnTo>
                  <a:lnTo>
                    <a:pt x="8511948" y="45203"/>
                  </a:lnTo>
                  <a:lnTo>
                    <a:pt x="8515350" y="62297"/>
                  </a:lnTo>
                  <a:lnTo>
                    <a:pt x="8515350" y="794952"/>
                  </a:lnTo>
                  <a:lnTo>
                    <a:pt x="8501678" y="831256"/>
                  </a:lnTo>
                  <a:lnTo>
                    <a:pt x="8470142" y="853849"/>
                  </a:lnTo>
                  <a:lnTo>
                    <a:pt x="8457387" y="856822"/>
                  </a:lnTo>
                  <a:lnTo>
                    <a:pt x="8453053" y="8572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9305925" y="5248275"/>
              <a:ext cx="8515350" cy="857250"/>
            </a:xfrm>
            <a:custGeom>
              <a:avLst/>
              <a:gdLst/>
              <a:ahLst/>
              <a:cxnLst/>
              <a:rect l="l" t="t" r="r" b="b"/>
              <a:pathLst>
                <a:path w="8515350" h="857250">
                  <a:moveTo>
                    <a:pt x="0" y="790575"/>
                  </a:moveTo>
                  <a:lnTo>
                    <a:pt x="0" y="66675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0" y="53666"/>
                  </a:lnTo>
                  <a:lnTo>
                    <a:pt x="2133" y="49373"/>
                  </a:lnTo>
                  <a:lnTo>
                    <a:pt x="3398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1"/>
                  </a:lnTo>
                  <a:lnTo>
                    <a:pt x="11235" y="29632"/>
                  </a:lnTo>
                  <a:lnTo>
                    <a:pt x="13668" y="25991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3"/>
                  </a:lnTo>
                  <a:lnTo>
                    <a:pt x="53667" y="1281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8448675" y="0"/>
                  </a:lnTo>
                  <a:lnTo>
                    <a:pt x="8453053" y="0"/>
                  </a:lnTo>
                  <a:lnTo>
                    <a:pt x="8457387" y="426"/>
                  </a:lnTo>
                  <a:lnTo>
                    <a:pt x="8461680" y="1281"/>
                  </a:lnTo>
                  <a:lnTo>
                    <a:pt x="8465974" y="2134"/>
                  </a:lnTo>
                  <a:lnTo>
                    <a:pt x="8485714" y="11236"/>
                  </a:lnTo>
                  <a:lnTo>
                    <a:pt x="8489354" y="13668"/>
                  </a:lnTo>
                  <a:lnTo>
                    <a:pt x="8510272" y="41159"/>
                  </a:lnTo>
                  <a:lnTo>
                    <a:pt x="8511948" y="45203"/>
                  </a:lnTo>
                  <a:lnTo>
                    <a:pt x="8513212" y="49373"/>
                  </a:lnTo>
                  <a:lnTo>
                    <a:pt x="8514068" y="53666"/>
                  </a:lnTo>
                  <a:lnTo>
                    <a:pt x="8514922" y="57960"/>
                  </a:lnTo>
                  <a:lnTo>
                    <a:pt x="8515350" y="62297"/>
                  </a:lnTo>
                  <a:lnTo>
                    <a:pt x="8515350" y="66675"/>
                  </a:lnTo>
                  <a:lnTo>
                    <a:pt x="8515350" y="790575"/>
                  </a:lnTo>
                  <a:lnTo>
                    <a:pt x="8515350" y="794952"/>
                  </a:lnTo>
                  <a:lnTo>
                    <a:pt x="8514922" y="799288"/>
                  </a:lnTo>
                  <a:lnTo>
                    <a:pt x="8498914" y="834624"/>
                  </a:lnTo>
                  <a:lnTo>
                    <a:pt x="8465974" y="855114"/>
                  </a:lnTo>
                  <a:lnTo>
                    <a:pt x="8461680" y="855967"/>
                  </a:lnTo>
                  <a:lnTo>
                    <a:pt x="8457387" y="856822"/>
                  </a:lnTo>
                  <a:lnTo>
                    <a:pt x="8453053" y="857250"/>
                  </a:lnTo>
                  <a:lnTo>
                    <a:pt x="8448675" y="857250"/>
                  </a:lnTo>
                  <a:lnTo>
                    <a:pt x="66675" y="857250"/>
                  </a:lnTo>
                  <a:lnTo>
                    <a:pt x="62297" y="857250"/>
                  </a:lnTo>
                  <a:lnTo>
                    <a:pt x="57961" y="856822"/>
                  </a:lnTo>
                  <a:lnTo>
                    <a:pt x="53667" y="855967"/>
                  </a:lnTo>
                  <a:lnTo>
                    <a:pt x="49373" y="855114"/>
                  </a:lnTo>
                  <a:lnTo>
                    <a:pt x="45204" y="853849"/>
                  </a:lnTo>
                  <a:lnTo>
                    <a:pt x="41159" y="852173"/>
                  </a:lnTo>
                  <a:lnTo>
                    <a:pt x="37114" y="850498"/>
                  </a:lnTo>
                  <a:lnTo>
                    <a:pt x="19528" y="837720"/>
                  </a:lnTo>
                  <a:lnTo>
                    <a:pt x="16432" y="834624"/>
                  </a:lnTo>
                  <a:lnTo>
                    <a:pt x="1280" y="803582"/>
                  </a:lnTo>
                  <a:lnTo>
                    <a:pt x="426" y="799288"/>
                  </a:lnTo>
                  <a:lnTo>
                    <a:pt x="0" y="794952"/>
                  </a:lnTo>
                  <a:lnTo>
                    <a:pt x="0" y="790575"/>
                  </a:lnTo>
                  <a:close/>
                </a:path>
              </a:pathLst>
            </a:custGeom>
            <a:ln w="1905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9501187" y="5576887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100012"/>
                  </a:moveTo>
                  <a:lnTo>
                    <a:pt x="200025" y="100012"/>
                  </a:lnTo>
                </a:path>
                <a:path w="200025" h="200025">
                  <a:moveTo>
                    <a:pt x="100012" y="0"/>
                  </a:moveTo>
                  <a:lnTo>
                    <a:pt x="200025" y="100012"/>
                  </a:lnTo>
                  <a:lnTo>
                    <a:pt x="100012" y="200025"/>
                  </a:lnTo>
                </a:path>
              </a:pathLst>
            </a:custGeom>
            <a:ln w="28575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912350" y="5351660"/>
            <a:ext cx="2660650" cy="639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Middlemen</a:t>
            </a:r>
            <a:r>
              <a:rPr sz="15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5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5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Traders</a:t>
            </a:r>
            <a:r>
              <a:rPr sz="155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550" b="1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Exporters</a:t>
            </a:r>
            <a:r>
              <a:rPr sz="15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50" b="1" spc="125" dirty="0">
                <a:solidFill>
                  <a:srgbClr val="F59D0A"/>
                </a:solidFill>
                <a:latin typeface="Times New Roman"/>
                <a:cs typeface="Times New Roman"/>
              </a:rPr>
              <a:t>29-</a:t>
            </a:r>
            <a:r>
              <a:rPr sz="2450" b="1" spc="60" dirty="0">
                <a:solidFill>
                  <a:srgbClr val="F59D0A"/>
                </a:solidFill>
                <a:latin typeface="Times New Roman"/>
                <a:cs typeface="Times New Roman"/>
              </a:rPr>
              <a:t>45%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9296400" y="6267450"/>
            <a:ext cx="8534400" cy="876300"/>
            <a:chOff x="9296400" y="6267450"/>
            <a:chExt cx="8534400" cy="876300"/>
          </a:xfrm>
        </p:grpSpPr>
        <p:sp>
          <p:nvSpPr>
            <p:cNvPr id="41" name="object 41"/>
            <p:cNvSpPr/>
            <p:nvPr/>
          </p:nvSpPr>
          <p:spPr>
            <a:xfrm>
              <a:off x="9305925" y="6276975"/>
              <a:ext cx="8515350" cy="857250"/>
            </a:xfrm>
            <a:custGeom>
              <a:avLst/>
              <a:gdLst/>
              <a:ahLst/>
              <a:cxnLst/>
              <a:rect l="l" t="t" r="r" b="b"/>
              <a:pathLst>
                <a:path w="8515350" h="857250">
                  <a:moveTo>
                    <a:pt x="8453053" y="857250"/>
                  </a:moveTo>
                  <a:lnTo>
                    <a:pt x="62297" y="857250"/>
                  </a:lnTo>
                  <a:lnTo>
                    <a:pt x="57961" y="856822"/>
                  </a:lnTo>
                  <a:lnTo>
                    <a:pt x="22624" y="840817"/>
                  </a:lnTo>
                  <a:lnTo>
                    <a:pt x="2133" y="807875"/>
                  </a:lnTo>
                  <a:lnTo>
                    <a:pt x="0" y="794952"/>
                  </a:lnTo>
                  <a:lnTo>
                    <a:pt x="0" y="790575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400"/>
                  </a:lnTo>
                  <a:lnTo>
                    <a:pt x="62297" y="0"/>
                  </a:lnTo>
                  <a:lnTo>
                    <a:pt x="8453053" y="0"/>
                  </a:lnTo>
                  <a:lnTo>
                    <a:pt x="8489354" y="13668"/>
                  </a:lnTo>
                  <a:lnTo>
                    <a:pt x="8511948" y="45202"/>
                  </a:lnTo>
                  <a:lnTo>
                    <a:pt x="8515350" y="62297"/>
                  </a:lnTo>
                  <a:lnTo>
                    <a:pt x="8515350" y="794952"/>
                  </a:lnTo>
                  <a:lnTo>
                    <a:pt x="8501678" y="831257"/>
                  </a:lnTo>
                  <a:lnTo>
                    <a:pt x="8470142" y="853849"/>
                  </a:lnTo>
                  <a:lnTo>
                    <a:pt x="8457387" y="856822"/>
                  </a:lnTo>
                  <a:lnTo>
                    <a:pt x="8453053" y="8572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9305925" y="6276975"/>
              <a:ext cx="8515350" cy="857250"/>
            </a:xfrm>
            <a:custGeom>
              <a:avLst/>
              <a:gdLst/>
              <a:ahLst/>
              <a:cxnLst/>
              <a:rect l="l" t="t" r="r" b="b"/>
              <a:pathLst>
                <a:path w="8515350" h="857250">
                  <a:moveTo>
                    <a:pt x="0" y="790575"/>
                  </a:moveTo>
                  <a:lnTo>
                    <a:pt x="0" y="66675"/>
                  </a:lnTo>
                  <a:lnTo>
                    <a:pt x="0" y="62297"/>
                  </a:lnTo>
                  <a:lnTo>
                    <a:pt x="426" y="57961"/>
                  </a:lnTo>
                  <a:lnTo>
                    <a:pt x="1280" y="53667"/>
                  </a:lnTo>
                  <a:lnTo>
                    <a:pt x="2133" y="49372"/>
                  </a:lnTo>
                  <a:lnTo>
                    <a:pt x="3398" y="45202"/>
                  </a:lnTo>
                  <a:lnTo>
                    <a:pt x="5074" y="41158"/>
                  </a:lnTo>
                  <a:lnTo>
                    <a:pt x="6749" y="37114"/>
                  </a:lnTo>
                  <a:lnTo>
                    <a:pt x="8803" y="33271"/>
                  </a:lnTo>
                  <a:lnTo>
                    <a:pt x="11235" y="29632"/>
                  </a:lnTo>
                  <a:lnTo>
                    <a:pt x="13668" y="25991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41158" y="5074"/>
                  </a:lnTo>
                  <a:lnTo>
                    <a:pt x="45203" y="3400"/>
                  </a:lnTo>
                  <a:lnTo>
                    <a:pt x="49373" y="2134"/>
                  </a:lnTo>
                  <a:lnTo>
                    <a:pt x="53667" y="1281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8448675" y="0"/>
                  </a:lnTo>
                  <a:lnTo>
                    <a:pt x="8453053" y="0"/>
                  </a:lnTo>
                  <a:lnTo>
                    <a:pt x="8457387" y="426"/>
                  </a:lnTo>
                  <a:lnTo>
                    <a:pt x="8461680" y="1281"/>
                  </a:lnTo>
                  <a:lnTo>
                    <a:pt x="8465974" y="2134"/>
                  </a:lnTo>
                  <a:lnTo>
                    <a:pt x="8470142" y="3400"/>
                  </a:lnTo>
                  <a:lnTo>
                    <a:pt x="8474187" y="5074"/>
                  </a:lnTo>
                  <a:lnTo>
                    <a:pt x="8478231" y="6749"/>
                  </a:lnTo>
                  <a:lnTo>
                    <a:pt x="8482074" y="8803"/>
                  </a:lnTo>
                  <a:lnTo>
                    <a:pt x="8485714" y="11236"/>
                  </a:lnTo>
                  <a:lnTo>
                    <a:pt x="8489354" y="13668"/>
                  </a:lnTo>
                  <a:lnTo>
                    <a:pt x="8511948" y="45202"/>
                  </a:lnTo>
                  <a:lnTo>
                    <a:pt x="8515350" y="62297"/>
                  </a:lnTo>
                  <a:lnTo>
                    <a:pt x="8515350" y="66675"/>
                  </a:lnTo>
                  <a:lnTo>
                    <a:pt x="8515350" y="790575"/>
                  </a:lnTo>
                  <a:lnTo>
                    <a:pt x="8515350" y="794952"/>
                  </a:lnTo>
                  <a:lnTo>
                    <a:pt x="8514922" y="799288"/>
                  </a:lnTo>
                  <a:lnTo>
                    <a:pt x="8514068" y="803582"/>
                  </a:lnTo>
                  <a:lnTo>
                    <a:pt x="8513212" y="807875"/>
                  </a:lnTo>
                  <a:lnTo>
                    <a:pt x="8511948" y="812045"/>
                  </a:lnTo>
                  <a:lnTo>
                    <a:pt x="8510272" y="816089"/>
                  </a:lnTo>
                  <a:lnTo>
                    <a:pt x="8508597" y="820134"/>
                  </a:lnTo>
                  <a:lnTo>
                    <a:pt x="8482075" y="848444"/>
                  </a:lnTo>
                  <a:lnTo>
                    <a:pt x="8474188" y="852174"/>
                  </a:lnTo>
                  <a:lnTo>
                    <a:pt x="8470142" y="853849"/>
                  </a:lnTo>
                  <a:lnTo>
                    <a:pt x="8465974" y="855114"/>
                  </a:lnTo>
                  <a:lnTo>
                    <a:pt x="8461680" y="855968"/>
                  </a:lnTo>
                  <a:lnTo>
                    <a:pt x="8457387" y="856822"/>
                  </a:lnTo>
                  <a:lnTo>
                    <a:pt x="8453053" y="857250"/>
                  </a:lnTo>
                  <a:lnTo>
                    <a:pt x="8448675" y="857250"/>
                  </a:lnTo>
                  <a:lnTo>
                    <a:pt x="66675" y="857250"/>
                  </a:lnTo>
                  <a:lnTo>
                    <a:pt x="62297" y="857250"/>
                  </a:lnTo>
                  <a:lnTo>
                    <a:pt x="57961" y="856822"/>
                  </a:lnTo>
                  <a:lnTo>
                    <a:pt x="53667" y="855967"/>
                  </a:lnTo>
                  <a:lnTo>
                    <a:pt x="49373" y="855114"/>
                  </a:lnTo>
                  <a:lnTo>
                    <a:pt x="45204" y="853849"/>
                  </a:lnTo>
                  <a:lnTo>
                    <a:pt x="41159" y="852174"/>
                  </a:lnTo>
                  <a:lnTo>
                    <a:pt x="37114" y="850498"/>
                  </a:lnTo>
                  <a:lnTo>
                    <a:pt x="33272" y="848444"/>
                  </a:lnTo>
                  <a:lnTo>
                    <a:pt x="29632" y="846013"/>
                  </a:lnTo>
                  <a:lnTo>
                    <a:pt x="25992" y="843581"/>
                  </a:lnTo>
                  <a:lnTo>
                    <a:pt x="22624" y="840817"/>
                  </a:lnTo>
                  <a:lnTo>
                    <a:pt x="19528" y="837721"/>
                  </a:lnTo>
                  <a:lnTo>
                    <a:pt x="16432" y="834626"/>
                  </a:lnTo>
                  <a:lnTo>
                    <a:pt x="5074" y="816089"/>
                  </a:lnTo>
                  <a:lnTo>
                    <a:pt x="3398" y="812045"/>
                  </a:lnTo>
                  <a:lnTo>
                    <a:pt x="2133" y="807875"/>
                  </a:lnTo>
                  <a:lnTo>
                    <a:pt x="1280" y="803582"/>
                  </a:lnTo>
                  <a:lnTo>
                    <a:pt x="426" y="799288"/>
                  </a:lnTo>
                  <a:lnTo>
                    <a:pt x="0" y="794952"/>
                  </a:lnTo>
                  <a:lnTo>
                    <a:pt x="0" y="790575"/>
                  </a:lnTo>
                  <a:close/>
                </a:path>
              </a:pathLst>
            </a:custGeom>
            <a:ln w="19050">
              <a:solidFill>
                <a:srgbClr val="6266F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9458325" y="6562718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71443"/>
                  </a:moveTo>
                  <a:lnTo>
                    <a:pt x="63007" y="8435"/>
                  </a:lnTo>
                  <a:lnTo>
                    <a:pt x="68600" y="2809"/>
                  </a:lnTo>
                  <a:lnTo>
                    <a:pt x="75363" y="0"/>
                  </a:lnTo>
                  <a:lnTo>
                    <a:pt x="83296" y="6"/>
                  </a:lnTo>
                  <a:lnTo>
                    <a:pt x="202453" y="6"/>
                  </a:lnTo>
                  <a:lnTo>
                    <a:pt x="210386" y="0"/>
                  </a:lnTo>
                  <a:lnTo>
                    <a:pt x="217149" y="2809"/>
                  </a:lnTo>
                  <a:lnTo>
                    <a:pt x="222742" y="8435"/>
                  </a:lnTo>
                  <a:lnTo>
                    <a:pt x="285750" y="71443"/>
                  </a:lnTo>
                </a:path>
                <a:path w="285750" h="285750">
                  <a:moveTo>
                    <a:pt x="28575" y="142881"/>
                  </a:moveTo>
                  <a:lnTo>
                    <a:pt x="28575" y="257181"/>
                  </a:lnTo>
                  <a:lnTo>
                    <a:pt x="28574" y="260970"/>
                  </a:lnTo>
                  <a:lnTo>
                    <a:pt x="29300" y="264615"/>
                  </a:lnTo>
                  <a:lnTo>
                    <a:pt x="30750" y="268116"/>
                  </a:lnTo>
                  <a:lnTo>
                    <a:pt x="32200" y="271617"/>
                  </a:lnTo>
                  <a:lnTo>
                    <a:pt x="34264" y="274707"/>
                  </a:lnTo>
                  <a:lnTo>
                    <a:pt x="36944" y="277386"/>
                  </a:lnTo>
                  <a:lnTo>
                    <a:pt x="39623" y="280066"/>
                  </a:lnTo>
                  <a:lnTo>
                    <a:pt x="42713" y="282131"/>
                  </a:lnTo>
                  <a:lnTo>
                    <a:pt x="46214" y="283581"/>
                  </a:lnTo>
                  <a:lnTo>
                    <a:pt x="49715" y="285031"/>
                  </a:lnTo>
                  <a:lnTo>
                    <a:pt x="53360" y="285756"/>
                  </a:lnTo>
                  <a:lnTo>
                    <a:pt x="57150" y="285756"/>
                  </a:lnTo>
                  <a:lnTo>
                    <a:pt x="228600" y="285756"/>
                  </a:lnTo>
                  <a:lnTo>
                    <a:pt x="232389" y="285756"/>
                  </a:lnTo>
                  <a:lnTo>
                    <a:pt x="236034" y="285031"/>
                  </a:lnTo>
                  <a:lnTo>
                    <a:pt x="239535" y="283581"/>
                  </a:lnTo>
                  <a:lnTo>
                    <a:pt x="243036" y="282131"/>
                  </a:lnTo>
                  <a:lnTo>
                    <a:pt x="257175" y="257181"/>
                  </a:lnTo>
                  <a:lnTo>
                    <a:pt x="257175" y="142881"/>
                  </a:lnTo>
                </a:path>
              </a:pathLst>
            </a:custGeom>
            <a:ln w="28575">
              <a:solidFill>
                <a:srgbClr val="6266F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44050" y="6748462"/>
              <a:ext cx="114300" cy="1143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458325" y="6634162"/>
              <a:ext cx="285750" cy="71755"/>
            </a:xfrm>
            <a:custGeom>
              <a:avLst/>
              <a:gdLst/>
              <a:ahLst/>
              <a:cxnLst/>
              <a:rect l="l" t="t" r="r" b="b"/>
              <a:pathLst>
                <a:path w="285750" h="71754">
                  <a:moveTo>
                    <a:pt x="0" y="0"/>
                  </a:moveTo>
                  <a:lnTo>
                    <a:pt x="285750" y="0"/>
                  </a:lnTo>
                  <a:lnTo>
                    <a:pt x="285750" y="42862"/>
                  </a:lnTo>
                  <a:lnTo>
                    <a:pt x="268110" y="69262"/>
                  </a:lnTo>
                  <a:lnTo>
                    <a:pt x="264609" y="70712"/>
                  </a:lnTo>
                  <a:lnTo>
                    <a:pt x="260964" y="71437"/>
                  </a:lnTo>
                  <a:lnTo>
                    <a:pt x="257175" y="71437"/>
                  </a:lnTo>
                  <a:lnTo>
                    <a:pt x="248600" y="70965"/>
                  </a:lnTo>
                  <a:lnTo>
                    <a:pt x="241028" y="67965"/>
                  </a:lnTo>
                  <a:lnTo>
                    <a:pt x="234457" y="62436"/>
                  </a:lnTo>
                  <a:lnTo>
                    <a:pt x="232709" y="61172"/>
                  </a:lnTo>
                  <a:lnTo>
                    <a:pt x="230756" y="60541"/>
                  </a:lnTo>
                  <a:lnTo>
                    <a:pt x="228600" y="60541"/>
                  </a:lnTo>
                  <a:lnTo>
                    <a:pt x="226443" y="60541"/>
                  </a:lnTo>
                  <a:lnTo>
                    <a:pt x="224490" y="61172"/>
                  </a:lnTo>
                  <a:lnTo>
                    <a:pt x="222742" y="62436"/>
                  </a:lnTo>
                  <a:lnTo>
                    <a:pt x="216171" y="67965"/>
                  </a:lnTo>
                  <a:lnTo>
                    <a:pt x="208599" y="70965"/>
                  </a:lnTo>
                  <a:lnTo>
                    <a:pt x="200025" y="71437"/>
                  </a:lnTo>
                  <a:lnTo>
                    <a:pt x="191450" y="70965"/>
                  </a:lnTo>
                  <a:lnTo>
                    <a:pt x="183878" y="67965"/>
                  </a:lnTo>
                  <a:lnTo>
                    <a:pt x="177307" y="62436"/>
                  </a:lnTo>
                  <a:lnTo>
                    <a:pt x="175559" y="61172"/>
                  </a:lnTo>
                  <a:lnTo>
                    <a:pt x="173606" y="60541"/>
                  </a:lnTo>
                  <a:lnTo>
                    <a:pt x="171450" y="60541"/>
                  </a:lnTo>
                  <a:lnTo>
                    <a:pt x="169293" y="60541"/>
                  </a:lnTo>
                  <a:lnTo>
                    <a:pt x="167340" y="61172"/>
                  </a:lnTo>
                  <a:lnTo>
                    <a:pt x="165592" y="62436"/>
                  </a:lnTo>
                  <a:lnTo>
                    <a:pt x="159021" y="67965"/>
                  </a:lnTo>
                  <a:lnTo>
                    <a:pt x="151449" y="70965"/>
                  </a:lnTo>
                  <a:lnTo>
                    <a:pt x="142875" y="71437"/>
                  </a:lnTo>
                  <a:lnTo>
                    <a:pt x="134300" y="70965"/>
                  </a:lnTo>
                  <a:lnTo>
                    <a:pt x="126728" y="67965"/>
                  </a:lnTo>
                  <a:lnTo>
                    <a:pt x="120157" y="62436"/>
                  </a:lnTo>
                  <a:lnTo>
                    <a:pt x="118409" y="61173"/>
                  </a:lnTo>
                  <a:lnTo>
                    <a:pt x="116456" y="60541"/>
                  </a:lnTo>
                  <a:lnTo>
                    <a:pt x="114300" y="60541"/>
                  </a:lnTo>
                  <a:lnTo>
                    <a:pt x="112143" y="60541"/>
                  </a:lnTo>
                  <a:lnTo>
                    <a:pt x="110190" y="61173"/>
                  </a:lnTo>
                  <a:lnTo>
                    <a:pt x="108442" y="62436"/>
                  </a:lnTo>
                  <a:lnTo>
                    <a:pt x="101871" y="67965"/>
                  </a:lnTo>
                  <a:lnTo>
                    <a:pt x="94299" y="70965"/>
                  </a:lnTo>
                  <a:lnTo>
                    <a:pt x="85725" y="71437"/>
                  </a:lnTo>
                  <a:lnTo>
                    <a:pt x="77150" y="70965"/>
                  </a:lnTo>
                  <a:lnTo>
                    <a:pt x="69578" y="67965"/>
                  </a:lnTo>
                  <a:lnTo>
                    <a:pt x="63007" y="62436"/>
                  </a:lnTo>
                  <a:lnTo>
                    <a:pt x="61259" y="61172"/>
                  </a:lnTo>
                  <a:lnTo>
                    <a:pt x="59306" y="60541"/>
                  </a:lnTo>
                  <a:lnTo>
                    <a:pt x="57150" y="60541"/>
                  </a:lnTo>
                  <a:lnTo>
                    <a:pt x="54993" y="60541"/>
                  </a:lnTo>
                  <a:lnTo>
                    <a:pt x="53040" y="61172"/>
                  </a:lnTo>
                  <a:lnTo>
                    <a:pt x="51292" y="62436"/>
                  </a:lnTo>
                  <a:lnTo>
                    <a:pt x="44721" y="67965"/>
                  </a:lnTo>
                  <a:lnTo>
                    <a:pt x="37149" y="70965"/>
                  </a:lnTo>
                  <a:lnTo>
                    <a:pt x="28575" y="71437"/>
                  </a:lnTo>
                  <a:lnTo>
                    <a:pt x="24785" y="71437"/>
                  </a:lnTo>
                  <a:lnTo>
                    <a:pt x="21140" y="70712"/>
                  </a:lnTo>
                  <a:lnTo>
                    <a:pt x="17639" y="69262"/>
                  </a:lnTo>
                  <a:lnTo>
                    <a:pt x="14138" y="67812"/>
                  </a:lnTo>
                  <a:lnTo>
                    <a:pt x="0" y="46651"/>
                  </a:lnTo>
                  <a:lnTo>
                    <a:pt x="0" y="42862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6266F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912350" y="6385459"/>
            <a:ext cx="1205865" cy="6343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Retailer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50" b="1" spc="175" dirty="0">
                <a:solidFill>
                  <a:srgbClr val="6266F1"/>
                </a:solidFill>
                <a:latin typeface="Times New Roman"/>
                <a:cs typeface="Times New Roman"/>
              </a:rPr>
              <a:t>40-</a:t>
            </a:r>
            <a:r>
              <a:rPr sz="2450" b="1" spc="60" dirty="0">
                <a:solidFill>
                  <a:srgbClr val="6266F1"/>
                </a:solidFill>
                <a:latin typeface="Times New Roman"/>
                <a:cs typeface="Times New Roman"/>
              </a:rPr>
              <a:t>50%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2133600"/>
            <a:ext cx="8458200" cy="609600"/>
            <a:chOff x="457200" y="2133600"/>
            <a:chExt cx="8458200" cy="609600"/>
          </a:xfrm>
        </p:grpSpPr>
        <p:sp>
          <p:nvSpPr>
            <p:cNvPr id="3" name="object 3"/>
            <p:cNvSpPr/>
            <p:nvPr/>
          </p:nvSpPr>
          <p:spPr>
            <a:xfrm>
              <a:off x="457200" y="2133600"/>
              <a:ext cx="8458200" cy="609600"/>
            </a:xfrm>
            <a:custGeom>
              <a:avLst/>
              <a:gdLst/>
              <a:ahLst/>
              <a:cxnLst/>
              <a:rect l="l" t="t" r="r" b="b"/>
              <a:pathLst>
                <a:path w="8458200" h="609600">
                  <a:moveTo>
                    <a:pt x="8351404" y="609599"/>
                  </a:moveTo>
                  <a:lnTo>
                    <a:pt x="106794" y="609599"/>
                  </a:lnTo>
                  <a:lnTo>
                    <a:pt x="99361" y="608867"/>
                  </a:lnTo>
                  <a:lnTo>
                    <a:pt x="57038" y="594506"/>
                  </a:lnTo>
                  <a:lnTo>
                    <a:pt x="23432" y="565041"/>
                  </a:lnTo>
                  <a:lnTo>
                    <a:pt x="3660" y="524959"/>
                  </a:lnTo>
                  <a:lnTo>
                    <a:pt x="0" y="502805"/>
                  </a:lnTo>
                  <a:lnTo>
                    <a:pt x="0" y="495300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4" y="0"/>
                  </a:lnTo>
                  <a:lnTo>
                    <a:pt x="8351404" y="0"/>
                  </a:lnTo>
                  <a:lnTo>
                    <a:pt x="8394573" y="11572"/>
                  </a:lnTo>
                  <a:lnTo>
                    <a:pt x="8430028" y="38784"/>
                  </a:lnTo>
                  <a:lnTo>
                    <a:pt x="8452370" y="77492"/>
                  </a:lnTo>
                  <a:lnTo>
                    <a:pt x="8458199" y="106794"/>
                  </a:lnTo>
                  <a:lnTo>
                    <a:pt x="8458199" y="502805"/>
                  </a:lnTo>
                  <a:lnTo>
                    <a:pt x="8446626" y="545973"/>
                  </a:lnTo>
                  <a:lnTo>
                    <a:pt x="8419414" y="581429"/>
                  </a:lnTo>
                  <a:lnTo>
                    <a:pt x="8380706" y="603771"/>
                  </a:lnTo>
                  <a:lnTo>
                    <a:pt x="8358837" y="608867"/>
                  </a:lnTo>
                  <a:lnTo>
                    <a:pt x="8351404" y="609599"/>
                  </a:lnTo>
                  <a:close/>
                </a:path>
              </a:pathLst>
            </a:custGeom>
            <a:solidFill>
              <a:srgbClr val="DB252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028950" y="22955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lnTo>
                    <a:pt x="279599" y="184349"/>
                  </a:lnTo>
                  <a:lnTo>
                    <a:pt x="261671" y="222252"/>
                  </a:lnTo>
                  <a:lnTo>
                    <a:pt x="233514" y="253320"/>
                  </a:lnTo>
                  <a:lnTo>
                    <a:pt x="197550" y="274874"/>
                  </a:lnTo>
                  <a:lnTo>
                    <a:pt x="156879" y="285063"/>
                  </a:lnTo>
                  <a:lnTo>
                    <a:pt x="142875" y="285750"/>
                  </a:lnTo>
                  <a:lnTo>
                    <a:pt x="135855" y="285578"/>
                  </a:lnTo>
                  <a:lnTo>
                    <a:pt x="94749" y="277401"/>
                  </a:lnTo>
                  <a:lnTo>
                    <a:pt x="57757" y="257628"/>
                  </a:lnTo>
                  <a:lnTo>
                    <a:pt x="28121" y="227992"/>
                  </a:lnTo>
                  <a:lnTo>
                    <a:pt x="8348" y="191000"/>
                  </a:lnTo>
                  <a:lnTo>
                    <a:pt x="171" y="149894"/>
                  </a:lnTo>
                  <a:lnTo>
                    <a:pt x="0" y="142875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7"/>
                  </a:lnTo>
                  <a:lnTo>
                    <a:pt x="57757" y="28121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5" y="0"/>
                  </a:lnTo>
                  <a:lnTo>
                    <a:pt x="149894" y="171"/>
                  </a:lnTo>
                  <a:lnTo>
                    <a:pt x="191000" y="8348"/>
                  </a:lnTo>
                  <a:lnTo>
                    <a:pt x="227992" y="28121"/>
                  </a:lnTo>
                  <a:lnTo>
                    <a:pt x="257628" y="57757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50" y="142875"/>
                  </a:lnTo>
                  <a:close/>
                </a:path>
                <a:path w="285750" h="285750">
                  <a:moveTo>
                    <a:pt x="185737" y="100012"/>
                  </a:moveTo>
                  <a:lnTo>
                    <a:pt x="100012" y="185737"/>
                  </a:lnTo>
                </a:path>
                <a:path w="285750" h="285750">
                  <a:moveTo>
                    <a:pt x="100012" y="100012"/>
                  </a:moveTo>
                  <a:lnTo>
                    <a:pt x="185737" y="185737"/>
                  </a:lnTo>
                </a:path>
              </a:pathLst>
            </a:custGeom>
            <a:ln w="28575">
              <a:solidFill>
                <a:srgbClr val="F7707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57200" y="3619499"/>
            <a:ext cx="8458200" cy="819150"/>
            <a:chOff x="457200" y="3619499"/>
            <a:chExt cx="8458200" cy="819150"/>
          </a:xfrm>
        </p:grpSpPr>
        <p:sp>
          <p:nvSpPr>
            <p:cNvPr id="6" name="object 6"/>
            <p:cNvSpPr/>
            <p:nvPr/>
          </p:nvSpPr>
          <p:spPr>
            <a:xfrm>
              <a:off x="457200" y="3619499"/>
              <a:ext cx="8458200" cy="819150"/>
            </a:xfrm>
            <a:custGeom>
              <a:avLst/>
              <a:gdLst/>
              <a:ahLst/>
              <a:cxnLst/>
              <a:rect l="l" t="t" r="r" b="b"/>
              <a:pathLst>
                <a:path w="8458200" h="819150">
                  <a:moveTo>
                    <a:pt x="8382000" y="819150"/>
                  </a:moveTo>
                  <a:lnTo>
                    <a:pt x="76200" y="819150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6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200" y="0"/>
                  </a:lnTo>
                  <a:lnTo>
                    <a:pt x="8382000" y="0"/>
                  </a:lnTo>
                  <a:lnTo>
                    <a:pt x="8424340" y="12829"/>
                  </a:lnTo>
                  <a:lnTo>
                    <a:pt x="8452398" y="47039"/>
                  </a:lnTo>
                  <a:lnTo>
                    <a:pt x="8458200" y="76200"/>
                  </a:lnTo>
                  <a:lnTo>
                    <a:pt x="8458200" y="742950"/>
                  </a:lnTo>
                  <a:lnTo>
                    <a:pt x="8445368" y="785291"/>
                  </a:lnTo>
                  <a:lnTo>
                    <a:pt x="8411159" y="813349"/>
                  </a:lnTo>
                  <a:lnTo>
                    <a:pt x="8382000" y="8191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3619499"/>
              <a:ext cx="8458200" cy="819150"/>
            </a:xfrm>
            <a:custGeom>
              <a:avLst/>
              <a:gdLst/>
              <a:ahLst/>
              <a:cxnLst/>
              <a:rect l="l" t="t" r="r" b="b"/>
              <a:pathLst>
                <a:path w="8458200" h="819150">
                  <a:moveTo>
                    <a:pt x="8381999" y="819149"/>
                  </a:moveTo>
                  <a:lnTo>
                    <a:pt x="76199" y="819149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6"/>
                  </a:lnTo>
                  <a:lnTo>
                    <a:pt x="0" y="7429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8381999" y="0"/>
                  </a:lnTo>
                  <a:lnTo>
                    <a:pt x="84188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747327"/>
                  </a:lnTo>
                  <a:lnTo>
                    <a:pt x="23194" y="783632"/>
                  </a:lnTo>
                  <a:lnTo>
                    <a:pt x="54729" y="806225"/>
                  </a:lnTo>
                  <a:lnTo>
                    <a:pt x="71822" y="809625"/>
                  </a:lnTo>
                  <a:lnTo>
                    <a:pt x="8418817" y="809625"/>
                  </a:lnTo>
                  <a:lnTo>
                    <a:pt x="8417955" y="810141"/>
                  </a:lnTo>
                  <a:lnTo>
                    <a:pt x="8411159" y="813349"/>
                  </a:lnTo>
                  <a:lnTo>
                    <a:pt x="8404085" y="815886"/>
                  </a:lnTo>
                  <a:lnTo>
                    <a:pt x="8396867" y="817699"/>
                  </a:lnTo>
                  <a:lnTo>
                    <a:pt x="8389505" y="818787"/>
                  </a:lnTo>
                  <a:lnTo>
                    <a:pt x="8381999" y="819149"/>
                  </a:lnTo>
                  <a:close/>
                </a:path>
                <a:path w="8458200" h="819150">
                  <a:moveTo>
                    <a:pt x="8418817" y="809625"/>
                  </a:moveTo>
                  <a:lnTo>
                    <a:pt x="8386377" y="809625"/>
                  </a:lnTo>
                  <a:lnTo>
                    <a:pt x="8390713" y="809198"/>
                  </a:lnTo>
                  <a:lnTo>
                    <a:pt x="8399300" y="807489"/>
                  </a:lnTo>
                  <a:lnTo>
                    <a:pt x="8432241" y="787000"/>
                  </a:lnTo>
                  <a:lnTo>
                    <a:pt x="8448247" y="751663"/>
                  </a:lnTo>
                  <a:lnTo>
                    <a:pt x="8448674" y="747327"/>
                  </a:lnTo>
                  <a:lnTo>
                    <a:pt x="8448674" y="71822"/>
                  </a:lnTo>
                  <a:lnTo>
                    <a:pt x="8435005" y="35517"/>
                  </a:lnTo>
                  <a:lnTo>
                    <a:pt x="8403154" y="12829"/>
                  </a:lnTo>
                  <a:lnTo>
                    <a:pt x="8386377" y="9525"/>
                  </a:lnTo>
                  <a:lnTo>
                    <a:pt x="8418820" y="9525"/>
                  </a:lnTo>
                  <a:lnTo>
                    <a:pt x="8449190" y="40242"/>
                  </a:lnTo>
                  <a:lnTo>
                    <a:pt x="8458199" y="76199"/>
                  </a:lnTo>
                  <a:lnTo>
                    <a:pt x="8458199" y="742949"/>
                  </a:lnTo>
                  <a:lnTo>
                    <a:pt x="8445368" y="785291"/>
                  </a:lnTo>
                  <a:lnTo>
                    <a:pt x="8424467" y="806225"/>
                  </a:lnTo>
                  <a:lnTo>
                    <a:pt x="8418817" y="809625"/>
                  </a:lnTo>
                  <a:close/>
                </a:path>
              </a:pathLst>
            </a:custGeom>
            <a:solidFill>
              <a:srgbClr val="F8717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475" y="4051299"/>
              <a:ext cx="177800" cy="889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812" y="3917949"/>
              <a:ext cx="111125" cy="1111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49325" y="3701704"/>
            <a:ext cx="824230" cy="603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Artisan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00" spc="-20" dirty="0">
                <a:solidFill>
                  <a:srgbClr val="128708"/>
                </a:solidFill>
                <a:latin typeface="Times New Roman"/>
                <a:cs typeface="Times New Roman"/>
              </a:rPr>
              <a:t>₹</a:t>
            </a:r>
            <a:r>
              <a:rPr sz="1650" spc="-20" dirty="0">
                <a:solidFill>
                  <a:srgbClr val="128708"/>
                </a:solidFill>
                <a:latin typeface="Times New Roman"/>
                <a:cs typeface="Times New Roman"/>
              </a:rPr>
              <a:t>100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30737" y="4554537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2" y="0"/>
                </a:moveTo>
                <a:lnTo>
                  <a:pt x="55562" y="111125"/>
                </a:lnTo>
              </a:path>
              <a:path w="111125" h="111125">
                <a:moveTo>
                  <a:pt x="111125" y="55562"/>
                </a:moveTo>
                <a:lnTo>
                  <a:pt x="55562" y="111125"/>
                </a:lnTo>
                <a:lnTo>
                  <a:pt x="0" y="55562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" y="4781549"/>
            <a:ext cx="8458200" cy="819150"/>
            <a:chOff x="457200" y="4781549"/>
            <a:chExt cx="8458200" cy="819150"/>
          </a:xfrm>
        </p:grpSpPr>
        <p:sp>
          <p:nvSpPr>
            <p:cNvPr id="13" name="object 13"/>
            <p:cNvSpPr/>
            <p:nvPr/>
          </p:nvSpPr>
          <p:spPr>
            <a:xfrm>
              <a:off x="457200" y="4781549"/>
              <a:ext cx="8458200" cy="819150"/>
            </a:xfrm>
            <a:custGeom>
              <a:avLst/>
              <a:gdLst/>
              <a:ahLst/>
              <a:cxnLst/>
              <a:rect l="l" t="t" r="r" b="b"/>
              <a:pathLst>
                <a:path w="8458200" h="819150">
                  <a:moveTo>
                    <a:pt x="8382000" y="819150"/>
                  </a:moveTo>
                  <a:lnTo>
                    <a:pt x="76200" y="819150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6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8382000" y="0"/>
                  </a:lnTo>
                  <a:lnTo>
                    <a:pt x="8424341" y="12829"/>
                  </a:lnTo>
                  <a:lnTo>
                    <a:pt x="8452398" y="47039"/>
                  </a:lnTo>
                  <a:lnTo>
                    <a:pt x="8458200" y="76200"/>
                  </a:lnTo>
                  <a:lnTo>
                    <a:pt x="8458200" y="742950"/>
                  </a:lnTo>
                  <a:lnTo>
                    <a:pt x="8445368" y="785291"/>
                  </a:lnTo>
                  <a:lnTo>
                    <a:pt x="8411159" y="813348"/>
                  </a:lnTo>
                  <a:lnTo>
                    <a:pt x="8382000" y="8191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4781550"/>
              <a:ext cx="8458200" cy="819150"/>
            </a:xfrm>
            <a:custGeom>
              <a:avLst/>
              <a:gdLst/>
              <a:ahLst/>
              <a:cxnLst/>
              <a:rect l="l" t="t" r="r" b="b"/>
              <a:pathLst>
                <a:path w="8458200" h="819150">
                  <a:moveTo>
                    <a:pt x="8381999" y="819149"/>
                  </a:moveTo>
                  <a:lnTo>
                    <a:pt x="76199" y="819149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6"/>
                  </a:lnTo>
                  <a:lnTo>
                    <a:pt x="0" y="7429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8381999" y="0"/>
                  </a:lnTo>
                  <a:lnTo>
                    <a:pt x="84188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747328"/>
                  </a:lnTo>
                  <a:lnTo>
                    <a:pt x="23194" y="783632"/>
                  </a:lnTo>
                  <a:lnTo>
                    <a:pt x="54729" y="806224"/>
                  </a:lnTo>
                  <a:lnTo>
                    <a:pt x="71822" y="809625"/>
                  </a:lnTo>
                  <a:lnTo>
                    <a:pt x="8418817" y="809625"/>
                  </a:lnTo>
                  <a:lnTo>
                    <a:pt x="8417955" y="810141"/>
                  </a:lnTo>
                  <a:lnTo>
                    <a:pt x="8411159" y="813348"/>
                  </a:lnTo>
                  <a:lnTo>
                    <a:pt x="8404085" y="815886"/>
                  </a:lnTo>
                  <a:lnTo>
                    <a:pt x="8396867" y="817699"/>
                  </a:lnTo>
                  <a:lnTo>
                    <a:pt x="8389505" y="818787"/>
                  </a:lnTo>
                  <a:lnTo>
                    <a:pt x="8381999" y="819149"/>
                  </a:lnTo>
                  <a:close/>
                </a:path>
                <a:path w="8458200" h="819150">
                  <a:moveTo>
                    <a:pt x="8418817" y="809625"/>
                  </a:moveTo>
                  <a:lnTo>
                    <a:pt x="8386377" y="809625"/>
                  </a:lnTo>
                  <a:lnTo>
                    <a:pt x="8390713" y="809197"/>
                  </a:lnTo>
                  <a:lnTo>
                    <a:pt x="8399300" y="807489"/>
                  </a:lnTo>
                  <a:lnTo>
                    <a:pt x="8432241" y="787000"/>
                  </a:lnTo>
                  <a:lnTo>
                    <a:pt x="8448247" y="751663"/>
                  </a:lnTo>
                  <a:lnTo>
                    <a:pt x="8448674" y="747328"/>
                  </a:lnTo>
                  <a:lnTo>
                    <a:pt x="8448674" y="71822"/>
                  </a:lnTo>
                  <a:lnTo>
                    <a:pt x="8435005" y="35517"/>
                  </a:lnTo>
                  <a:lnTo>
                    <a:pt x="8403155" y="12829"/>
                  </a:lnTo>
                  <a:lnTo>
                    <a:pt x="8386377" y="9525"/>
                  </a:lnTo>
                  <a:lnTo>
                    <a:pt x="8418820" y="9525"/>
                  </a:lnTo>
                  <a:lnTo>
                    <a:pt x="8449190" y="40242"/>
                  </a:lnTo>
                  <a:lnTo>
                    <a:pt x="8458199" y="76199"/>
                  </a:lnTo>
                  <a:lnTo>
                    <a:pt x="8458199" y="742949"/>
                  </a:lnTo>
                  <a:lnTo>
                    <a:pt x="8445368" y="785291"/>
                  </a:lnTo>
                  <a:lnTo>
                    <a:pt x="8424467" y="806224"/>
                  </a:lnTo>
                  <a:lnTo>
                    <a:pt x="8418817" y="809625"/>
                  </a:lnTo>
                  <a:close/>
                </a:path>
              </a:pathLst>
            </a:custGeom>
            <a:solidFill>
              <a:srgbClr val="FA913C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603250" y="5091112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22250" h="200025">
                  <a:moveTo>
                    <a:pt x="155575" y="200025"/>
                  </a:moveTo>
                  <a:lnTo>
                    <a:pt x="155575" y="177800"/>
                  </a:lnTo>
                  <a:lnTo>
                    <a:pt x="155574" y="171905"/>
                  </a:lnTo>
                  <a:lnTo>
                    <a:pt x="133581" y="138989"/>
                  </a:lnTo>
                  <a:lnTo>
                    <a:pt x="117019" y="133350"/>
                  </a:lnTo>
                  <a:lnTo>
                    <a:pt x="111125" y="133350"/>
                  </a:lnTo>
                  <a:lnTo>
                    <a:pt x="44450" y="133350"/>
                  </a:lnTo>
                  <a:lnTo>
                    <a:pt x="38555" y="133350"/>
                  </a:lnTo>
                  <a:lnTo>
                    <a:pt x="32885" y="134477"/>
                  </a:lnTo>
                  <a:lnTo>
                    <a:pt x="27439" y="136733"/>
                  </a:lnTo>
                  <a:lnTo>
                    <a:pt x="21993" y="138989"/>
                  </a:lnTo>
                  <a:lnTo>
                    <a:pt x="17187" y="142201"/>
                  </a:lnTo>
                  <a:lnTo>
                    <a:pt x="13019" y="146369"/>
                  </a:lnTo>
                  <a:lnTo>
                    <a:pt x="8851" y="150537"/>
                  </a:lnTo>
                  <a:lnTo>
                    <a:pt x="5639" y="155343"/>
                  </a:lnTo>
                  <a:lnTo>
                    <a:pt x="3383" y="160789"/>
                  </a:lnTo>
                  <a:lnTo>
                    <a:pt x="1127" y="166235"/>
                  </a:lnTo>
                  <a:lnTo>
                    <a:pt x="0" y="171905"/>
                  </a:lnTo>
                  <a:lnTo>
                    <a:pt x="0" y="177800"/>
                  </a:lnTo>
                  <a:lnTo>
                    <a:pt x="0" y="200025"/>
                  </a:lnTo>
                </a:path>
                <a:path w="222250" h="200025">
                  <a:moveTo>
                    <a:pt x="122237" y="44450"/>
                  </a:moveTo>
                  <a:lnTo>
                    <a:pt x="105050" y="80048"/>
                  </a:lnTo>
                  <a:lnTo>
                    <a:pt x="77787" y="88900"/>
                  </a:lnTo>
                  <a:lnTo>
                    <a:pt x="71893" y="88899"/>
                  </a:lnTo>
                  <a:lnTo>
                    <a:pt x="38976" y="66906"/>
                  </a:lnTo>
                  <a:lnTo>
                    <a:pt x="33337" y="50344"/>
                  </a:lnTo>
                  <a:lnTo>
                    <a:pt x="33337" y="44450"/>
                  </a:lnTo>
                  <a:lnTo>
                    <a:pt x="33337" y="38555"/>
                  </a:lnTo>
                  <a:lnTo>
                    <a:pt x="46356" y="13019"/>
                  </a:lnTo>
                  <a:lnTo>
                    <a:pt x="50524" y="8851"/>
                  </a:lnTo>
                  <a:lnTo>
                    <a:pt x="55331" y="5639"/>
                  </a:lnTo>
                  <a:lnTo>
                    <a:pt x="60777" y="3383"/>
                  </a:lnTo>
                  <a:lnTo>
                    <a:pt x="66222" y="1127"/>
                  </a:lnTo>
                  <a:lnTo>
                    <a:pt x="71893" y="0"/>
                  </a:lnTo>
                  <a:lnTo>
                    <a:pt x="77787" y="0"/>
                  </a:lnTo>
                  <a:lnTo>
                    <a:pt x="83681" y="0"/>
                  </a:lnTo>
                  <a:lnTo>
                    <a:pt x="116598" y="21993"/>
                  </a:lnTo>
                  <a:lnTo>
                    <a:pt x="122237" y="38555"/>
                  </a:lnTo>
                  <a:lnTo>
                    <a:pt x="122237" y="44450"/>
                  </a:lnTo>
                  <a:close/>
                </a:path>
                <a:path w="222250" h="200025">
                  <a:moveTo>
                    <a:pt x="222250" y="200025"/>
                  </a:moveTo>
                  <a:lnTo>
                    <a:pt x="222250" y="177800"/>
                  </a:lnTo>
                  <a:lnTo>
                    <a:pt x="222246" y="172875"/>
                  </a:lnTo>
                  <a:lnTo>
                    <a:pt x="221446" y="168084"/>
                  </a:lnTo>
                  <a:lnTo>
                    <a:pt x="219850" y="163425"/>
                  </a:lnTo>
                  <a:lnTo>
                    <a:pt x="218254" y="158767"/>
                  </a:lnTo>
                  <a:lnTo>
                    <a:pt x="193680" y="136025"/>
                  </a:lnTo>
                  <a:lnTo>
                    <a:pt x="188912" y="134794"/>
                  </a:lnTo>
                </a:path>
                <a:path w="222250" h="200025">
                  <a:moveTo>
                    <a:pt x="155575" y="1444"/>
                  </a:moveTo>
                  <a:lnTo>
                    <a:pt x="160355" y="2668"/>
                  </a:lnTo>
                  <a:lnTo>
                    <a:pt x="164808" y="4634"/>
                  </a:lnTo>
                  <a:lnTo>
                    <a:pt x="168934" y="7341"/>
                  </a:lnTo>
                  <a:lnTo>
                    <a:pt x="173060" y="10048"/>
                  </a:lnTo>
                  <a:lnTo>
                    <a:pt x="176636" y="13351"/>
                  </a:lnTo>
                  <a:lnTo>
                    <a:pt x="179662" y="17250"/>
                  </a:lnTo>
                  <a:lnTo>
                    <a:pt x="182688" y="21148"/>
                  </a:lnTo>
                  <a:lnTo>
                    <a:pt x="188999" y="44505"/>
                  </a:lnTo>
                  <a:lnTo>
                    <a:pt x="188999" y="49440"/>
                  </a:lnTo>
                  <a:lnTo>
                    <a:pt x="179662" y="71761"/>
                  </a:lnTo>
                  <a:lnTo>
                    <a:pt x="176636" y="75659"/>
                  </a:lnTo>
                  <a:lnTo>
                    <a:pt x="173060" y="78962"/>
                  </a:lnTo>
                  <a:lnTo>
                    <a:pt x="168934" y="81669"/>
                  </a:lnTo>
                  <a:lnTo>
                    <a:pt x="164808" y="84376"/>
                  </a:lnTo>
                  <a:lnTo>
                    <a:pt x="160355" y="86342"/>
                  </a:lnTo>
                  <a:lnTo>
                    <a:pt x="155575" y="87566"/>
                  </a:lnTo>
                </a:path>
              </a:pathLst>
            </a:custGeom>
            <a:ln w="22225">
              <a:solidFill>
                <a:srgbClr val="FA913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49325" y="4856956"/>
            <a:ext cx="2780665" cy="6102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114"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z="2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Trader</a:t>
            </a:r>
            <a:r>
              <a:rPr sz="2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5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05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Distributor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50" spc="135" dirty="0">
                <a:solidFill>
                  <a:srgbClr val="F77070"/>
                </a:solidFill>
                <a:latin typeface="Times New Roman"/>
                <a:cs typeface="Times New Roman"/>
              </a:rPr>
              <a:t>-</a:t>
            </a:r>
            <a:r>
              <a:rPr sz="1700" spc="-25" dirty="0">
                <a:solidFill>
                  <a:srgbClr val="F77070"/>
                </a:solidFill>
                <a:latin typeface="Times New Roman"/>
                <a:cs typeface="Times New Roman"/>
              </a:rPr>
              <a:t>₹</a:t>
            </a:r>
            <a:r>
              <a:rPr sz="1650" spc="-25" dirty="0">
                <a:solidFill>
                  <a:srgbClr val="F77070"/>
                </a:solidFill>
                <a:latin typeface="Times New Roman"/>
                <a:cs typeface="Times New Roman"/>
              </a:rPr>
              <a:t>80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30737" y="5716587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2" y="0"/>
                </a:moveTo>
                <a:lnTo>
                  <a:pt x="55562" y="111125"/>
                </a:lnTo>
              </a:path>
              <a:path w="111125" h="111125">
                <a:moveTo>
                  <a:pt x="111125" y="55562"/>
                </a:moveTo>
                <a:lnTo>
                  <a:pt x="55562" y="111125"/>
                </a:lnTo>
                <a:lnTo>
                  <a:pt x="0" y="55562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7200" y="5943599"/>
            <a:ext cx="8458200" cy="819150"/>
            <a:chOff x="457200" y="5943599"/>
            <a:chExt cx="8458200" cy="819150"/>
          </a:xfrm>
        </p:grpSpPr>
        <p:sp>
          <p:nvSpPr>
            <p:cNvPr id="19" name="object 19"/>
            <p:cNvSpPr/>
            <p:nvPr/>
          </p:nvSpPr>
          <p:spPr>
            <a:xfrm>
              <a:off x="457200" y="5943599"/>
              <a:ext cx="8458200" cy="819150"/>
            </a:xfrm>
            <a:custGeom>
              <a:avLst/>
              <a:gdLst/>
              <a:ahLst/>
              <a:cxnLst/>
              <a:rect l="l" t="t" r="r" b="b"/>
              <a:pathLst>
                <a:path w="8458200" h="819150">
                  <a:moveTo>
                    <a:pt x="8382000" y="819150"/>
                  </a:moveTo>
                  <a:lnTo>
                    <a:pt x="76200" y="819150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6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12830" y="33856"/>
                  </a:lnTo>
                  <a:lnTo>
                    <a:pt x="47039" y="5799"/>
                  </a:lnTo>
                  <a:lnTo>
                    <a:pt x="76200" y="0"/>
                  </a:lnTo>
                  <a:lnTo>
                    <a:pt x="8382000" y="0"/>
                  </a:lnTo>
                  <a:lnTo>
                    <a:pt x="8424340" y="12829"/>
                  </a:lnTo>
                  <a:lnTo>
                    <a:pt x="8452398" y="47039"/>
                  </a:lnTo>
                  <a:lnTo>
                    <a:pt x="8458200" y="76200"/>
                  </a:lnTo>
                  <a:lnTo>
                    <a:pt x="8458200" y="742950"/>
                  </a:lnTo>
                  <a:lnTo>
                    <a:pt x="8445368" y="785291"/>
                  </a:lnTo>
                  <a:lnTo>
                    <a:pt x="8411159" y="813349"/>
                  </a:lnTo>
                  <a:lnTo>
                    <a:pt x="8382000" y="8191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57200" y="5943600"/>
              <a:ext cx="8458200" cy="819150"/>
            </a:xfrm>
            <a:custGeom>
              <a:avLst/>
              <a:gdLst/>
              <a:ahLst/>
              <a:cxnLst/>
              <a:rect l="l" t="t" r="r" b="b"/>
              <a:pathLst>
                <a:path w="8458200" h="819150">
                  <a:moveTo>
                    <a:pt x="8381999" y="819149"/>
                  </a:moveTo>
                  <a:lnTo>
                    <a:pt x="76199" y="819149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6"/>
                  </a:lnTo>
                  <a:lnTo>
                    <a:pt x="0" y="742949"/>
                  </a:lnTo>
                  <a:lnTo>
                    <a:pt x="0" y="76199"/>
                  </a:lnTo>
                  <a:lnTo>
                    <a:pt x="12830" y="33856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8381999" y="0"/>
                  </a:lnTo>
                  <a:lnTo>
                    <a:pt x="84188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747328"/>
                  </a:lnTo>
                  <a:lnTo>
                    <a:pt x="23194" y="783632"/>
                  </a:lnTo>
                  <a:lnTo>
                    <a:pt x="54729" y="806225"/>
                  </a:lnTo>
                  <a:lnTo>
                    <a:pt x="71822" y="809625"/>
                  </a:lnTo>
                  <a:lnTo>
                    <a:pt x="8418817" y="809625"/>
                  </a:lnTo>
                  <a:lnTo>
                    <a:pt x="8417955" y="810141"/>
                  </a:lnTo>
                  <a:lnTo>
                    <a:pt x="8411159" y="813349"/>
                  </a:lnTo>
                  <a:lnTo>
                    <a:pt x="8404085" y="815886"/>
                  </a:lnTo>
                  <a:lnTo>
                    <a:pt x="8396867" y="817699"/>
                  </a:lnTo>
                  <a:lnTo>
                    <a:pt x="8389505" y="818787"/>
                  </a:lnTo>
                  <a:lnTo>
                    <a:pt x="8381999" y="819149"/>
                  </a:lnTo>
                  <a:close/>
                </a:path>
                <a:path w="8458200" h="819150">
                  <a:moveTo>
                    <a:pt x="8418817" y="809625"/>
                  </a:moveTo>
                  <a:lnTo>
                    <a:pt x="8386377" y="809625"/>
                  </a:lnTo>
                  <a:lnTo>
                    <a:pt x="8390713" y="809198"/>
                  </a:lnTo>
                  <a:lnTo>
                    <a:pt x="8399300" y="807489"/>
                  </a:lnTo>
                  <a:lnTo>
                    <a:pt x="8432241" y="787000"/>
                  </a:lnTo>
                  <a:lnTo>
                    <a:pt x="8448247" y="751663"/>
                  </a:lnTo>
                  <a:lnTo>
                    <a:pt x="8448674" y="747328"/>
                  </a:lnTo>
                  <a:lnTo>
                    <a:pt x="8448674" y="71822"/>
                  </a:lnTo>
                  <a:lnTo>
                    <a:pt x="8448366" y="68693"/>
                  </a:lnTo>
                  <a:lnTo>
                    <a:pt x="8448247" y="67486"/>
                  </a:lnTo>
                  <a:lnTo>
                    <a:pt x="8432241" y="32149"/>
                  </a:lnTo>
                  <a:lnTo>
                    <a:pt x="8399300" y="11660"/>
                  </a:lnTo>
                  <a:lnTo>
                    <a:pt x="8386377" y="9525"/>
                  </a:lnTo>
                  <a:lnTo>
                    <a:pt x="8418820" y="9525"/>
                  </a:lnTo>
                  <a:lnTo>
                    <a:pt x="8449190" y="40242"/>
                  </a:lnTo>
                  <a:lnTo>
                    <a:pt x="8458199" y="76199"/>
                  </a:lnTo>
                  <a:lnTo>
                    <a:pt x="8458199" y="742949"/>
                  </a:lnTo>
                  <a:lnTo>
                    <a:pt x="8445368" y="785291"/>
                  </a:lnTo>
                  <a:lnTo>
                    <a:pt x="8424467" y="806225"/>
                  </a:lnTo>
                  <a:lnTo>
                    <a:pt x="8418817" y="809625"/>
                  </a:lnTo>
                  <a:close/>
                </a:path>
              </a:pathLst>
            </a:custGeom>
            <a:solidFill>
              <a:srgbClr val="FA913C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603250" y="6253162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22250" h="200025">
                  <a:moveTo>
                    <a:pt x="155575" y="200025"/>
                  </a:moveTo>
                  <a:lnTo>
                    <a:pt x="155575" y="177800"/>
                  </a:lnTo>
                  <a:lnTo>
                    <a:pt x="155574" y="171905"/>
                  </a:lnTo>
                  <a:lnTo>
                    <a:pt x="133581" y="138989"/>
                  </a:lnTo>
                  <a:lnTo>
                    <a:pt x="117019" y="133350"/>
                  </a:lnTo>
                  <a:lnTo>
                    <a:pt x="111125" y="133350"/>
                  </a:lnTo>
                  <a:lnTo>
                    <a:pt x="44450" y="133350"/>
                  </a:lnTo>
                  <a:lnTo>
                    <a:pt x="38555" y="133350"/>
                  </a:lnTo>
                  <a:lnTo>
                    <a:pt x="32885" y="134477"/>
                  </a:lnTo>
                  <a:lnTo>
                    <a:pt x="27439" y="136733"/>
                  </a:lnTo>
                  <a:lnTo>
                    <a:pt x="21993" y="138989"/>
                  </a:lnTo>
                  <a:lnTo>
                    <a:pt x="17187" y="142201"/>
                  </a:lnTo>
                  <a:lnTo>
                    <a:pt x="13019" y="146369"/>
                  </a:lnTo>
                  <a:lnTo>
                    <a:pt x="8851" y="150537"/>
                  </a:lnTo>
                  <a:lnTo>
                    <a:pt x="5639" y="155343"/>
                  </a:lnTo>
                  <a:lnTo>
                    <a:pt x="3383" y="160789"/>
                  </a:lnTo>
                  <a:lnTo>
                    <a:pt x="1127" y="166235"/>
                  </a:lnTo>
                  <a:lnTo>
                    <a:pt x="0" y="171905"/>
                  </a:lnTo>
                  <a:lnTo>
                    <a:pt x="0" y="177800"/>
                  </a:lnTo>
                  <a:lnTo>
                    <a:pt x="0" y="200025"/>
                  </a:lnTo>
                </a:path>
                <a:path w="222250" h="200025">
                  <a:moveTo>
                    <a:pt x="122237" y="44450"/>
                  </a:moveTo>
                  <a:lnTo>
                    <a:pt x="105050" y="80048"/>
                  </a:lnTo>
                  <a:lnTo>
                    <a:pt x="77787" y="88900"/>
                  </a:lnTo>
                  <a:lnTo>
                    <a:pt x="71893" y="88899"/>
                  </a:lnTo>
                  <a:lnTo>
                    <a:pt x="38976" y="66906"/>
                  </a:lnTo>
                  <a:lnTo>
                    <a:pt x="33337" y="50344"/>
                  </a:lnTo>
                  <a:lnTo>
                    <a:pt x="33337" y="44450"/>
                  </a:lnTo>
                  <a:lnTo>
                    <a:pt x="33337" y="38555"/>
                  </a:lnTo>
                  <a:lnTo>
                    <a:pt x="46356" y="13019"/>
                  </a:lnTo>
                  <a:lnTo>
                    <a:pt x="50524" y="8851"/>
                  </a:lnTo>
                  <a:lnTo>
                    <a:pt x="55331" y="5639"/>
                  </a:lnTo>
                  <a:lnTo>
                    <a:pt x="60777" y="3383"/>
                  </a:lnTo>
                  <a:lnTo>
                    <a:pt x="66222" y="1127"/>
                  </a:lnTo>
                  <a:lnTo>
                    <a:pt x="71893" y="0"/>
                  </a:lnTo>
                  <a:lnTo>
                    <a:pt x="77787" y="0"/>
                  </a:lnTo>
                  <a:lnTo>
                    <a:pt x="83681" y="0"/>
                  </a:lnTo>
                  <a:lnTo>
                    <a:pt x="116598" y="21993"/>
                  </a:lnTo>
                  <a:lnTo>
                    <a:pt x="122237" y="38555"/>
                  </a:lnTo>
                  <a:lnTo>
                    <a:pt x="122237" y="44450"/>
                  </a:lnTo>
                  <a:close/>
                </a:path>
                <a:path w="222250" h="200025">
                  <a:moveTo>
                    <a:pt x="222250" y="200025"/>
                  </a:moveTo>
                  <a:lnTo>
                    <a:pt x="222250" y="177800"/>
                  </a:lnTo>
                  <a:lnTo>
                    <a:pt x="222246" y="172875"/>
                  </a:lnTo>
                  <a:lnTo>
                    <a:pt x="221446" y="168084"/>
                  </a:lnTo>
                  <a:lnTo>
                    <a:pt x="219850" y="163425"/>
                  </a:lnTo>
                  <a:lnTo>
                    <a:pt x="218254" y="158767"/>
                  </a:lnTo>
                  <a:lnTo>
                    <a:pt x="193680" y="136025"/>
                  </a:lnTo>
                  <a:lnTo>
                    <a:pt x="188912" y="134794"/>
                  </a:lnTo>
                </a:path>
                <a:path w="222250" h="200025">
                  <a:moveTo>
                    <a:pt x="155575" y="1444"/>
                  </a:moveTo>
                  <a:lnTo>
                    <a:pt x="160355" y="2668"/>
                  </a:lnTo>
                  <a:lnTo>
                    <a:pt x="164808" y="4634"/>
                  </a:lnTo>
                  <a:lnTo>
                    <a:pt x="168934" y="7341"/>
                  </a:lnTo>
                  <a:lnTo>
                    <a:pt x="173060" y="10048"/>
                  </a:lnTo>
                  <a:lnTo>
                    <a:pt x="176636" y="13351"/>
                  </a:lnTo>
                  <a:lnTo>
                    <a:pt x="179662" y="17250"/>
                  </a:lnTo>
                  <a:lnTo>
                    <a:pt x="182688" y="21148"/>
                  </a:lnTo>
                  <a:lnTo>
                    <a:pt x="188999" y="44505"/>
                  </a:lnTo>
                  <a:lnTo>
                    <a:pt x="188999" y="49440"/>
                  </a:lnTo>
                  <a:lnTo>
                    <a:pt x="179662" y="71761"/>
                  </a:lnTo>
                  <a:lnTo>
                    <a:pt x="176636" y="75659"/>
                  </a:lnTo>
                  <a:lnTo>
                    <a:pt x="173060" y="78962"/>
                  </a:lnTo>
                  <a:lnTo>
                    <a:pt x="168934" y="81669"/>
                  </a:lnTo>
                  <a:lnTo>
                    <a:pt x="164808" y="84376"/>
                  </a:lnTo>
                  <a:lnTo>
                    <a:pt x="160355" y="86342"/>
                  </a:lnTo>
                  <a:lnTo>
                    <a:pt x="155575" y="87566"/>
                  </a:lnTo>
                </a:path>
              </a:pathLst>
            </a:custGeom>
            <a:ln w="22225">
              <a:solidFill>
                <a:srgbClr val="FA913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49325" y="6025804"/>
            <a:ext cx="975360" cy="603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Exporter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650" spc="135" dirty="0">
                <a:solidFill>
                  <a:srgbClr val="F77070"/>
                </a:solidFill>
                <a:latin typeface="Times New Roman"/>
                <a:cs typeface="Times New Roman"/>
              </a:rPr>
              <a:t>-</a:t>
            </a:r>
            <a:r>
              <a:rPr sz="1700" spc="-25" dirty="0">
                <a:solidFill>
                  <a:srgbClr val="F77070"/>
                </a:solidFill>
                <a:latin typeface="Times New Roman"/>
                <a:cs typeface="Times New Roman"/>
              </a:rPr>
              <a:t>₹</a:t>
            </a:r>
            <a:r>
              <a:rPr sz="1650" spc="-25" dirty="0">
                <a:solidFill>
                  <a:srgbClr val="F77070"/>
                </a:solidFill>
                <a:latin typeface="Times New Roman"/>
                <a:cs typeface="Times New Roman"/>
              </a:rPr>
              <a:t>70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30737" y="6878637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2" y="0"/>
                </a:moveTo>
                <a:lnTo>
                  <a:pt x="55562" y="111125"/>
                </a:lnTo>
              </a:path>
              <a:path w="111125" h="111125">
                <a:moveTo>
                  <a:pt x="111125" y="55562"/>
                </a:moveTo>
                <a:lnTo>
                  <a:pt x="55562" y="111125"/>
                </a:lnTo>
                <a:lnTo>
                  <a:pt x="0" y="55562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7200" y="7105650"/>
            <a:ext cx="8458200" cy="819150"/>
            <a:chOff x="457200" y="7105650"/>
            <a:chExt cx="8458200" cy="819150"/>
          </a:xfrm>
        </p:grpSpPr>
        <p:sp>
          <p:nvSpPr>
            <p:cNvPr id="25" name="object 25"/>
            <p:cNvSpPr/>
            <p:nvPr/>
          </p:nvSpPr>
          <p:spPr>
            <a:xfrm>
              <a:off x="457200" y="7105650"/>
              <a:ext cx="8458200" cy="819150"/>
            </a:xfrm>
            <a:custGeom>
              <a:avLst/>
              <a:gdLst/>
              <a:ahLst/>
              <a:cxnLst/>
              <a:rect l="l" t="t" r="r" b="b"/>
              <a:pathLst>
                <a:path w="8458200" h="819150">
                  <a:moveTo>
                    <a:pt x="8382000" y="819150"/>
                  </a:moveTo>
                  <a:lnTo>
                    <a:pt x="76200" y="819150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5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200" y="0"/>
                  </a:lnTo>
                  <a:lnTo>
                    <a:pt x="8382000" y="0"/>
                  </a:lnTo>
                  <a:lnTo>
                    <a:pt x="8424340" y="12829"/>
                  </a:lnTo>
                  <a:lnTo>
                    <a:pt x="8452398" y="47039"/>
                  </a:lnTo>
                  <a:lnTo>
                    <a:pt x="8458200" y="76200"/>
                  </a:lnTo>
                  <a:lnTo>
                    <a:pt x="8458200" y="742950"/>
                  </a:lnTo>
                  <a:lnTo>
                    <a:pt x="8445368" y="785291"/>
                  </a:lnTo>
                  <a:lnTo>
                    <a:pt x="8411159" y="813349"/>
                  </a:lnTo>
                  <a:lnTo>
                    <a:pt x="8382000" y="8191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" y="7105650"/>
              <a:ext cx="8458200" cy="819150"/>
            </a:xfrm>
            <a:custGeom>
              <a:avLst/>
              <a:gdLst/>
              <a:ahLst/>
              <a:cxnLst/>
              <a:rect l="l" t="t" r="r" b="b"/>
              <a:pathLst>
                <a:path w="8458200" h="819150">
                  <a:moveTo>
                    <a:pt x="8381999" y="819149"/>
                  </a:moveTo>
                  <a:lnTo>
                    <a:pt x="76199" y="819149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5"/>
                  </a:lnTo>
                  <a:lnTo>
                    <a:pt x="0" y="7429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8381999" y="0"/>
                  </a:lnTo>
                  <a:lnTo>
                    <a:pt x="84188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747328"/>
                  </a:lnTo>
                  <a:lnTo>
                    <a:pt x="23194" y="783632"/>
                  </a:lnTo>
                  <a:lnTo>
                    <a:pt x="54729" y="806225"/>
                  </a:lnTo>
                  <a:lnTo>
                    <a:pt x="71822" y="809625"/>
                  </a:lnTo>
                  <a:lnTo>
                    <a:pt x="8418817" y="809625"/>
                  </a:lnTo>
                  <a:lnTo>
                    <a:pt x="8417955" y="810141"/>
                  </a:lnTo>
                  <a:lnTo>
                    <a:pt x="8411159" y="813349"/>
                  </a:lnTo>
                  <a:lnTo>
                    <a:pt x="8404085" y="815886"/>
                  </a:lnTo>
                  <a:lnTo>
                    <a:pt x="8396867" y="817699"/>
                  </a:lnTo>
                  <a:lnTo>
                    <a:pt x="8389505" y="818787"/>
                  </a:lnTo>
                  <a:lnTo>
                    <a:pt x="8381999" y="819149"/>
                  </a:lnTo>
                  <a:close/>
                </a:path>
                <a:path w="8458200" h="819150">
                  <a:moveTo>
                    <a:pt x="8418817" y="809625"/>
                  </a:moveTo>
                  <a:lnTo>
                    <a:pt x="8386377" y="809625"/>
                  </a:lnTo>
                  <a:lnTo>
                    <a:pt x="8390713" y="809198"/>
                  </a:lnTo>
                  <a:lnTo>
                    <a:pt x="8399300" y="807489"/>
                  </a:lnTo>
                  <a:lnTo>
                    <a:pt x="8432241" y="787000"/>
                  </a:lnTo>
                  <a:lnTo>
                    <a:pt x="8448247" y="751663"/>
                  </a:lnTo>
                  <a:lnTo>
                    <a:pt x="8448674" y="747328"/>
                  </a:lnTo>
                  <a:lnTo>
                    <a:pt x="8448674" y="71822"/>
                  </a:lnTo>
                  <a:lnTo>
                    <a:pt x="8435005" y="35517"/>
                  </a:lnTo>
                  <a:lnTo>
                    <a:pt x="8403154" y="12829"/>
                  </a:lnTo>
                  <a:lnTo>
                    <a:pt x="8386377" y="9525"/>
                  </a:lnTo>
                  <a:lnTo>
                    <a:pt x="8418820" y="9525"/>
                  </a:lnTo>
                  <a:lnTo>
                    <a:pt x="8449190" y="40242"/>
                  </a:lnTo>
                  <a:lnTo>
                    <a:pt x="8458199" y="76199"/>
                  </a:lnTo>
                  <a:lnTo>
                    <a:pt x="8458199" y="742949"/>
                  </a:lnTo>
                  <a:lnTo>
                    <a:pt x="8445368" y="785291"/>
                  </a:lnTo>
                  <a:lnTo>
                    <a:pt x="8424467" y="806225"/>
                  </a:lnTo>
                  <a:lnTo>
                    <a:pt x="8418817" y="809625"/>
                  </a:lnTo>
                  <a:close/>
                </a:path>
              </a:pathLst>
            </a:custGeom>
            <a:solidFill>
              <a:srgbClr val="60A5FA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137" y="7392982"/>
              <a:ext cx="244475" cy="24447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949325" y="7187854"/>
            <a:ext cx="1629410" cy="603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2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Retailer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00" spc="-20" dirty="0">
                <a:solidFill>
                  <a:srgbClr val="60A5FA"/>
                </a:solidFill>
                <a:latin typeface="Times New Roman"/>
                <a:cs typeface="Times New Roman"/>
              </a:rPr>
              <a:t>₹</a:t>
            </a:r>
            <a:r>
              <a:rPr sz="1650" spc="-20" dirty="0">
                <a:solidFill>
                  <a:srgbClr val="60A5FA"/>
                </a:solidFill>
                <a:latin typeface="Times New Roman"/>
                <a:cs typeface="Times New Roman"/>
              </a:rPr>
              <a:t>800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57200" y="8077200"/>
            <a:ext cx="8458200" cy="533400"/>
          </a:xfrm>
          <a:custGeom>
            <a:avLst/>
            <a:gdLst/>
            <a:ahLst/>
            <a:cxnLst/>
            <a:rect l="l" t="t" r="r" b="b"/>
            <a:pathLst>
              <a:path w="8458200" h="533400">
                <a:moveTo>
                  <a:pt x="8387002" y="533400"/>
                </a:moveTo>
                <a:lnTo>
                  <a:pt x="71196" y="533400"/>
                </a:lnTo>
                <a:lnTo>
                  <a:pt x="66241" y="532911"/>
                </a:lnTo>
                <a:lnTo>
                  <a:pt x="29705" y="517777"/>
                </a:lnTo>
                <a:lnTo>
                  <a:pt x="3885" y="481737"/>
                </a:lnTo>
                <a:lnTo>
                  <a:pt x="0" y="462202"/>
                </a:lnTo>
                <a:lnTo>
                  <a:pt x="0" y="457200"/>
                </a:lnTo>
                <a:lnTo>
                  <a:pt x="0" y="71196"/>
                </a:lnTo>
                <a:lnTo>
                  <a:pt x="15621" y="29703"/>
                </a:lnTo>
                <a:lnTo>
                  <a:pt x="51661" y="3884"/>
                </a:lnTo>
                <a:lnTo>
                  <a:pt x="71196" y="0"/>
                </a:lnTo>
                <a:lnTo>
                  <a:pt x="8387002" y="0"/>
                </a:lnTo>
                <a:lnTo>
                  <a:pt x="8428493" y="15620"/>
                </a:lnTo>
                <a:lnTo>
                  <a:pt x="8454312" y="51660"/>
                </a:lnTo>
                <a:lnTo>
                  <a:pt x="8458199" y="71196"/>
                </a:lnTo>
                <a:lnTo>
                  <a:pt x="8458199" y="462202"/>
                </a:lnTo>
                <a:lnTo>
                  <a:pt x="8442577" y="503694"/>
                </a:lnTo>
                <a:lnTo>
                  <a:pt x="8406537" y="529513"/>
                </a:lnTo>
                <a:lnTo>
                  <a:pt x="8391957" y="532911"/>
                </a:lnTo>
                <a:lnTo>
                  <a:pt x="8387002" y="533400"/>
                </a:lnTo>
                <a:close/>
              </a:path>
            </a:pathLst>
          </a:custGeom>
          <a:solidFill>
            <a:srgbClr val="DB2525">
              <a:alpha val="39999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81311" y="8148469"/>
            <a:ext cx="521017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Artisan</a:t>
            </a:r>
            <a:r>
              <a:rPr sz="2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receives</a:t>
            </a:r>
            <a:r>
              <a:rPr sz="2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only</a:t>
            </a:r>
            <a:r>
              <a:rPr sz="2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12.5%</a:t>
            </a:r>
            <a:r>
              <a:rPr sz="195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final</a:t>
            </a:r>
            <a:r>
              <a:rPr sz="2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retail</a:t>
            </a:r>
            <a:r>
              <a:rPr sz="2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price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372600" y="2133600"/>
            <a:ext cx="8458200" cy="609600"/>
            <a:chOff x="9372600" y="2133600"/>
            <a:chExt cx="8458200" cy="609600"/>
          </a:xfrm>
        </p:grpSpPr>
        <p:sp>
          <p:nvSpPr>
            <p:cNvPr id="32" name="object 32"/>
            <p:cNvSpPr/>
            <p:nvPr/>
          </p:nvSpPr>
          <p:spPr>
            <a:xfrm>
              <a:off x="9372600" y="2133600"/>
              <a:ext cx="8458200" cy="609600"/>
            </a:xfrm>
            <a:custGeom>
              <a:avLst/>
              <a:gdLst/>
              <a:ahLst/>
              <a:cxnLst/>
              <a:rect l="l" t="t" r="r" b="b"/>
              <a:pathLst>
                <a:path w="8458200" h="609600">
                  <a:moveTo>
                    <a:pt x="8351405" y="609599"/>
                  </a:moveTo>
                  <a:lnTo>
                    <a:pt x="106795" y="609599"/>
                  </a:lnTo>
                  <a:lnTo>
                    <a:pt x="99362" y="608867"/>
                  </a:lnTo>
                  <a:lnTo>
                    <a:pt x="57037" y="594506"/>
                  </a:lnTo>
                  <a:lnTo>
                    <a:pt x="23431" y="565041"/>
                  </a:lnTo>
                  <a:lnTo>
                    <a:pt x="3659" y="524959"/>
                  </a:lnTo>
                  <a:lnTo>
                    <a:pt x="0" y="502805"/>
                  </a:lnTo>
                  <a:lnTo>
                    <a:pt x="0" y="495300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8351405" y="0"/>
                  </a:lnTo>
                  <a:lnTo>
                    <a:pt x="8394571" y="11572"/>
                  </a:lnTo>
                  <a:lnTo>
                    <a:pt x="8430027" y="38784"/>
                  </a:lnTo>
                  <a:lnTo>
                    <a:pt x="8452369" y="77492"/>
                  </a:lnTo>
                  <a:lnTo>
                    <a:pt x="8458199" y="106794"/>
                  </a:lnTo>
                  <a:lnTo>
                    <a:pt x="8458199" y="502805"/>
                  </a:lnTo>
                  <a:lnTo>
                    <a:pt x="8446625" y="545973"/>
                  </a:lnTo>
                  <a:lnTo>
                    <a:pt x="8419413" y="581429"/>
                  </a:lnTo>
                  <a:lnTo>
                    <a:pt x="8380704" y="603771"/>
                  </a:lnTo>
                  <a:lnTo>
                    <a:pt x="8358836" y="608867"/>
                  </a:lnTo>
                  <a:lnTo>
                    <a:pt x="8351405" y="609599"/>
                  </a:lnTo>
                  <a:close/>
                </a:path>
              </a:pathLst>
            </a:custGeom>
            <a:solidFill>
              <a:srgbClr val="16A24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1896679" y="2295376"/>
              <a:ext cx="286385" cy="286385"/>
            </a:xfrm>
            <a:custGeom>
              <a:avLst/>
              <a:gdLst/>
              <a:ahLst/>
              <a:cxnLst/>
              <a:rect l="l" t="t" r="r" b="b"/>
              <a:pathLst>
                <a:path w="286384" h="286385">
                  <a:moveTo>
                    <a:pt x="282953" y="114448"/>
                  </a:moveTo>
                  <a:lnTo>
                    <a:pt x="284031" y="119739"/>
                  </a:lnTo>
                  <a:lnTo>
                    <a:pt x="284807" y="125075"/>
                  </a:lnTo>
                  <a:lnTo>
                    <a:pt x="285280" y="130454"/>
                  </a:lnTo>
                  <a:lnTo>
                    <a:pt x="285753" y="135833"/>
                  </a:lnTo>
                  <a:lnTo>
                    <a:pt x="285921" y="141222"/>
                  </a:lnTo>
                  <a:lnTo>
                    <a:pt x="285783" y="146620"/>
                  </a:lnTo>
                  <a:lnTo>
                    <a:pt x="285645" y="152018"/>
                  </a:lnTo>
                  <a:lnTo>
                    <a:pt x="285203" y="157392"/>
                  </a:lnTo>
                  <a:lnTo>
                    <a:pt x="284456" y="162740"/>
                  </a:lnTo>
                  <a:lnTo>
                    <a:pt x="283709" y="168088"/>
                  </a:lnTo>
                  <a:lnTo>
                    <a:pt x="282662" y="173377"/>
                  </a:lnTo>
                  <a:lnTo>
                    <a:pt x="281315" y="178606"/>
                  </a:lnTo>
                  <a:lnTo>
                    <a:pt x="279968" y="183835"/>
                  </a:lnTo>
                  <a:lnTo>
                    <a:pt x="261528" y="222683"/>
                  </a:lnTo>
                  <a:lnTo>
                    <a:pt x="258516" y="227165"/>
                  </a:lnTo>
                  <a:lnTo>
                    <a:pt x="228182" y="257646"/>
                  </a:lnTo>
                  <a:lnTo>
                    <a:pt x="223848" y="260867"/>
                  </a:lnTo>
                  <a:lnTo>
                    <a:pt x="200250" y="273858"/>
                  </a:lnTo>
                  <a:lnTo>
                    <a:pt x="195303" y="276024"/>
                  </a:lnTo>
                  <a:lnTo>
                    <a:pt x="190250" y="277903"/>
                  </a:lnTo>
                  <a:lnTo>
                    <a:pt x="185090" y="279495"/>
                  </a:lnTo>
                  <a:lnTo>
                    <a:pt x="179930" y="281088"/>
                  </a:lnTo>
                  <a:lnTo>
                    <a:pt x="153351" y="285471"/>
                  </a:lnTo>
                  <a:lnTo>
                    <a:pt x="147965" y="285864"/>
                  </a:lnTo>
                  <a:lnTo>
                    <a:pt x="142575" y="285951"/>
                  </a:lnTo>
                  <a:lnTo>
                    <a:pt x="137179" y="285733"/>
                  </a:lnTo>
                  <a:lnTo>
                    <a:pt x="131783" y="285515"/>
                  </a:lnTo>
                  <a:lnTo>
                    <a:pt x="89929" y="275645"/>
                  </a:lnTo>
                  <a:lnTo>
                    <a:pt x="84914" y="273641"/>
                  </a:lnTo>
                  <a:lnTo>
                    <a:pt x="61486" y="260346"/>
                  </a:lnTo>
                  <a:lnTo>
                    <a:pt x="57050" y="257267"/>
                  </a:lnTo>
                  <a:lnTo>
                    <a:pt x="52802" y="253947"/>
                  </a:lnTo>
                  <a:lnTo>
                    <a:pt x="48742" y="250386"/>
                  </a:lnTo>
                  <a:lnTo>
                    <a:pt x="44682" y="246826"/>
                  </a:lnTo>
                  <a:lnTo>
                    <a:pt x="40837" y="243047"/>
                  </a:lnTo>
                  <a:lnTo>
                    <a:pt x="37206" y="239050"/>
                  </a:lnTo>
                  <a:lnTo>
                    <a:pt x="33575" y="235053"/>
                  </a:lnTo>
                  <a:lnTo>
                    <a:pt x="30181" y="230864"/>
                  </a:lnTo>
                  <a:lnTo>
                    <a:pt x="27025" y="226482"/>
                  </a:lnTo>
                  <a:lnTo>
                    <a:pt x="23868" y="222101"/>
                  </a:lnTo>
                  <a:lnTo>
                    <a:pt x="20970" y="217555"/>
                  </a:lnTo>
                  <a:lnTo>
                    <a:pt x="18329" y="212844"/>
                  </a:lnTo>
                  <a:lnTo>
                    <a:pt x="15688" y="208134"/>
                  </a:lnTo>
                  <a:lnTo>
                    <a:pt x="13322" y="203290"/>
                  </a:lnTo>
                  <a:lnTo>
                    <a:pt x="11231" y="198311"/>
                  </a:lnTo>
                  <a:lnTo>
                    <a:pt x="9139" y="193333"/>
                  </a:lnTo>
                  <a:lnTo>
                    <a:pt x="7336" y="188252"/>
                  </a:lnTo>
                  <a:lnTo>
                    <a:pt x="5821" y="183069"/>
                  </a:lnTo>
                  <a:lnTo>
                    <a:pt x="4305" y="177886"/>
                  </a:lnTo>
                  <a:lnTo>
                    <a:pt x="3087" y="172634"/>
                  </a:lnTo>
                  <a:lnTo>
                    <a:pt x="2168" y="167313"/>
                  </a:lnTo>
                  <a:lnTo>
                    <a:pt x="1248" y="161992"/>
                  </a:lnTo>
                  <a:lnTo>
                    <a:pt x="632" y="156635"/>
                  </a:lnTo>
                  <a:lnTo>
                    <a:pt x="319" y="151245"/>
                  </a:lnTo>
                  <a:lnTo>
                    <a:pt x="6" y="145854"/>
                  </a:lnTo>
                  <a:lnTo>
                    <a:pt x="0" y="140462"/>
                  </a:lnTo>
                  <a:lnTo>
                    <a:pt x="298" y="135070"/>
                  </a:lnTo>
                  <a:lnTo>
                    <a:pt x="597" y="129679"/>
                  </a:lnTo>
                  <a:lnTo>
                    <a:pt x="1199" y="124321"/>
                  </a:lnTo>
                  <a:lnTo>
                    <a:pt x="2106" y="118998"/>
                  </a:lnTo>
                  <a:lnTo>
                    <a:pt x="3012" y="113674"/>
                  </a:lnTo>
                  <a:lnTo>
                    <a:pt x="11089" y="87976"/>
                  </a:lnTo>
                  <a:lnTo>
                    <a:pt x="13168" y="82992"/>
                  </a:lnTo>
                  <a:lnTo>
                    <a:pt x="36960" y="47171"/>
                  </a:lnTo>
                  <a:lnTo>
                    <a:pt x="48467" y="35805"/>
                  </a:lnTo>
                  <a:lnTo>
                    <a:pt x="52518" y="32233"/>
                  </a:lnTo>
                  <a:lnTo>
                    <a:pt x="74951" y="17321"/>
                  </a:lnTo>
                  <a:lnTo>
                    <a:pt x="79700" y="14751"/>
                  </a:lnTo>
                  <a:lnTo>
                    <a:pt x="104910" y="5258"/>
                  </a:lnTo>
                  <a:lnTo>
                    <a:pt x="110115" y="3820"/>
                  </a:lnTo>
                  <a:lnTo>
                    <a:pt x="142208" y="0"/>
                  </a:lnTo>
                  <a:lnTo>
                    <a:pt x="147599" y="73"/>
                  </a:lnTo>
                  <a:lnTo>
                    <a:pt x="152986" y="452"/>
                  </a:lnTo>
                  <a:lnTo>
                    <a:pt x="158372" y="831"/>
                  </a:lnTo>
                  <a:lnTo>
                    <a:pt x="163720" y="1514"/>
                  </a:lnTo>
                  <a:lnTo>
                    <a:pt x="169030" y="2499"/>
                  </a:lnTo>
                  <a:lnTo>
                    <a:pt x="174339" y="3485"/>
                  </a:lnTo>
                  <a:lnTo>
                    <a:pt x="179576" y="4767"/>
                  </a:lnTo>
                  <a:lnTo>
                    <a:pt x="184739" y="6346"/>
                  </a:lnTo>
                  <a:lnTo>
                    <a:pt x="189903" y="7926"/>
                  </a:lnTo>
                  <a:lnTo>
                    <a:pt x="194962" y="9792"/>
                  </a:lnTo>
                  <a:lnTo>
                    <a:pt x="199914" y="11944"/>
                  </a:lnTo>
                  <a:lnTo>
                    <a:pt x="204866" y="14097"/>
                  </a:lnTo>
                  <a:lnTo>
                    <a:pt x="209681" y="16523"/>
                  </a:lnTo>
                  <a:lnTo>
                    <a:pt x="214358" y="19222"/>
                  </a:lnTo>
                </a:path>
                <a:path w="286384" h="286385">
                  <a:moveTo>
                    <a:pt x="100058" y="128735"/>
                  </a:moveTo>
                  <a:lnTo>
                    <a:pt x="142921" y="171598"/>
                  </a:lnTo>
                  <a:lnTo>
                    <a:pt x="285796" y="28723"/>
                  </a:lnTo>
                </a:path>
              </a:pathLst>
            </a:custGeom>
            <a:ln w="28575">
              <a:solidFill>
                <a:srgbClr val="12870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985889" y="1066009"/>
            <a:ext cx="12359640" cy="158686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R="48260" algn="r">
              <a:lnSpc>
                <a:spcPct val="100000"/>
              </a:lnSpc>
              <a:spcBef>
                <a:spcPts val="580"/>
              </a:spcBef>
            </a:pPr>
            <a:r>
              <a:rPr sz="3050" b="1" spc="-160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3100" b="1" spc="-16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3050" b="1" spc="-185" dirty="0">
                <a:solidFill>
                  <a:srgbClr val="FFFFFF"/>
                </a:solidFill>
                <a:latin typeface="Times New Roman"/>
                <a:cs typeface="Times New Roman"/>
              </a:rPr>
              <a:t>Powered</a:t>
            </a:r>
            <a:r>
              <a:rPr sz="3050" b="1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120" dirty="0">
                <a:solidFill>
                  <a:srgbClr val="FFFFFF"/>
                </a:solidFill>
                <a:latin typeface="Times New Roman"/>
                <a:cs typeface="Times New Roman"/>
              </a:rPr>
              <a:t>Marketplace</a:t>
            </a:r>
            <a:r>
              <a:rPr sz="3050" b="1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160" dirty="0">
                <a:solidFill>
                  <a:srgbClr val="FFFFFF"/>
                </a:solidFill>
                <a:latin typeface="Times New Roman"/>
                <a:cs typeface="Times New Roman"/>
              </a:rPr>
              <a:t>Connecting</a:t>
            </a:r>
            <a:r>
              <a:rPr sz="3050" b="1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145" dirty="0">
                <a:solidFill>
                  <a:srgbClr val="FFFFFF"/>
                </a:solidFill>
                <a:latin typeface="Times New Roman"/>
                <a:cs typeface="Times New Roman"/>
              </a:rPr>
              <a:t>Artisans </a:t>
            </a:r>
            <a:r>
              <a:rPr sz="305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Directly</a:t>
            </a:r>
            <a:r>
              <a:rPr sz="3050" b="1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114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3050" b="1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19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3050" b="1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Buyers</a:t>
            </a:r>
            <a:endParaRPr sz="3050">
              <a:latin typeface="Times New Roman"/>
              <a:cs typeface="Times New Roman"/>
            </a:endParaRPr>
          </a:p>
          <a:p>
            <a:pPr marR="34925" algn="ctr">
              <a:lnSpc>
                <a:spcPct val="100000"/>
              </a:lnSpc>
              <a:spcBef>
                <a:spcPts val="305"/>
              </a:spcBef>
            </a:pPr>
            <a:r>
              <a:rPr sz="2000" spc="-55" dirty="0">
                <a:solidFill>
                  <a:srgbClr val="128708"/>
                </a:solidFill>
                <a:latin typeface="Times New Roman"/>
                <a:cs typeface="Times New Roman"/>
              </a:rPr>
              <a:t>Eliminating</a:t>
            </a:r>
            <a:r>
              <a:rPr sz="2000" spc="-65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128708"/>
                </a:solidFill>
                <a:latin typeface="Times New Roman"/>
                <a:cs typeface="Times New Roman"/>
              </a:rPr>
              <a:t>intermediaries</a:t>
            </a:r>
            <a:r>
              <a:rPr sz="1950" spc="-35" dirty="0">
                <a:solidFill>
                  <a:srgbClr val="128708"/>
                </a:solidFill>
                <a:latin typeface="Times New Roman"/>
                <a:cs typeface="Times New Roman"/>
              </a:rPr>
              <a:t>,</a:t>
            </a:r>
            <a:r>
              <a:rPr sz="1950" spc="-55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128708"/>
                </a:solidFill>
                <a:latin typeface="Times New Roman"/>
                <a:cs typeface="Times New Roman"/>
              </a:rPr>
              <a:t>maximizing</a:t>
            </a:r>
            <a:r>
              <a:rPr sz="2000" spc="-65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128708"/>
                </a:solidFill>
                <a:latin typeface="Times New Roman"/>
                <a:cs typeface="Times New Roman"/>
              </a:rPr>
              <a:t>artisan</a:t>
            </a:r>
            <a:r>
              <a:rPr sz="2000" spc="-65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128708"/>
                </a:solidFill>
                <a:latin typeface="Times New Roman"/>
                <a:cs typeface="Times New Roman"/>
              </a:rPr>
              <a:t>income</a:t>
            </a:r>
            <a:r>
              <a:rPr sz="1950" spc="-30" dirty="0">
                <a:solidFill>
                  <a:srgbClr val="128708"/>
                </a:solidFill>
                <a:latin typeface="Times New Roman"/>
                <a:cs typeface="Times New Roman"/>
              </a:rPr>
              <a:t>,</a:t>
            </a:r>
            <a:r>
              <a:rPr sz="1950" spc="-50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128708"/>
                </a:solidFill>
                <a:latin typeface="Times New Roman"/>
                <a:cs typeface="Times New Roman"/>
              </a:rPr>
              <a:t>preserving</a:t>
            </a:r>
            <a:r>
              <a:rPr sz="2000" spc="-65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128708"/>
                </a:solidFill>
                <a:latin typeface="Times New Roman"/>
                <a:cs typeface="Times New Roman"/>
              </a:rPr>
              <a:t>cultural</a:t>
            </a:r>
            <a:r>
              <a:rPr sz="2000" spc="-65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128708"/>
                </a:solidFill>
                <a:latin typeface="Times New Roman"/>
                <a:cs typeface="Times New Roman"/>
              </a:rPr>
              <a:t>heritage</a:t>
            </a:r>
            <a:endParaRPr sz="2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25"/>
              </a:spcBef>
              <a:tabLst>
                <a:tab pos="8868410" algn="l"/>
              </a:tabLst>
            </a:pPr>
            <a:r>
              <a:rPr sz="3050" b="1" spc="-155" dirty="0">
                <a:solidFill>
                  <a:srgbClr val="FFFFFF"/>
                </a:solidFill>
                <a:latin typeface="Times New Roman"/>
                <a:cs typeface="Times New Roman"/>
              </a:rPr>
              <a:t>Traditional</a:t>
            </a:r>
            <a:r>
              <a:rPr sz="305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305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050" b="1" spc="-150" dirty="0">
                <a:solidFill>
                  <a:srgbClr val="FFFFFF"/>
                </a:solidFill>
                <a:latin typeface="Times New Roman"/>
                <a:cs typeface="Times New Roman"/>
              </a:rPr>
              <a:t>Bharatcraft</a:t>
            </a:r>
            <a:r>
              <a:rPr sz="3050" b="1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endParaRPr sz="305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372599" y="3705224"/>
            <a:ext cx="8458200" cy="819150"/>
            <a:chOff x="9372599" y="3705224"/>
            <a:chExt cx="8458200" cy="819150"/>
          </a:xfrm>
        </p:grpSpPr>
        <p:sp>
          <p:nvSpPr>
            <p:cNvPr id="36" name="object 36"/>
            <p:cNvSpPr/>
            <p:nvPr/>
          </p:nvSpPr>
          <p:spPr>
            <a:xfrm>
              <a:off x="9372599" y="3705224"/>
              <a:ext cx="8458200" cy="819150"/>
            </a:xfrm>
            <a:custGeom>
              <a:avLst/>
              <a:gdLst/>
              <a:ahLst/>
              <a:cxnLst/>
              <a:rect l="l" t="t" r="r" b="b"/>
              <a:pathLst>
                <a:path w="8458200" h="819150">
                  <a:moveTo>
                    <a:pt x="8382000" y="819150"/>
                  </a:moveTo>
                  <a:lnTo>
                    <a:pt x="76200" y="819150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6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200" y="0"/>
                  </a:lnTo>
                  <a:lnTo>
                    <a:pt x="8382000" y="0"/>
                  </a:lnTo>
                  <a:lnTo>
                    <a:pt x="8424340" y="12829"/>
                  </a:lnTo>
                  <a:lnTo>
                    <a:pt x="8452396" y="47039"/>
                  </a:lnTo>
                  <a:lnTo>
                    <a:pt x="8458200" y="76200"/>
                  </a:lnTo>
                  <a:lnTo>
                    <a:pt x="8458200" y="742950"/>
                  </a:lnTo>
                  <a:lnTo>
                    <a:pt x="8445368" y="785291"/>
                  </a:lnTo>
                  <a:lnTo>
                    <a:pt x="8411156" y="813349"/>
                  </a:lnTo>
                  <a:lnTo>
                    <a:pt x="8382000" y="8191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9372599" y="3705225"/>
              <a:ext cx="8458200" cy="819150"/>
            </a:xfrm>
            <a:custGeom>
              <a:avLst/>
              <a:gdLst/>
              <a:ahLst/>
              <a:cxnLst/>
              <a:rect l="l" t="t" r="r" b="b"/>
              <a:pathLst>
                <a:path w="8458200" h="819150">
                  <a:moveTo>
                    <a:pt x="8381999" y="819149"/>
                  </a:moveTo>
                  <a:lnTo>
                    <a:pt x="76199" y="819149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6"/>
                  </a:lnTo>
                  <a:lnTo>
                    <a:pt x="0" y="7429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8381999" y="0"/>
                  </a:lnTo>
                  <a:lnTo>
                    <a:pt x="8418818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747327"/>
                  </a:lnTo>
                  <a:lnTo>
                    <a:pt x="9833" y="750456"/>
                  </a:lnTo>
                  <a:lnTo>
                    <a:pt x="9952" y="751663"/>
                  </a:lnTo>
                  <a:lnTo>
                    <a:pt x="25958" y="787000"/>
                  </a:lnTo>
                  <a:lnTo>
                    <a:pt x="58898" y="807489"/>
                  </a:lnTo>
                  <a:lnTo>
                    <a:pt x="71822" y="809624"/>
                  </a:lnTo>
                  <a:lnTo>
                    <a:pt x="8418816" y="809624"/>
                  </a:lnTo>
                  <a:lnTo>
                    <a:pt x="8417953" y="810141"/>
                  </a:lnTo>
                  <a:lnTo>
                    <a:pt x="8411156" y="813349"/>
                  </a:lnTo>
                  <a:lnTo>
                    <a:pt x="8404082" y="815887"/>
                  </a:lnTo>
                  <a:lnTo>
                    <a:pt x="8396864" y="817699"/>
                  </a:lnTo>
                  <a:lnTo>
                    <a:pt x="8389503" y="818787"/>
                  </a:lnTo>
                  <a:lnTo>
                    <a:pt x="8381999" y="819149"/>
                  </a:lnTo>
                  <a:close/>
                </a:path>
                <a:path w="8458200" h="819150">
                  <a:moveTo>
                    <a:pt x="8418816" y="809624"/>
                  </a:moveTo>
                  <a:lnTo>
                    <a:pt x="8386378" y="809624"/>
                  </a:lnTo>
                  <a:lnTo>
                    <a:pt x="8390713" y="809197"/>
                  </a:lnTo>
                  <a:lnTo>
                    <a:pt x="8399300" y="807489"/>
                  </a:lnTo>
                  <a:lnTo>
                    <a:pt x="8432241" y="787000"/>
                  </a:lnTo>
                  <a:lnTo>
                    <a:pt x="8448247" y="751663"/>
                  </a:lnTo>
                  <a:lnTo>
                    <a:pt x="8448674" y="747327"/>
                  </a:lnTo>
                  <a:lnTo>
                    <a:pt x="8448674" y="71822"/>
                  </a:lnTo>
                  <a:lnTo>
                    <a:pt x="8435005" y="35517"/>
                  </a:lnTo>
                  <a:lnTo>
                    <a:pt x="8403155" y="12829"/>
                  </a:lnTo>
                  <a:lnTo>
                    <a:pt x="8386378" y="9525"/>
                  </a:lnTo>
                  <a:lnTo>
                    <a:pt x="8418818" y="9525"/>
                  </a:lnTo>
                  <a:lnTo>
                    <a:pt x="8449188" y="40242"/>
                  </a:lnTo>
                  <a:lnTo>
                    <a:pt x="8458199" y="76199"/>
                  </a:lnTo>
                  <a:lnTo>
                    <a:pt x="8458199" y="742949"/>
                  </a:lnTo>
                  <a:lnTo>
                    <a:pt x="8445367" y="785291"/>
                  </a:lnTo>
                  <a:lnTo>
                    <a:pt x="8424466" y="806225"/>
                  </a:lnTo>
                  <a:lnTo>
                    <a:pt x="8418816" y="809624"/>
                  </a:lnTo>
                  <a:close/>
                </a:path>
              </a:pathLst>
            </a:custGeom>
            <a:solidFill>
              <a:srgbClr val="4ADE8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47224" y="4140199"/>
              <a:ext cx="203200" cy="1016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85324" y="3987799"/>
              <a:ext cx="127000" cy="12700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902825" y="3787429"/>
            <a:ext cx="824230" cy="603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Artisan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00" spc="-20" dirty="0">
                <a:solidFill>
                  <a:srgbClr val="128708"/>
                </a:solidFill>
                <a:latin typeface="Times New Roman"/>
                <a:cs typeface="Times New Roman"/>
              </a:rPr>
              <a:t>₹</a:t>
            </a:r>
            <a:r>
              <a:rPr sz="1650" spc="-20" dirty="0">
                <a:solidFill>
                  <a:srgbClr val="128708"/>
                </a:solidFill>
                <a:latin typeface="Times New Roman"/>
                <a:cs typeface="Times New Roman"/>
              </a:rPr>
              <a:t>100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41" name="object 4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095916" y="4628491"/>
            <a:ext cx="192165" cy="210866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2370990" y="4585234"/>
            <a:ext cx="2766060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70" dirty="0">
                <a:solidFill>
                  <a:srgbClr val="FF9933"/>
                </a:solidFill>
                <a:latin typeface="Times New Roman"/>
                <a:cs typeface="Times New Roman"/>
              </a:rPr>
              <a:t>Direct</a:t>
            </a:r>
            <a:r>
              <a:rPr sz="1500" b="1" spc="-5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1500" b="1" spc="-80" dirty="0">
                <a:solidFill>
                  <a:srgbClr val="FF9933"/>
                </a:solidFill>
                <a:latin typeface="Times New Roman"/>
                <a:cs typeface="Times New Roman"/>
              </a:rPr>
              <a:t>Connection</a:t>
            </a:r>
            <a:r>
              <a:rPr sz="1500" b="1" spc="-5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1500" b="1" spc="-65" dirty="0">
                <a:solidFill>
                  <a:srgbClr val="FF9933"/>
                </a:solidFill>
                <a:latin typeface="Times New Roman"/>
                <a:cs typeface="Times New Roman"/>
              </a:rPr>
              <a:t>via</a:t>
            </a:r>
            <a:r>
              <a:rPr sz="1500" b="1" spc="-5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1500" b="1" spc="-85" dirty="0">
                <a:solidFill>
                  <a:srgbClr val="FF9933"/>
                </a:solidFill>
                <a:latin typeface="Times New Roman"/>
                <a:cs typeface="Times New Roman"/>
              </a:rPr>
              <a:t>AI</a:t>
            </a:r>
            <a:r>
              <a:rPr sz="1500" b="1" spc="-5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1500" b="1" spc="-60" dirty="0">
                <a:solidFill>
                  <a:srgbClr val="FF9933"/>
                </a:solidFill>
                <a:latin typeface="Times New Roman"/>
                <a:cs typeface="Times New Roman"/>
              </a:rPr>
              <a:t>Platform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372599" y="4943474"/>
            <a:ext cx="8458200" cy="1657350"/>
            <a:chOff x="9372599" y="4943474"/>
            <a:chExt cx="8458200" cy="1657350"/>
          </a:xfrm>
        </p:grpSpPr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72599" y="4943474"/>
              <a:ext cx="8458200" cy="165735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372599" y="4943474"/>
              <a:ext cx="8458200" cy="1657350"/>
            </a:xfrm>
            <a:custGeom>
              <a:avLst/>
              <a:gdLst/>
              <a:ahLst/>
              <a:cxnLst/>
              <a:rect l="l" t="t" r="r" b="b"/>
              <a:pathLst>
                <a:path w="8458200" h="1657350">
                  <a:moveTo>
                    <a:pt x="8381999" y="1657349"/>
                  </a:moveTo>
                  <a:lnTo>
                    <a:pt x="76199" y="1657349"/>
                  </a:lnTo>
                  <a:lnTo>
                    <a:pt x="68693" y="1656987"/>
                  </a:lnTo>
                  <a:lnTo>
                    <a:pt x="27882" y="1640082"/>
                  </a:lnTo>
                  <a:lnTo>
                    <a:pt x="3262" y="1603236"/>
                  </a:lnTo>
                  <a:lnTo>
                    <a:pt x="0" y="15811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8381999" y="0"/>
                  </a:lnTo>
                  <a:lnTo>
                    <a:pt x="8418818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585528"/>
                  </a:lnTo>
                  <a:lnTo>
                    <a:pt x="23194" y="1621832"/>
                  </a:lnTo>
                  <a:lnTo>
                    <a:pt x="54729" y="1644424"/>
                  </a:lnTo>
                  <a:lnTo>
                    <a:pt x="71822" y="1647825"/>
                  </a:lnTo>
                  <a:lnTo>
                    <a:pt x="8418816" y="1647825"/>
                  </a:lnTo>
                  <a:lnTo>
                    <a:pt x="8417953" y="1648341"/>
                  </a:lnTo>
                  <a:lnTo>
                    <a:pt x="8411156" y="1651548"/>
                  </a:lnTo>
                  <a:lnTo>
                    <a:pt x="8404083" y="1654086"/>
                  </a:lnTo>
                  <a:lnTo>
                    <a:pt x="8396865" y="1655899"/>
                  </a:lnTo>
                  <a:lnTo>
                    <a:pt x="8389504" y="1656987"/>
                  </a:lnTo>
                  <a:lnTo>
                    <a:pt x="8381999" y="1657349"/>
                  </a:lnTo>
                  <a:close/>
                </a:path>
                <a:path w="8458200" h="1657350">
                  <a:moveTo>
                    <a:pt x="8418816" y="1647825"/>
                  </a:moveTo>
                  <a:lnTo>
                    <a:pt x="8386378" y="1647825"/>
                  </a:lnTo>
                  <a:lnTo>
                    <a:pt x="8390713" y="1647398"/>
                  </a:lnTo>
                  <a:lnTo>
                    <a:pt x="8399300" y="1645689"/>
                  </a:lnTo>
                  <a:lnTo>
                    <a:pt x="8432241" y="1625200"/>
                  </a:lnTo>
                  <a:lnTo>
                    <a:pt x="8448247" y="1589863"/>
                  </a:lnTo>
                  <a:lnTo>
                    <a:pt x="8448674" y="1585528"/>
                  </a:lnTo>
                  <a:lnTo>
                    <a:pt x="8448674" y="71822"/>
                  </a:lnTo>
                  <a:lnTo>
                    <a:pt x="8448366" y="68693"/>
                  </a:lnTo>
                  <a:lnTo>
                    <a:pt x="8448247" y="67486"/>
                  </a:lnTo>
                  <a:lnTo>
                    <a:pt x="8432241" y="32149"/>
                  </a:lnTo>
                  <a:lnTo>
                    <a:pt x="8399300" y="11660"/>
                  </a:lnTo>
                  <a:lnTo>
                    <a:pt x="8386378" y="9525"/>
                  </a:lnTo>
                  <a:lnTo>
                    <a:pt x="8418818" y="9525"/>
                  </a:lnTo>
                  <a:lnTo>
                    <a:pt x="8449188" y="40242"/>
                  </a:lnTo>
                  <a:lnTo>
                    <a:pt x="8458199" y="76199"/>
                  </a:lnTo>
                  <a:lnTo>
                    <a:pt x="8458199" y="1581149"/>
                  </a:lnTo>
                  <a:lnTo>
                    <a:pt x="8445367" y="1623491"/>
                  </a:lnTo>
                  <a:lnTo>
                    <a:pt x="8424466" y="1644424"/>
                  </a:lnTo>
                  <a:lnTo>
                    <a:pt x="8418816" y="1647825"/>
                  </a:lnTo>
                  <a:close/>
                </a:path>
              </a:pathLst>
            </a:custGeom>
            <a:solidFill>
              <a:srgbClr val="BF83FB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9591674" y="527684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8575" y="0"/>
                  </a:moveTo>
                  <a:lnTo>
                    <a:pt x="200025" y="0"/>
                  </a:lnTo>
                  <a:lnTo>
                    <a:pt x="203814" y="0"/>
                  </a:lnTo>
                  <a:lnTo>
                    <a:pt x="207459" y="725"/>
                  </a:lnTo>
                  <a:lnTo>
                    <a:pt x="210960" y="2175"/>
                  </a:lnTo>
                  <a:lnTo>
                    <a:pt x="214461" y="3625"/>
                  </a:lnTo>
                  <a:lnTo>
                    <a:pt x="217551" y="5689"/>
                  </a:lnTo>
                  <a:lnTo>
                    <a:pt x="228600" y="28575"/>
                  </a:lnTo>
                  <a:lnTo>
                    <a:pt x="228600" y="200025"/>
                  </a:lnTo>
                  <a:lnTo>
                    <a:pt x="200025" y="228600"/>
                  </a:lnTo>
                  <a:lnTo>
                    <a:pt x="28575" y="228600"/>
                  </a:lnTo>
                  <a:lnTo>
                    <a:pt x="2175" y="210960"/>
                  </a:lnTo>
                  <a:lnTo>
                    <a:pt x="725" y="207459"/>
                  </a:lnTo>
                  <a:lnTo>
                    <a:pt x="0" y="203814"/>
                  </a:lnTo>
                  <a:lnTo>
                    <a:pt x="0" y="200025"/>
                  </a:lnTo>
                  <a:lnTo>
                    <a:pt x="0" y="28575"/>
                  </a:lnTo>
                  <a:lnTo>
                    <a:pt x="8369" y="8369"/>
                  </a:lnTo>
                  <a:lnTo>
                    <a:pt x="11048" y="5689"/>
                  </a:lnTo>
                  <a:lnTo>
                    <a:pt x="14138" y="3625"/>
                  </a:lnTo>
                  <a:lnTo>
                    <a:pt x="17639" y="2175"/>
                  </a:lnTo>
                  <a:lnTo>
                    <a:pt x="21140" y="725"/>
                  </a:lnTo>
                  <a:lnTo>
                    <a:pt x="24785" y="0"/>
                  </a:lnTo>
                  <a:lnTo>
                    <a:pt x="28575" y="0"/>
                  </a:lnTo>
                  <a:close/>
                </a:path>
              </a:pathLst>
            </a:custGeom>
            <a:ln w="28575">
              <a:solidFill>
                <a:srgbClr val="BF83FB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48824" y="5333999"/>
              <a:ext cx="114300" cy="1143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563099" y="524827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85737" y="0"/>
                  </a:moveTo>
                  <a:lnTo>
                    <a:pt x="185737" y="28575"/>
                  </a:lnTo>
                </a:path>
                <a:path w="285750" h="285750">
                  <a:moveTo>
                    <a:pt x="185737" y="257175"/>
                  </a:moveTo>
                  <a:lnTo>
                    <a:pt x="185737" y="285750"/>
                  </a:lnTo>
                </a:path>
                <a:path w="285750" h="285750">
                  <a:moveTo>
                    <a:pt x="0" y="185737"/>
                  </a:moveTo>
                  <a:lnTo>
                    <a:pt x="28575" y="185737"/>
                  </a:lnTo>
                </a:path>
                <a:path w="285750" h="285750">
                  <a:moveTo>
                    <a:pt x="0" y="100012"/>
                  </a:moveTo>
                  <a:lnTo>
                    <a:pt x="28575" y="100012"/>
                  </a:lnTo>
                </a:path>
                <a:path w="285750" h="285750">
                  <a:moveTo>
                    <a:pt x="257175" y="185737"/>
                  </a:moveTo>
                  <a:lnTo>
                    <a:pt x="285750" y="185737"/>
                  </a:lnTo>
                </a:path>
                <a:path w="285750" h="285750">
                  <a:moveTo>
                    <a:pt x="257175" y="100012"/>
                  </a:moveTo>
                  <a:lnTo>
                    <a:pt x="285750" y="100012"/>
                  </a:lnTo>
                </a:path>
                <a:path w="285750" h="285750">
                  <a:moveTo>
                    <a:pt x="100012" y="0"/>
                  </a:moveTo>
                  <a:lnTo>
                    <a:pt x="100012" y="28575"/>
                  </a:lnTo>
                </a:path>
                <a:path w="285750" h="285750">
                  <a:moveTo>
                    <a:pt x="100012" y="257175"/>
                  </a:moveTo>
                  <a:lnTo>
                    <a:pt x="100012" y="285750"/>
                  </a:lnTo>
                </a:path>
              </a:pathLst>
            </a:custGeom>
            <a:ln w="28575">
              <a:solidFill>
                <a:srgbClr val="BF83FB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0017125" y="5027495"/>
            <a:ext cx="2251710" cy="6242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Bharatcraft</a:t>
            </a:r>
            <a:r>
              <a:rPr sz="2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Platform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450" dirty="0">
                <a:solidFill>
                  <a:srgbClr val="FDB973"/>
                </a:solidFill>
                <a:latin typeface="Times New Roman"/>
                <a:cs typeface="Times New Roman"/>
              </a:rPr>
              <a:t>7-</a:t>
            </a:r>
            <a:r>
              <a:rPr sz="1450" spc="-55" dirty="0">
                <a:solidFill>
                  <a:srgbClr val="FDB973"/>
                </a:solidFill>
                <a:latin typeface="Times New Roman"/>
                <a:cs typeface="Times New Roman"/>
              </a:rPr>
              <a:t>10%</a:t>
            </a:r>
            <a:r>
              <a:rPr sz="1450" spc="30" dirty="0">
                <a:solidFill>
                  <a:srgbClr val="FDB97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FDB973"/>
                </a:solidFill>
                <a:latin typeface="Times New Roman"/>
                <a:cs typeface="Times New Roman"/>
              </a:rPr>
              <a:t>platform</a:t>
            </a:r>
            <a:r>
              <a:rPr sz="1450" spc="30" dirty="0">
                <a:solidFill>
                  <a:srgbClr val="FDB973"/>
                </a:solidFill>
                <a:latin typeface="Times New Roman"/>
                <a:cs typeface="Times New Roman"/>
              </a:rPr>
              <a:t> </a:t>
            </a:r>
            <a:r>
              <a:rPr sz="1450" spc="-25" dirty="0">
                <a:solidFill>
                  <a:srgbClr val="FDB973"/>
                </a:solidFill>
                <a:latin typeface="Times New Roman"/>
                <a:cs typeface="Times New Roman"/>
              </a:rPr>
              <a:t>fee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9534525" y="5753100"/>
            <a:ext cx="4029075" cy="304800"/>
          </a:xfrm>
          <a:custGeom>
            <a:avLst/>
            <a:gdLst/>
            <a:ahLst/>
            <a:cxnLst/>
            <a:rect l="l" t="t" r="r" b="b"/>
            <a:pathLst>
              <a:path w="4029075" h="304800">
                <a:moveTo>
                  <a:pt x="3996026" y="304799"/>
                </a:moveTo>
                <a:lnTo>
                  <a:pt x="33048" y="304799"/>
                </a:lnTo>
                <a:lnTo>
                  <a:pt x="28187" y="303832"/>
                </a:lnTo>
                <a:lnTo>
                  <a:pt x="966" y="276611"/>
                </a:lnTo>
                <a:lnTo>
                  <a:pt x="0" y="271752"/>
                </a:lnTo>
                <a:lnTo>
                  <a:pt x="0" y="266700"/>
                </a:lnTo>
                <a:lnTo>
                  <a:pt x="0" y="33047"/>
                </a:lnTo>
                <a:lnTo>
                  <a:pt x="28186" y="966"/>
                </a:lnTo>
                <a:lnTo>
                  <a:pt x="33048" y="0"/>
                </a:lnTo>
                <a:lnTo>
                  <a:pt x="3996026" y="0"/>
                </a:lnTo>
                <a:lnTo>
                  <a:pt x="4028106" y="28187"/>
                </a:lnTo>
                <a:lnTo>
                  <a:pt x="4029074" y="33047"/>
                </a:lnTo>
                <a:lnTo>
                  <a:pt x="4029074" y="271752"/>
                </a:lnTo>
                <a:lnTo>
                  <a:pt x="4000885" y="303832"/>
                </a:lnTo>
                <a:lnTo>
                  <a:pt x="3996026" y="304799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636125" y="5780148"/>
            <a:ext cx="1214120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35"/>
              </a:spcBef>
              <a:buSzPct val="92307"/>
              <a:buFont typeface="Segoe UI Emoji"/>
              <a:buChar char="✓"/>
              <a:tabLst>
                <a:tab pos="182245" algn="l"/>
              </a:tabLst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3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Negotiation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3639798" y="5753100"/>
            <a:ext cx="4029075" cy="304800"/>
          </a:xfrm>
          <a:custGeom>
            <a:avLst/>
            <a:gdLst/>
            <a:ahLst/>
            <a:cxnLst/>
            <a:rect l="l" t="t" r="r" b="b"/>
            <a:pathLst>
              <a:path w="4029075" h="304800">
                <a:moveTo>
                  <a:pt x="3996028" y="304799"/>
                </a:moveTo>
                <a:lnTo>
                  <a:pt x="33047" y="304799"/>
                </a:lnTo>
                <a:lnTo>
                  <a:pt x="28186" y="303832"/>
                </a:lnTo>
                <a:lnTo>
                  <a:pt x="965" y="276611"/>
                </a:lnTo>
                <a:lnTo>
                  <a:pt x="0" y="271752"/>
                </a:lnTo>
                <a:lnTo>
                  <a:pt x="0" y="266700"/>
                </a:lnTo>
                <a:lnTo>
                  <a:pt x="0" y="33047"/>
                </a:lnTo>
                <a:lnTo>
                  <a:pt x="28186" y="966"/>
                </a:lnTo>
                <a:lnTo>
                  <a:pt x="33047" y="0"/>
                </a:lnTo>
                <a:lnTo>
                  <a:pt x="3996028" y="0"/>
                </a:lnTo>
                <a:lnTo>
                  <a:pt x="4028107" y="28187"/>
                </a:lnTo>
                <a:lnTo>
                  <a:pt x="4029075" y="33047"/>
                </a:lnTo>
                <a:lnTo>
                  <a:pt x="4029075" y="271752"/>
                </a:lnTo>
                <a:lnTo>
                  <a:pt x="4000886" y="303832"/>
                </a:lnTo>
                <a:lnTo>
                  <a:pt x="3996028" y="304799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741400" y="5780148"/>
            <a:ext cx="1313815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35"/>
              </a:spcBef>
              <a:buSzPct val="92307"/>
              <a:buFont typeface="Segoe UI Emoji"/>
              <a:buChar char="✓"/>
              <a:tabLst>
                <a:tab pos="182245" algn="l"/>
              </a:tabLst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13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Grading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534525" y="6134100"/>
            <a:ext cx="4029075" cy="304800"/>
          </a:xfrm>
          <a:custGeom>
            <a:avLst/>
            <a:gdLst/>
            <a:ahLst/>
            <a:cxnLst/>
            <a:rect l="l" t="t" r="r" b="b"/>
            <a:pathLst>
              <a:path w="4029075" h="304800">
                <a:moveTo>
                  <a:pt x="3996026" y="304799"/>
                </a:moveTo>
                <a:lnTo>
                  <a:pt x="33048" y="304799"/>
                </a:lnTo>
                <a:lnTo>
                  <a:pt x="28187" y="303832"/>
                </a:lnTo>
                <a:lnTo>
                  <a:pt x="966" y="276611"/>
                </a:lnTo>
                <a:lnTo>
                  <a:pt x="0" y="271751"/>
                </a:lnTo>
                <a:lnTo>
                  <a:pt x="0" y="266700"/>
                </a:lnTo>
                <a:lnTo>
                  <a:pt x="0" y="33047"/>
                </a:lnTo>
                <a:lnTo>
                  <a:pt x="28186" y="966"/>
                </a:lnTo>
                <a:lnTo>
                  <a:pt x="33048" y="0"/>
                </a:lnTo>
                <a:lnTo>
                  <a:pt x="3996026" y="0"/>
                </a:lnTo>
                <a:lnTo>
                  <a:pt x="4028106" y="28187"/>
                </a:lnTo>
                <a:lnTo>
                  <a:pt x="4029074" y="33047"/>
                </a:lnTo>
                <a:lnTo>
                  <a:pt x="4029074" y="271751"/>
                </a:lnTo>
                <a:lnTo>
                  <a:pt x="4000885" y="303832"/>
                </a:lnTo>
                <a:lnTo>
                  <a:pt x="3996026" y="304799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636125" y="6161148"/>
            <a:ext cx="1418590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35"/>
              </a:spcBef>
              <a:buSzPct val="92307"/>
              <a:buFont typeface="Segoe UI Emoji"/>
              <a:buChar char="✓"/>
              <a:tabLst>
                <a:tab pos="182245" algn="l"/>
              </a:tabLst>
            </a:pP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Logistics</a:t>
            </a:r>
            <a:r>
              <a:rPr sz="13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Pooling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3639798" y="6134100"/>
            <a:ext cx="4029075" cy="304800"/>
          </a:xfrm>
          <a:custGeom>
            <a:avLst/>
            <a:gdLst/>
            <a:ahLst/>
            <a:cxnLst/>
            <a:rect l="l" t="t" r="r" b="b"/>
            <a:pathLst>
              <a:path w="4029075" h="304800">
                <a:moveTo>
                  <a:pt x="3996028" y="304799"/>
                </a:moveTo>
                <a:lnTo>
                  <a:pt x="33047" y="304799"/>
                </a:lnTo>
                <a:lnTo>
                  <a:pt x="28186" y="303832"/>
                </a:lnTo>
                <a:lnTo>
                  <a:pt x="965" y="276611"/>
                </a:lnTo>
                <a:lnTo>
                  <a:pt x="0" y="271751"/>
                </a:lnTo>
                <a:lnTo>
                  <a:pt x="0" y="266700"/>
                </a:lnTo>
                <a:lnTo>
                  <a:pt x="0" y="33047"/>
                </a:lnTo>
                <a:lnTo>
                  <a:pt x="28186" y="966"/>
                </a:lnTo>
                <a:lnTo>
                  <a:pt x="33047" y="0"/>
                </a:lnTo>
                <a:lnTo>
                  <a:pt x="3996028" y="0"/>
                </a:lnTo>
                <a:lnTo>
                  <a:pt x="4028107" y="28187"/>
                </a:lnTo>
                <a:lnTo>
                  <a:pt x="4029075" y="33047"/>
                </a:lnTo>
                <a:lnTo>
                  <a:pt x="4029075" y="271751"/>
                </a:lnTo>
                <a:lnTo>
                  <a:pt x="4000886" y="303832"/>
                </a:lnTo>
                <a:lnTo>
                  <a:pt x="3996028" y="304799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3741400" y="6161148"/>
            <a:ext cx="1563370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35"/>
              </a:spcBef>
              <a:buSzPct val="92307"/>
              <a:buFont typeface="Segoe UI Emoji"/>
              <a:buChar char="✓"/>
              <a:tabLst>
                <a:tab pos="182245" algn="l"/>
              </a:tabLst>
            </a:pP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Export</a:t>
            </a:r>
            <a:r>
              <a:rPr sz="13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Compliance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58" name="object 5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24591" y="6704941"/>
            <a:ext cx="192165" cy="210866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13200112" y="6661684"/>
            <a:ext cx="1108075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70" dirty="0">
                <a:solidFill>
                  <a:srgbClr val="FF9933"/>
                </a:solidFill>
                <a:latin typeface="Times New Roman"/>
                <a:cs typeface="Times New Roman"/>
              </a:rPr>
              <a:t>Direct</a:t>
            </a:r>
            <a:r>
              <a:rPr sz="1500" b="1" spc="-5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1500" b="1" spc="-70" dirty="0">
                <a:solidFill>
                  <a:srgbClr val="FF9933"/>
                </a:solidFill>
                <a:latin typeface="Times New Roman"/>
                <a:cs typeface="Times New Roman"/>
              </a:rPr>
              <a:t>Export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9372599" y="7019925"/>
            <a:ext cx="8458200" cy="819150"/>
            <a:chOff x="9372599" y="7019925"/>
            <a:chExt cx="8458200" cy="819150"/>
          </a:xfrm>
        </p:grpSpPr>
        <p:sp>
          <p:nvSpPr>
            <p:cNvPr id="61" name="object 61"/>
            <p:cNvSpPr/>
            <p:nvPr/>
          </p:nvSpPr>
          <p:spPr>
            <a:xfrm>
              <a:off x="9372599" y="7019925"/>
              <a:ext cx="8458200" cy="819150"/>
            </a:xfrm>
            <a:custGeom>
              <a:avLst/>
              <a:gdLst/>
              <a:ahLst/>
              <a:cxnLst/>
              <a:rect l="l" t="t" r="r" b="b"/>
              <a:pathLst>
                <a:path w="8458200" h="819150">
                  <a:moveTo>
                    <a:pt x="8382000" y="819150"/>
                  </a:moveTo>
                  <a:lnTo>
                    <a:pt x="76200" y="819150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6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12829" y="33856"/>
                  </a:lnTo>
                  <a:lnTo>
                    <a:pt x="47038" y="5800"/>
                  </a:lnTo>
                  <a:lnTo>
                    <a:pt x="76200" y="0"/>
                  </a:lnTo>
                  <a:lnTo>
                    <a:pt x="8382000" y="0"/>
                  </a:lnTo>
                  <a:lnTo>
                    <a:pt x="8424340" y="12828"/>
                  </a:lnTo>
                  <a:lnTo>
                    <a:pt x="8452396" y="47038"/>
                  </a:lnTo>
                  <a:lnTo>
                    <a:pt x="8458200" y="76200"/>
                  </a:lnTo>
                  <a:lnTo>
                    <a:pt x="8458200" y="742950"/>
                  </a:lnTo>
                  <a:lnTo>
                    <a:pt x="8445368" y="785291"/>
                  </a:lnTo>
                  <a:lnTo>
                    <a:pt x="8411157" y="813349"/>
                  </a:lnTo>
                  <a:lnTo>
                    <a:pt x="8382000" y="8191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9372599" y="7019925"/>
              <a:ext cx="8458200" cy="819150"/>
            </a:xfrm>
            <a:custGeom>
              <a:avLst/>
              <a:gdLst/>
              <a:ahLst/>
              <a:cxnLst/>
              <a:rect l="l" t="t" r="r" b="b"/>
              <a:pathLst>
                <a:path w="8458200" h="819150">
                  <a:moveTo>
                    <a:pt x="8381999" y="819149"/>
                  </a:moveTo>
                  <a:lnTo>
                    <a:pt x="76199" y="819149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6"/>
                  </a:lnTo>
                  <a:lnTo>
                    <a:pt x="0" y="74294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8381999" y="0"/>
                  </a:lnTo>
                  <a:lnTo>
                    <a:pt x="8418819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747328"/>
                  </a:lnTo>
                  <a:lnTo>
                    <a:pt x="23194" y="783632"/>
                  </a:lnTo>
                  <a:lnTo>
                    <a:pt x="54729" y="806225"/>
                  </a:lnTo>
                  <a:lnTo>
                    <a:pt x="71822" y="809625"/>
                  </a:lnTo>
                  <a:lnTo>
                    <a:pt x="8418816" y="809625"/>
                  </a:lnTo>
                  <a:lnTo>
                    <a:pt x="8417953" y="810141"/>
                  </a:lnTo>
                  <a:lnTo>
                    <a:pt x="8411156" y="813349"/>
                  </a:lnTo>
                  <a:lnTo>
                    <a:pt x="8404083" y="815886"/>
                  </a:lnTo>
                  <a:lnTo>
                    <a:pt x="8396865" y="817699"/>
                  </a:lnTo>
                  <a:lnTo>
                    <a:pt x="8389504" y="818787"/>
                  </a:lnTo>
                  <a:lnTo>
                    <a:pt x="8381999" y="819149"/>
                  </a:lnTo>
                  <a:close/>
                </a:path>
                <a:path w="8458200" h="819150">
                  <a:moveTo>
                    <a:pt x="8418816" y="809625"/>
                  </a:moveTo>
                  <a:lnTo>
                    <a:pt x="8386378" y="809625"/>
                  </a:lnTo>
                  <a:lnTo>
                    <a:pt x="8390713" y="809198"/>
                  </a:lnTo>
                  <a:lnTo>
                    <a:pt x="8399300" y="807489"/>
                  </a:lnTo>
                  <a:lnTo>
                    <a:pt x="8432241" y="787000"/>
                  </a:lnTo>
                  <a:lnTo>
                    <a:pt x="8448247" y="751663"/>
                  </a:lnTo>
                  <a:lnTo>
                    <a:pt x="8448674" y="747328"/>
                  </a:lnTo>
                  <a:lnTo>
                    <a:pt x="8448674" y="71822"/>
                  </a:lnTo>
                  <a:lnTo>
                    <a:pt x="8435005" y="35517"/>
                  </a:lnTo>
                  <a:lnTo>
                    <a:pt x="8403151" y="12828"/>
                  </a:lnTo>
                  <a:lnTo>
                    <a:pt x="8386378" y="9525"/>
                  </a:lnTo>
                  <a:lnTo>
                    <a:pt x="8418819" y="9525"/>
                  </a:lnTo>
                  <a:lnTo>
                    <a:pt x="8449188" y="40242"/>
                  </a:lnTo>
                  <a:lnTo>
                    <a:pt x="8458199" y="76199"/>
                  </a:lnTo>
                  <a:lnTo>
                    <a:pt x="8458199" y="742949"/>
                  </a:lnTo>
                  <a:lnTo>
                    <a:pt x="8445367" y="785291"/>
                  </a:lnTo>
                  <a:lnTo>
                    <a:pt x="8424466" y="806225"/>
                  </a:lnTo>
                  <a:lnTo>
                    <a:pt x="8418816" y="809625"/>
                  </a:lnTo>
                  <a:close/>
                </a:path>
              </a:pathLst>
            </a:custGeom>
            <a:solidFill>
              <a:srgbClr val="2DD4BE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9521824" y="73025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0" y="127000"/>
                  </a:moveTo>
                  <a:lnTo>
                    <a:pt x="254000" y="135338"/>
                  </a:lnTo>
                  <a:lnTo>
                    <a:pt x="253186" y="143597"/>
                  </a:lnTo>
                  <a:lnTo>
                    <a:pt x="251559" y="151776"/>
                  </a:lnTo>
                  <a:lnTo>
                    <a:pt x="249932" y="159955"/>
                  </a:lnTo>
                  <a:lnTo>
                    <a:pt x="247523" y="167896"/>
                  </a:lnTo>
                  <a:lnTo>
                    <a:pt x="244332" y="175600"/>
                  </a:lnTo>
                  <a:lnTo>
                    <a:pt x="241141" y="183304"/>
                  </a:lnTo>
                  <a:lnTo>
                    <a:pt x="237229" y="190623"/>
                  </a:lnTo>
                  <a:lnTo>
                    <a:pt x="232596" y="197557"/>
                  </a:lnTo>
                  <a:lnTo>
                    <a:pt x="227963" y="204491"/>
                  </a:lnTo>
                  <a:lnTo>
                    <a:pt x="222699" y="210906"/>
                  </a:lnTo>
                  <a:lnTo>
                    <a:pt x="216802" y="216802"/>
                  </a:lnTo>
                  <a:lnTo>
                    <a:pt x="210906" y="222699"/>
                  </a:lnTo>
                  <a:lnTo>
                    <a:pt x="204491" y="227963"/>
                  </a:lnTo>
                  <a:lnTo>
                    <a:pt x="197557" y="232596"/>
                  </a:lnTo>
                  <a:lnTo>
                    <a:pt x="190623" y="237229"/>
                  </a:lnTo>
                  <a:lnTo>
                    <a:pt x="183304" y="241141"/>
                  </a:lnTo>
                  <a:lnTo>
                    <a:pt x="175600" y="244332"/>
                  </a:lnTo>
                  <a:lnTo>
                    <a:pt x="167896" y="247523"/>
                  </a:lnTo>
                  <a:lnTo>
                    <a:pt x="159955" y="249932"/>
                  </a:lnTo>
                  <a:lnTo>
                    <a:pt x="151776" y="251559"/>
                  </a:lnTo>
                  <a:lnTo>
                    <a:pt x="143597" y="253186"/>
                  </a:lnTo>
                  <a:lnTo>
                    <a:pt x="135338" y="254000"/>
                  </a:lnTo>
                  <a:lnTo>
                    <a:pt x="127000" y="254000"/>
                  </a:lnTo>
                  <a:lnTo>
                    <a:pt x="118661" y="254000"/>
                  </a:lnTo>
                  <a:lnTo>
                    <a:pt x="110402" y="253186"/>
                  </a:lnTo>
                  <a:lnTo>
                    <a:pt x="102223" y="251559"/>
                  </a:lnTo>
                  <a:lnTo>
                    <a:pt x="94044" y="249932"/>
                  </a:lnTo>
                  <a:lnTo>
                    <a:pt x="86103" y="247523"/>
                  </a:lnTo>
                  <a:lnTo>
                    <a:pt x="78399" y="244332"/>
                  </a:lnTo>
                  <a:lnTo>
                    <a:pt x="70695" y="241141"/>
                  </a:lnTo>
                  <a:lnTo>
                    <a:pt x="63376" y="237229"/>
                  </a:lnTo>
                  <a:lnTo>
                    <a:pt x="56442" y="232596"/>
                  </a:lnTo>
                  <a:lnTo>
                    <a:pt x="49509" y="227963"/>
                  </a:lnTo>
                  <a:lnTo>
                    <a:pt x="43093" y="222699"/>
                  </a:lnTo>
                  <a:lnTo>
                    <a:pt x="37197" y="216802"/>
                  </a:lnTo>
                  <a:lnTo>
                    <a:pt x="31300" y="210906"/>
                  </a:lnTo>
                  <a:lnTo>
                    <a:pt x="26036" y="204491"/>
                  </a:lnTo>
                  <a:lnTo>
                    <a:pt x="21403" y="197557"/>
                  </a:lnTo>
                  <a:lnTo>
                    <a:pt x="16770" y="190623"/>
                  </a:lnTo>
                  <a:lnTo>
                    <a:pt x="2440" y="151776"/>
                  </a:lnTo>
                  <a:lnTo>
                    <a:pt x="813" y="143597"/>
                  </a:lnTo>
                  <a:lnTo>
                    <a:pt x="0" y="135338"/>
                  </a:lnTo>
                  <a:lnTo>
                    <a:pt x="0" y="127000"/>
                  </a:lnTo>
                  <a:lnTo>
                    <a:pt x="0" y="118661"/>
                  </a:lnTo>
                  <a:lnTo>
                    <a:pt x="813" y="110402"/>
                  </a:lnTo>
                  <a:lnTo>
                    <a:pt x="2440" y="102223"/>
                  </a:lnTo>
                  <a:lnTo>
                    <a:pt x="4067" y="94044"/>
                  </a:lnTo>
                  <a:lnTo>
                    <a:pt x="21403" y="56442"/>
                  </a:lnTo>
                  <a:lnTo>
                    <a:pt x="26036" y="49509"/>
                  </a:lnTo>
                  <a:lnTo>
                    <a:pt x="31300" y="43093"/>
                  </a:lnTo>
                  <a:lnTo>
                    <a:pt x="37197" y="37197"/>
                  </a:lnTo>
                  <a:lnTo>
                    <a:pt x="43093" y="31300"/>
                  </a:lnTo>
                  <a:lnTo>
                    <a:pt x="78399" y="9667"/>
                  </a:lnTo>
                  <a:lnTo>
                    <a:pt x="118661" y="0"/>
                  </a:lnTo>
                  <a:lnTo>
                    <a:pt x="127000" y="0"/>
                  </a:lnTo>
                  <a:lnTo>
                    <a:pt x="135338" y="0"/>
                  </a:lnTo>
                  <a:lnTo>
                    <a:pt x="143597" y="813"/>
                  </a:lnTo>
                  <a:lnTo>
                    <a:pt x="151776" y="2440"/>
                  </a:lnTo>
                  <a:lnTo>
                    <a:pt x="159955" y="4067"/>
                  </a:lnTo>
                  <a:lnTo>
                    <a:pt x="197557" y="21403"/>
                  </a:lnTo>
                  <a:lnTo>
                    <a:pt x="204491" y="26036"/>
                  </a:lnTo>
                  <a:lnTo>
                    <a:pt x="210906" y="31300"/>
                  </a:lnTo>
                  <a:lnTo>
                    <a:pt x="216802" y="37197"/>
                  </a:lnTo>
                  <a:lnTo>
                    <a:pt x="222699" y="43093"/>
                  </a:lnTo>
                  <a:lnTo>
                    <a:pt x="227963" y="49509"/>
                  </a:lnTo>
                  <a:lnTo>
                    <a:pt x="232596" y="56442"/>
                  </a:lnTo>
                  <a:lnTo>
                    <a:pt x="237229" y="63376"/>
                  </a:lnTo>
                  <a:lnTo>
                    <a:pt x="241141" y="70695"/>
                  </a:lnTo>
                  <a:lnTo>
                    <a:pt x="244332" y="78399"/>
                  </a:lnTo>
                  <a:lnTo>
                    <a:pt x="247523" y="86103"/>
                  </a:lnTo>
                  <a:lnTo>
                    <a:pt x="249932" y="94044"/>
                  </a:lnTo>
                  <a:lnTo>
                    <a:pt x="251559" y="102223"/>
                  </a:lnTo>
                  <a:lnTo>
                    <a:pt x="253186" y="110402"/>
                  </a:lnTo>
                  <a:lnTo>
                    <a:pt x="254000" y="118661"/>
                  </a:lnTo>
                  <a:lnTo>
                    <a:pt x="254000" y="127000"/>
                  </a:lnTo>
                  <a:close/>
                </a:path>
                <a:path w="254000" h="254000">
                  <a:moveTo>
                    <a:pt x="127000" y="0"/>
                  </a:moveTo>
                  <a:lnTo>
                    <a:pt x="100828" y="34997"/>
                  </a:lnTo>
                  <a:lnTo>
                    <a:pt x="83646" y="75157"/>
                  </a:lnTo>
                  <a:lnTo>
                    <a:pt x="76407" y="118234"/>
                  </a:lnTo>
                  <a:lnTo>
                    <a:pt x="76199" y="127000"/>
                  </a:lnTo>
                  <a:lnTo>
                    <a:pt x="76407" y="135765"/>
                  </a:lnTo>
                  <a:lnTo>
                    <a:pt x="83646" y="178842"/>
                  </a:lnTo>
                  <a:lnTo>
                    <a:pt x="100828" y="219002"/>
                  </a:lnTo>
                  <a:lnTo>
                    <a:pt x="127000" y="254000"/>
                  </a:lnTo>
                  <a:lnTo>
                    <a:pt x="132894" y="247509"/>
                  </a:lnTo>
                  <a:lnTo>
                    <a:pt x="157361" y="211323"/>
                  </a:lnTo>
                  <a:lnTo>
                    <a:pt x="172615" y="170392"/>
                  </a:lnTo>
                  <a:lnTo>
                    <a:pt x="177800" y="127000"/>
                  </a:lnTo>
                  <a:lnTo>
                    <a:pt x="177592" y="118234"/>
                  </a:lnTo>
                  <a:lnTo>
                    <a:pt x="170353" y="75157"/>
                  </a:lnTo>
                  <a:lnTo>
                    <a:pt x="153171" y="34997"/>
                  </a:lnTo>
                  <a:lnTo>
                    <a:pt x="127000" y="0"/>
                  </a:lnTo>
                </a:path>
                <a:path w="254000" h="254000">
                  <a:moveTo>
                    <a:pt x="0" y="127000"/>
                  </a:moveTo>
                  <a:lnTo>
                    <a:pt x="254000" y="127000"/>
                  </a:lnTo>
                </a:path>
              </a:pathLst>
            </a:custGeom>
            <a:ln w="25400">
              <a:solidFill>
                <a:srgbClr val="2DD4B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9902825" y="7102129"/>
            <a:ext cx="1436370" cy="603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2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Buyer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00" spc="-20" dirty="0">
                <a:solidFill>
                  <a:srgbClr val="2DD4BE"/>
                </a:solidFill>
                <a:latin typeface="Times New Roman"/>
                <a:cs typeface="Times New Roman"/>
              </a:rPr>
              <a:t>₹</a:t>
            </a:r>
            <a:r>
              <a:rPr sz="1650" spc="-20" dirty="0">
                <a:solidFill>
                  <a:srgbClr val="2DD4BE"/>
                </a:solidFill>
                <a:latin typeface="Times New Roman"/>
                <a:cs typeface="Times New Roman"/>
              </a:rPr>
              <a:t>600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9372600" y="7991475"/>
            <a:ext cx="8458200" cy="533400"/>
          </a:xfrm>
          <a:custGeom>
            <a:avLst/>
            <a:gdLst/>
            <a:ahLst/>
            <a:cxnLst/>
            <a:rect l="l" t="t" r="r" b="b"/>
            <a:pathLst>
              <a:path w="8458200" h="533400">
                <a:moveTo>
                  <a:pt x="8387002" y="533399"/>
                </a:moveTo>
                <a:lnTo>
                  <a:pt x="71196" y="533399"/>
                </a:lnTo>
                <a:lnTo>
                  <a:pt x="66241" y="532911"/>
                </a:lnTo>
                <a:lnTo>
                  <a:pt x="29705" y="517777"/>
                </a:lnTo>
                <a:lnTo>
                  <a:pt x="3885" y="481737"/>
                </a:lnTo>
                <a:lnTo>
                  <a:pt x="0" y="462203"/>
                </a:lnTo>
                <a:lnTo>
                  <a:pt x="0" y="457200"/>
                </a:lnTo>
                <a:lnTo>
                  <a:pt x="0" y="71196"/>
                </a:lnTo>
                <a:lnTo>
                  <a:pt x="15620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8387002" y="0"/>
                </a:lnTo>
                <a:lnTo>
                  <a:pt x="8428492" y="15620"/>
                </a:lnTo>
                <a:lnTo>
                  <a:pt x="8454313" y="51660"/>
                </a:lnTo>
                <a:lnTo>
                  <a:pt x="8458199" y="71196"/>
                </a:lnTo>
                <a:lnTo>
                  <a:pt x="8458199" y="462203"/>
                </a:lnTo>
                <a:lnTo>
                  <a:pt x="8442577" y="503693"/>
                </a:lnTo>
                <a:lnTo>
                  <a:pt x="8406536" y="529512"/>
                </a:lnTo>
                <a:lnTo>
                  <a:pt x="8391956" y="532911"/>
                </a:lnTo>
                <a:lnTo>
                  <a:pt x="8387002" y="533399"/>
                </a:lnTo>
                <a:close/>
              </a:path>
            </a:pathLst>
          </a:custGeom>
          <a:solidFill>
            <a:srgbClr val="128708">
              <a:alpha val="39999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609164" y="8062744"/>
            <a:ext cx="5985510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Artisan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receives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70-</a:t>
            </a:r>
            <a:r>
              <a:rPr sz="1950" b="1" dirty="0">
                <a:solidFill>
                  <a:srgbClr val="FFFFFF"/>
                </a:solidFill>
                <a:latin typeface="Times New Roman"/>
                <a:cs typeface="Times New Roman"/>
              </a:rPr>
              <a:t>75%</a:t>
            </a:r>
            <a:r>
              <a:rPr sz="195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sale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price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b="1" spc="95" dirty="0">
                <a:solidFill>
                  <a:srgbClr val="FFFFFF"/>
                </a:solidFill>
                <a:latin typeface="Times New Roman"/>
                <a:cs typeface="Times New Roman"/>
              </a:rPr>
              <a:t>(3-</a:t>
            </a:r>
            <a:r>
              <a:rPr sz="19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195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6030525" y="9933047"/>
            <a:ext cx="1660525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90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r>
              <a:rPr sz="13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13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Solution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Overview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0" y="0"/>
            <a:ext cx="18288000" cy="762000"/>
            <a:chOff x="0" y="0"/>
            <a:chExt cx="18288000" cy="762000"/>
          </a:xfrm>
        </p:grpSpPr>
        <p:sp>
          <p:nvSpPr>
            <p:cNvPr id="69" name="object 69"/>
            <p:cNvSpPr/>
            <p:nvPr/>
          </p:nvSpPr>
          <p:spPr>
            <a:xfrm>
              <a:off x="0" y="0"/>
              <a:ext cx="18288000" cy="762000"/>
            </a:xfrm>
            <a:custGeom>
              <a:avLst/>
              <a:gdLst/>
              <a:ahLst/>
              <a:cxnLst/>
              <a:rect l="l" t="t" r="r" b="b"/>
              <a:pathLst>
                <a:path w="18288000" h="762000">
                  <a:moveTo>
                    <a:pt x="182880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76200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723900" y="190500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71450" y="228600"/>
                  </a:moveTo>
                  <a:lnTo>
                    <a:pt x="175379" y="215265"/>
                  </a:lnTo>
                  <a:lnTo>
                    <a:pt x="181451" y="203358"/>
                  </a:lnTo>
                  <a:lnTo>
                    <a:pt x="189666" y="192166"/>
                  </a:lnTo>
                  <a:lnTo>
                    <a:pt x="200025" y="180975"/>
                  </a:lnTo>
                  <a:lnTo>
                    <a:pt x="212526" y="166806"/>
                  </a:lnTo>
                  <a:lnTo>
                    <a:pt x="221456" y="150494"/>
                  </a:lnTo>
                  <a:lnTo>
                    <a:pt x="226814" y="132754"/>
                  </a:lnTo>
                  <a:lnTo>
                    <a:pt x="228600" y="114300"/>
                  </a:lnTo>
                  <a:lnTo>
                    <a:pt x="228599" y="106794"/>
                  </a:lnTo>
                  <a:lnTo>
                    <a:pt x="227867" y="99361"/>
                  </a:lnTo>
                  <a:lnTo>
                    <a:pt x="226403" y="92001"/>
                  </a:lnTo>
                  <a:lnTo>
                    <a:pt x="224939" y="84640"/>
                  </a:lnTo>
                  <a:lnTo>
                    <a:pt x="205167" y="44558"/>
                  </a:lnTo>
                  <a:lnTo>
                    <a:pt x="171561" y="15093"/>
                  </a:lnTo>
                  <a:lnTo>
                    <a:pt x="136598" y="2196"/>
                  </a:lnTo>
                  <a:lnTo>
                    <a:pt x="129237" y="732"/>
                  </a:lnTo>
                  <a:lnTo>
                    <a:pt x="121805" y="0"/>
                  </a:lnTo>
                  <a:lnTo>
                    <a:pt x="114300" y="0"/>
                  </a:lnTo>
                  <a:lnTo>
                    <a:pt x="106794" y="0"/>
                  </a:lnTo>
                  <a:lnTo>
                    <a:pt x="63625" y="11572"/>
                  </a:lnTo>
                  <a:lnTo>
                    <a:pt x="33477" y="33477"/>
                  </a:lnTo>
                  <a:lnTo>
                    <a:pt x="28170" y="38784"/>
                  </a:lnTo>
                  <a:lnTo>
                    <a:pt x="23432" y="44558"/>
                  </a:lnTo>
                  <a:lnTo>
                    <a:pt x="19263" y="50798"/>
                  </a:lnTo>
                  <a:lnTo>
                    <a:pt x="15093" y="57038"/>
                  </a:lnTo>
                  <a:lnTo>
                    <a:pt x="2196" y="92001"/>
                  </a:lnTo>
                  <a:lnTo>
                    <a:pt x="732" y="99361"/>
                  </a:lnTo>
                  <a:lnTo>
                    <a:pt x="0" y="106794"/>
                  </a:lnTo>
                  <a:lnTo>
                    <a:pt x="0" y="114300"/>
                  </a:lnTo>
                  <a:lnTo>
                    <a:pt x="982" y="129272"/>
                  </a:lnTo>
                  <a:lnTo>
                    <a:pt x="5000" y="145494"/>
                  </a:lnTo>
                  <a:lnTo>
                    <a:pt x="13662" y="162788"/>
                  </a:lnTo>
                  <a:lnTo>
                    <a:pt x="28575" y="180975"/>
                  </a:lnTo>
                  <a:lnTo>
                    <a:pt x="38129" y="191363"/>
                  </a:lnTo>
                  <a:lnTo>
                    <a:pt x="46434" y="202644"/>
                  </a:lnTo>
                  <a:lnTo>
                    <a:pt x="52953" y="214997"/>
                  </a:lnTo>
                  <a:lnTo>
                    <a:pt x="57150" y="228600"/>
                  </a:lnTo>
                </a:path>
                <a:path w="228600" h="381000">
                  <a:moveTo>
                    <a:pt x="57150" y="304800"/>
                  </a:moveTo>
                  <a:lnTo>
                    <a:pt x="171450" y="304800"/>
                  </a:lnTo>
                </a:path>
                <a:path w="228600" h="381000">
                  <a:moveTo>
                    <a:pt x="76200" y="381000"/>
                  </a:moveTo>
                  <a:lnTo>
                    <a:pt x="152400" y="381000"/>
                  </a:lnTo>
                </a:path>
              </a:pathLst>
            </a:custGeom>
            <a:ln w="38100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977900" y="-12326"/>
            <a:ext cx="14570710" cy="63927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sz="4050" spc="-150" dirty="0">
                <a:latin typeface="Times New Roman"/>
                <a:cs typeface="Times New Roman"/>
              </a:rPr>
              <a:t>The</a:t>
            </a:r>
            <a:r>
              <a:rPr sz="4050" spc="-245" dirty="0">
                <a:latin typeface="Times New Roman"/>
                <a:cs typeface="Times New Roman"/>
              </a:rPr>
              <a:t> </a:t>
            </a:r>
            <a:r>
              <a:rPr sz="4050" spc="-185" dirty="0">
                <a:latin typeface="Times New Roman"/>
                <a:cs typeface="Times New Roman"/>
              </a:rPr>
              <a:t>Bharatcraft</a:t>
            </a:r>
            <a:r>
              <a:rPr sz="4050" spc="-240" dirty="0">
                <a:latin typeface="Times New Roman"/>
                <a:cs typeface="Times New Roman"/>
              </a:rPr>
              <a:t> </a:t>
            </a:r>
            <a:r>
              <a:rPr sz="4050" spc="-190" dirty="0">
                <a:latin typeface="Times New Roman"/>
                <a:cs typeface="Times New Roman"/>
              </a:rPr>
              <a:t>Solution</a:t>
            </a:r>
            <a:endParaRPr sz="4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238646"/>
            <a:ext cx="5389245" cy="160782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836930">
              <a:lnSpc>
                <a:spcPts val="3000"/>
              </a:lnSpc>
              <a:spcBef>
                <a:spcPts val="819"/>
              </a:spcBef>
            </a:pPr>
            <a:r>
              <a:rPr sz="3050" b="1" spc="-160" dirty="0">
                <a:solidFill>
                  <a:srgbClr val="FF9933"/>
                </a:solidFill>
                <a:latin typeface="Times New Roman"/>
                <a:cs typeface="Times New Roman"/>
              </a:rPr>
              <a:t>AI</a:t>
            </a:r>
            <a:r>
              <a:rPr sz="3100" b="1" spc="-160" dirty="0">
                <a:solidFill>
                  <a:srgbClr val="FF9933"/>
                </a:solidFill>
                <a:latin typeface="Times New Roman"/>
                <a:cs typeface="Times New Roman"/>
              </a:rPr>
              <a:t>-</a:t>
            </a:r>
            <a:r>
              <a:rPr sz="3050" b="1" spc="-185" dirty="0">
                <a:solidFill>
                  <a:srgbClr val="FF9933"/>
                </a:solidFill>
                <a:latin typeface="Times New Roman"/>
                <a:cs typeface="Times New Roman"/>
              </a:rPr>
              <a:t>Powered</a:t>
            </a:r>
            <a:r>
              <a:rPr sz="3050" b="1" spc="-10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200" dirty="0">
                <a:solidFill>
                  <a:srgbClr val="FF9933"/>
                </a:solidFill>
                <a:latin typeface="Times New Roman"/>
                <a:cs typeface="Times New Roman"/>
              </a:rPr>
              <a:t>Cross</a:t>
            </a:r>
            <a:r>
              <a:rPr sz="3100" b="1" spc="-200" dirty="0">
                <a:solidFill>
                  <a:srgbClr val="FF9933"/>
                </a:solidFill>
                <a:latin typeface="Times New Roman"/>
                <a:cs typeface="Times New Roman"/>
              </a:rPr>
              <a:t>-</a:t>
            </a:r>
            <a:r>
              <a:rPr sz="3050" b="1" spc="-125" dirty="0">
                <a:solidFill>
                  <a:srgbClr val="FF9933"/>
                </a:solidFill>
                <a:latin typeface="Times New Roman"/>
                <a:cs typeface="Times New Roman"/>
              </a:rPr>
              <a:t>Cultural </a:t>
            </a:r>
            <a:r>
              <a:rPr sz="3050" b="1" spc="-50" dirty="0">
                <a:solidFill>
                  <a:srgbClr val="FF9933"/>
                </a:solidFill>
                <a:latin typeface="Times New Roman"/>
                <a:cs typeface="Times New Roman"/>
              </a:rPr>
              <a:t>Negotiation</a:t>
            </a: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ct val="106100"/>
              </a:lnSpc>
              <a:spcBef>
                <a:spcPts val="1530"/>
              </a:spcBef>
            </a:pPr>
            <a:r>
              <a:rPr sz="1650" spc="-85" dirty="0">
                <a:solidFill>
                  <a:srgbClr val="FFFFFF"/>
                </a:solidFill>
                <a:latin typeface="Times New Roman"/>
                <a:cs typeface="Times New Roman"/>
              </a:rPr>
              <a:t>GPT-</a:t>
            </a:r>
            <a:r>
              <a:rPr sz="1650" spc="-9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165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FFFFFF"/>
                </a:solidFill>
                <a:latin typeface="Times New Roman"/>
                <a:cs typeface="Times New Roman"/>
              </a:rPr>
              <a:t>engine</a:t>
            </a:r>
            <a:r>
              <a:rPr sz="16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6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culturally-</a:t>
            </a:r>
            <a:r>
              <a:rPr sz="1650" spc="-30" dirty="0">
                <a:solidFill>
                  <a:srgbClr val="FFFFFF"/>
                </a:solidFill>
                <a:latin typeface="Times New Roman"/>
                <a:cs typeface="Times New Roman"/>
              </a:rPr>
              <a:t>aware</a:t>
            </a:r>
            <a:r>
              <a:rPr sz="16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negotiation</a:t>
            </a:r>
            <a:r>
              <a:rPr sz="16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fair</a:t>
            </a:r>
            <a:r>
              <a:rPr sz="16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price determination.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086099"/>
            <a:ext cx="5924550" cy="895350"/>
            <a:chOff x="457200" y="3086099"/>
            <a:chExt cx="5924550" cy="8953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3086099"/>
              <a:ext cx="5924550" cy="8953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3086100"/>
              <a:ext cx="5924550" cy="895350"/>
            </a:xfrm>
            <a:custGeom>
              <a:avLst/>
              <a:gdLst/>
              <a:ahLst/>
              <a:cxnLst/>
              <a:rect l="l" t="t" r="r" b="b"/>
              <a:pathLst>
                <a:path w="5924550" h="895350">
                  <a:moveTo>
                    <a:pt x="5848349" y="895349"/>
                  </a:moveTo>
                  <a:lnTo>
                    <a:pt x="76199" y="895349"/>
                  </a:lnTo>
                  <a:lnTo>
                    <a:pt x="68693" y="894987"/>
                  </a:lnTo>
                  <a:lnTo>
                    <a:pt x="27882" y="878082"/>
                  </a:lnTo>
                  <a:lnTo>
                    <a:pt x="3262" y="841236"/>
                  </a:lnTo>
                  <a:lnTo>
                    <a:pt x="0" y="8191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848349" y="0"/>
                  </a:lnTo>
                  <a:lnTo>
                    <a:pt x="588517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823527"/>
                  </a:lnTo>
                  <a:lnTo>
                    <a:pt x="23194" y="859832"/>
                  </a:lnTo>
                  <a:lnTo>
                    <a:pt x="54729" y="882424"/>
                  </a:lnTo>
                  <a:lnTo>
                    <a:pt x="71822" y="885825"/>
                  </a:lnTo>
                  <a:lnTo>
                    <a:pt x="5885169" y="885825"/>
                  </a:lnTo>
                  <a:lnTo>
                    <a:pt x="5884306" y="886341"/>
                  </a:lnTo>
                  <a:lnTo>
                    <a:pt x="5877510" y="889549"/>
                  </a:lnTo>
                  <a:lnTo>
                    <a:pt x="5870436" y="892087"/>
                  </a:lnTo>
                  <a:lnTo>
                    <a:pt x="5863218" y="893899"/>
                  </a:lnTo>
                  <a:lnTo>
                    <a:pt x="5855856" y="894987"/>
                  </a:lnTo>
                  <a:lnTo>
                    <a:pt x="5848349" y="895349"/>
                  </a:lnTo>
                  <a:close/>
                </a:path>
                <a:path w="5924550" h="895350">
                  <a:moveTo>
                    <a:pt x="5885169" y="885825"/>
                  </a:moveTo>
                  <a:lnTo>
                    <a:pt x="5852727" y="885825"/>
                  </a:lnTo>
                  <a:lnTo>
                    <a:pt x="5857063" y="885398"/>
                  </a:lnTo>
                  <a:lnTo>
                    <a:pt x="5865650" y="883689"/>
                  </a:lnTo>
                  <a:lnTo>
                    <a:pt x="5898591" y="863200"/>
                  </a:lnTo>
                  <a:lnTo>
                    <a:pt x="5914597" y="827863"/>
                  </a:lnTo>
                  <a:lnTo>
                    <a:pt x="5915024" y="823527"/>
                  </a:lnTo>
                  <a:lnTo>
                    <a:pt x="5915024" y="71822"/>
                  </a:lnTo>
                  <a:lnTo>
                    <a:pt x="5901354" y="35517"/>
                  </a:lnTo>
                  <a:lnTo>
                    <a:pt x="5869505" y="12829"/>
                  </a:lnTo>
                  <a:lnTo>
                    <a:pt x="5852727" y="9525"/>
                  </a:lnTo>
                  <a:lnTo>
                    <a:pt x="5885170" y="9525"/>
                  </a:lnTo>
                  <a:lnTo>
                    <a:pt x="5915541" y="40242"/>
                  </a:lnTo>
                  <a:lnTo>
                    <a:pt x="5924549" y="76199"/>
                  </a:lnTo>
                  <a:lnTo>
                    <a:pt x="5924549" y="819149"/>
                  </a:lnTo>
                  <a:lnTo>
                    <a:pt x="5911718" y="861492"/>
                  </a:lnTo>
                  <a:lnTo>
                    <a:pt x="5890818" y="882424"/>
                  </a:lnTo>
                  <a:lnTo>
                    <a:pt x="5885169" y="885825"/>
                  </a:lnTo>
                  <a:close/>
                </a:path>
              </a:pathLst>
            </a:custGeom>
            <a:solidFill>
              <a:srgbClr val="BF83FB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237" y="3297237"/>
              <a:ext cx="244475" cy="2444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87425" y="3108668"/>
            <a:ext cx="3703954" cy="7004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Multilingual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Support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Communicates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3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70" dirty="0">
                <a:solidFill>
                  <a:srgbClr val="FFFFFF"/>
                </a:solidFill>
                <a:latin typeface="Times New Roman"/>
                <a:cs typeface="Times New Roman"/>
              </a:rPr>
              <a:t>15+</a:t>
            </a:r>
            <a:r>
              <a:rPr sz="13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languages</a:t>
            </a:r>
            <a:r>
              <a:rPr sz="13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(Hindi,</a:t>
            </a:r>
            <a:r>
              <a:rPr sz="13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imes New Roman"/>
                <a:cs typeface="Times New Roman"/>
              </a:rPr>
              <a:t>Tamil,</a:t>
            </a:r>
            <a:r>
              <a:rPr sz="13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etc.)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7200" y="4133849"/>
            <a:ext cx="5924550" cy="895350"/>
            <a:chOff x="457200" y="4133849"/>
            <a:chExt cx="5924550" cy="89535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4133849"/>
              <a:ext cx="5924550" cy="8953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57200" y="4133849"/>
              <a:ext cx="5924550" cy="895350"/>
            </a:xfrm>
            <a:custGeom>
              <a:avLst/>
              <a:gdLst/>
              <a:ahLst/>
              <a:cxnLst/>
              <a:rect l="l" t="t" r="r" b="b"/>
              <a:pathLst>
                <a:path w="5924550" h="895350">
                  <a:moveTo>
                    <a:pt x="5848349" y="895349"/>
                  </a:moveTo>
                  <a:lnTo>
                    <a:pt x="76199" y="895349"/>
                  </a:lnTo>
                  <a:lnTo>
                    <a:pt x="68693" y="894987"/>
                  </a:lnTo>
                  <a:lnTo>
                    <a:pt x="27882" y="878082"/>
                  </a:lnTo>
                  <a:lnTo>
                    <a:pt x="3262" y="841236"/>
                  </a:lnTo>
                  <a:lnTo>
                    <a:pt x="0" y="8191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848349" y="0"/>
                  </a:lnTo>
                  <a:lnTo>
                    <a:pt x="588517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823527"/>
                  </a:lnTo>
                  <a:lnTo>
                    <a:pt x="23194" y="859832"/>
                  </a:lnTo>
                  <a:lnTo>
                    <a:pt x="54729" y="882424"/>
                  </a:lnTo>
                  <a:lnTo>
                    <a:pt x="71822" y="885825"/>
                  </a:lnTo>
                  <a:lnTo>
                    <a:pt x="5885168" y="885825"/>
                  </a:lnTo>
                  <a:lnTo>
                    <a:pt x="5884306" y="886341"/>
                  </a:lnTo>
                  <a:lnTo>
                    <a:pt x="5877510" y="889548"/>
                  </a:lnTo>
                  <a:lnTo>
                    <a:pt x="5870436" y="892086"/>
                  </a:lnTo>
                  <a:lnTo>
                    <a:pt x="5863218" y="893899"/>
                  </a:lnTo>
                  <a:lnTo>
                    <a:pt x="5855856" y="894987"/>
                  </a:lnTo>
                  <a:lnTo>
                    <a:pt x="5848349" y="895349"/>
                  </a:lnTo>
                  <a:close/>
                </a:path>
                <a:path w="5924550" h="895350">
                  <a:moveTo>
                    <a:pt x="5885168" y="885825"/>
                  </a:moveTo>
                  <a:lnTo>
                    <a:pt x="5852727" y="885825"/>
                  </a:lnTo>
                  <a:lnTo>
                    <a:pt x="5857063" y="885397"/>
                  </a:lnTo>
                  <a:lnTo>
                    <a:pt x="5865650" y="883689"/>
                  </a:lnTo>
                  <a:lnTo>
                    <a:pt x="5898591" y="863200"/>
                  </a:lnTo>
                  <a:lnTo>
                    <a:pt x="5914597" y="827863"/>
                  </a:lnTo>
                  <a:lnTo>
                    <a:pt x="5915024" y="823527"/>
                  </a:lnTo>
                  <a:lnTo>
                    <a:pt x="5915024" y="71822"/>
                  </a:lnTo>
                  <a:lnTo>
                    <a:pt x="5901354" y="35517"/>
                  </a:lnTo>
                  <a:lnTo>
                    <a:pt x="5869506" y="12829"/>
                  </a:lnTo>
                  <a:lnTo>
                    <a:pt x="5852727" y="9525"/>
                  </a:lnTo>
                  <a:lnTo>
                    <a:pt x="5885170" y="9525"/>
                  </a:lnTo>
                  <a:lnTo>
                    <a:pt x="5915541" y="40242"/>
                  </a:lnTo>
                  <a:lnTo>
                    <a:pt x="5924549" y="76199"/>
                  </a:lnTo>
                  <a:lnTo>
                    <a:pt x="5924549" y="819149"/>
                  </a:lnTo>
                  <a:lnTo>
                    <a:pt x="5911718" y="861491"/>
                  </a:lnTo>
                  <a:lnTo>
                    <a:pt x="5890818" y="882424"/>
                  </a:lnTo>
                  <a:lnTo>
                    <a:pt x="5885168" y="885825"/>
                  </a:lnTo>
                  <a:close/>
                </a:path>
              </a:pathLst>
            </a:custGeom>
            <a:solidFill>
              <a:srgbClr val="BF83FB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081" y="4344802"/>
              <a:ext cx="244787" cy="24471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87425" y="4156418"/>
            <a:ext cx="3895725" cy="7004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Cultural</a:t>
            </a:r>
            <a:r>
              <a:rPr sz="20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Intelligence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Understands</a:t>
            </a:r>
            <a:r>
              <a:rPr sz="13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regional</a:t>
            </a:r>
            <a:r>
              <a:rPr sz="13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negotiation</a:t>
            </a:r>
            <a:r>
              <a:rPr sz="13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styles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customs.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7200" y="5181599"/>
            <a:ext cx="5924550" cy="895350"/>
            <a:chOff x="457200" y="5181599"/>
            <a:chExt cx="5924550" cy="89535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5181599"/>
              <a:ext cx="5924550" cy="89535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7200" y="5181599"/>
              <a:ext cx="5924550" cy="895350"/>
            </a:xfrm>
            <a:custGeom>
              <a:avLst/>
              <a:gdLst/>
              <a:ahLst/>
              <a:cxnLst/>
              <a:rect l="l" t="t" r="r" b="b"/>
              <a:pathLst>
                <a:path w="5924550" h="895350">
                  <a:moveTo>
                    <a:pt x="5848349" y="895349"/>
                  </a:moveTo>
                  <a:lnTo>
                    <a:pt x="76199" y="895349"/>
                  </a:lnTo>
                  <a:lnTo>
                    <a:pt x="68693" y="894987"/>
                  </a:lnTo>
                  <a:lnTo>
                    <a:pt x="27882" y="878082"/>
                  </a:lnTo>
                  <a:lnTo>
                    <a:pt x="3262" y="841235"/>
                  </a:lnTo>
                  <a:lnTo>
                    <a:pt x="0" y="8191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5848349" y="0"/>
                  </a:lnTo>
                  <a:lnTo>
                    <a:pt x="5885171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823527"/>
                  </a:lnTo>
                  <a:lnTo>
                    <a:pt x="23194" y="859832"/>
                  </a:lnTo>
                  <a:lnTo>
                    <a:pt x="54729" y="882425"/>
                  </a:lnTo>
                  <a:lnTo>
                    <a:pt x="71822" y="885825"/>
                  </a:lnTo>
                  <a:lnTo>
                    <a:pt x="5885168" y="885825"/>
                  </a:lnTo>
                  <a:lnTo>
                    <a:pt x="5884306" y="886340"/>
                  </a:lnTo>
                  <a:lnTo>
                    <a:pt x="5877510" y="889548"/>
                  </a:lnTo>
                  <a:lnTo>
                    <a:pt x="5870436" y="892086"/>
                  </a:lnTo>
                  <a:lnTo>
                    <a:pt x="5863218" y="893899"/>
                  </a:lnTo>
                  <a:lnTo>
                    <a:pt x="5855856" y="894987"/>
                  </a:lnTo>
                  <a:lnTo>
                    <a:pt x="5848349" y="895349"/>
                  </a:lnTo>
                  <a:close/>
                </a:path>
                <a:path w="5924550" h="895350">
                  <a:moveTo>
                    <a:pt x="5885168" y="885825"/>
                  </a:moveTo>
                  <a:lnTo>
                    <a:pt x="5852727" y="885825"/>
                  </a:lnTo>
                  <a:lnTo>
                    <a:pt x="5857063" y="885397"/>
                  </a:lnTo>
                  <a:lnTo>
                    <a:pt x="5865650" y="883689"/>
                  </a:lnTo>
                  <a:lnTo>
                    <a:pt x="5898591" y="863200"/>
                  </a:lnTo>
                  <a:lnTo>
                    <a:pt x="5914597" y="827863"/>
                  </a:lnTo>
                  <a:lnTo>
                    <a:pt x="5915024" y="823527"/>
                  </a:lnTo>
                  <a:lnTo>
                    <a:pt x="5915024" y="71822"/>
                  </a:lnTo>
                  <a:lnTo>
                    <a:pt x="5901354" y="35517"/>
                  </a:lnTo>
                  <a:lnTo>
                    <a:pt x="5869505" y="12829"/>
                  </a:lnTo>
                  <a:lnTo>
                    <a:pt x="5852727" y="9525"/>
                  </a:lnTo>
                  <a:lnTo>
                    <a:pt x="5885171" y="9525"/>
                  </a:lnTo>
                  <a:lnTo>
                    <a:pt x="5915541" y="40242"/>
                  </a:lnTo>
                  <a:lnTo>
                    <a:pt x="5924549" y="76199"/>
                  </a:lnTo>
                  <a:lnTo>
                    <a:pt x="5924549" y="819149"/>
                  </a:lnTo>
                  <a:lnTo>
                    <a:pt x="5911718" y="861491"/>
                  </a:lnTo>
                  <a:lnTo>
                    <a:pt x="5890818" y="882425"/>
                  </a:lnTo>
                  <a:lnTo>
                    <a:pt x="5885168" y="885825"/>
                  </a:lnTo>
                  <a:close/>
                </a:path>
              </a:pathLst>
            </a:custGeom>
            <a:solidFill>
              <a:srgbClr val="BF83FB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641350" y="5459412"/>
              <a:ext cx="222250" cy="111125"/>
            </a:xfrm>
            <a:custGeom>
              <a:avLst/>
              <a:gdLst/>
              <a:ahLst/>
              <a:cxnLst/>
              <a:rect l="l" t="t" r="r" b="b"/>
              <a:pathLst>
                <a:path w="222250" h="111125">
                  <a:moveTo>
                    <a:pt x="222250" y="0"/>
                  </a:moveTo>
                  <a:lnTo>
                    <a:pt x="127793" y="94456"/>
                  </a:lnTo>
                  <a:lnTo>
                    <a:pt x="72231" y="38893"/>
                  </a:lnTo>
                  <a:lnTo>
                    <a:pt x="0" y="111125"/>
                  </a:lnTo>
                </a:path>
                <a:path w="222250" h="111125">
                  <a:moveTo>
                    <a:pt x="155575" y="0"/>
                  </a:moveTo>
                  <a:lnTo>
                    <a:pt x="222250" y="0"/>
                  </a:lnTo>
                  <a:lnTo>
                    <a:pt x="222250" y="66675"/>
                  </a:lnTo>
                </a:path>
              </a:pathLst>
            </a:custGeom>
            <a:ln w="22225">
              <a:solidFill>
                <a:srgbClr val="2DD4B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87425" y="5204168"/>
            <a:ext cx="4779645" cy="7004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000" b="1" spc="-120" dirty="0">
                <a:solidFill>
                  <a:srgbClr val="FFFFFF"/>
                </a:solidFill>
                <a:latin typeface="Times New Roman"/>
                <a:cs typeface="Times New Roman"/>
              </a:rPr>
              <a:t>Fair</a:t>
            </a:r>
            <a:r>
              <a:rPr sz="20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Pricing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Ensures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artisans</a:t>
            </a:r>
            <a:r>
              <a:rPr sz="1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get</a:t>
            </a:r>
            <a:r>
              <a:rPr sz="1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55" dirty="0">
                <a:solidFill>
                  <a:srgbClr val="FFFFFF"/>
                </a:solidFill>
                <a:latin typeface="Times New Roman"/>
                <a:cs typeface="Times New Roman"/>
              </a:rPr>
              <a:t>70-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75%</a:t>
            </a:r>
            <a:r>
              <a:rPr sz="13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sale</a:t>
            </a:r>
            <a:r>
              <a:rPr sz="1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price</a:t>
            </a:r>
            <a:r>
              <a:rPr sz="1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vs.</a:t>
            </a:r>
            <a:r>
              <a:rPr sz="13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10" dirty="0">
                <a:solidFill>
                  <a:srgbClr val="FFFFFF"/>
                </a:solidFill>
                <a:latin typeface="Times New Roman"/>
                <a:cs typeface="Times New Roman"/>
              </a:rPr>
              <a:t>12-</a:t>
            </a:r>
            <a:r>
              <a:rPr sz="1300" spc="-50" dirty="0">
                <a:solidFill>
                  <a:srgbClr val="FFFFFF"/>
                </a:solidFill>
                <a:latin typeface="Times New Roman"/>
                <a:cs typeface="Times New Roman"/>
              </a:rPr>
              <a:t>18%</a:t>
            </a:r>
            <a:r>
              <a:rPr sz="13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traditionally.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7200" y="6229349"/>
            <a:ext cx="5924550" cy="895350"/>
            <a:chOff x="457200" y="6229349"/>
            <a:chExt cx="5924550" cy="89535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6229349"/>
              <a:ext cx="5924550" cy="89535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7200" y="6229349"/>
              <a:ext cx="5924550" cy="895350"/>
            </a:xfrm>
            <a:custGeom>
              <a:avLst/>
              <a:gdLst/>
              <a:ahLst/>
              <a:cxnLst/>
              <a:rect l="l" t="t" r="r" b="b"/>
              <a:pathLst>
                <a:path w="5924550" h="895350">
                  <a:moveTo>
                    <a:pt x="5848349" y="895349"/>
                  </a:moveTo>
                  <a:lnTo>
                    <a:pt x="76199" y="895349"/>
                  </a:lnTo>
                  <a:lnTo>
                    <a:pt x="68693" y="894987"/>
                  </a:lnTo>
                  <a:lnTo>
                    <a:pt x="27882" y="878082"/>
                  </a:lnTo>
                  <a:lnTo>
                    <a:pt x="3262" y="841236"/>
                  </a:lnTo>
                  <a:lnTo>
                    <a:pt x="0" y="8191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5848349" y="0"/>
                  </a:lnTo>
                  <a:lnTo>
                    <a:pt x="5885171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823527"/>
                  </a:lnTo>
                  <a:lnTo>
                    <a:pt x="9833" y="826656"/>
                  </a:lnTo>
                  <a:lnTo>
                    <a:pt x="9952" y="827863"/>
                  </a:lnTo>
                  <a:lnTo>
                    <a:pt x="25957" y="863200"/>
                  </a:lnTo>
                  <a:lnTo>
                    <a:pt x="58898" y="883689"/>
                  </a:lnTo>
                  <a:lnTo>
                    <a:pt x="71822" y="885825"/>
                  </a:lnTo>
                  <a:lnTo>
                    <a:pt x="5885169" y="885825"/>
                  </a:lnTo>
                  <a:lnTo>
                    <a:pt x="5884306" y="886341"/>
                  </a:lnTo>
                  <a:lnTo>
                    <a:pt x="5877510" y="889549"/>
                  </a:lnTo>
                  <a:lnTo>
                    <a:pt x="5870436" y="892086"/>
                  </a:lnTo>
                  <a:lnTo>
                    <a:pt x="5863218" y="893899"/>
                  </a:lnTo>
                  <a:lnTo>
                    <a:pt x="5855856" y="894987"/>
                  </a:lnTo>
                  <a:lnTo>
                    <a:pt x="5848349" y="895349"/>
                  </a:lnTo>
                  <a:close/>
                </a:path>
                <a:path w="5924550" h="895350">
                  <a:moveTo>
                    <a:pt x="5885169" y="885825"/>
                  </a:moveTo>
                  <a:lnTo>
                    <a:pt x="5852727" y="885825"/>
                  </a:lnTo>
                  <a:lnTo>
                    <a:pt x="5857063" y="885397"/>
                  </a:lnTo>
                  <a:lnTo>
                    <a:pt x="5865650" y="883689"/>
                  </a:lnTo>
                  <a:lnTo>
                    <a:pt x="5898591" y="863200"/>
                  </a:lnTo>
                  <a:lnTo>
                    <a:pt x="5914597" y="827863"/>
                  </a:lnTo>
                  <a:lnTo>
                    <a:pt x="5915024" y="823527"/>
                  </a:lnTo>
                  <a:lnTo>
                    <a:pt x="5915024" y="71822"/>
                  </a:lnTo>
                  <a:lnTo>
                    <a:pt x="5914716" y="68693"/>
                  </a:lnTo>
                  <a:lnTo>
                    <a:pt x="5914597" y="67486"/>
                  </a:lnTo>
                  <a:lnTo>
                    <a:pt x="5898591" y="32149"/>
                  </a:lnTo>
                  <a:lnTo>
                    <a:pt x="5865650" y="11660"/>
                  </a:lnTo>
                  <a:lnTo>
                    <a:pt x="5852727" y="9525"/>
                  </a:lnTo>
                  <a:lnTo>
                    <a:pt x="5885171" y="9525"/>
                  </a:lnTo>
                  <a:lnTo>
                    <a:pt x="5915541" y="40242"/>
                  </a:lnTo>
                  <a:lnTo>
                    <a:pt x="5924549" y="76199"/>
                  </a:lnTo>
                  <a:lnTo>
                    <a:pt x="5924549" y="819149"/>
                  </a:lnTo>
                  <a:lnTo>
                    <a:pt x="5911718" y="861491"/>
                  </a:lnTo>
                  <a:lnTo>
                    <a:pt x="5890819" y="882424"/>
                  </a:lnTo>
                  <a:lnTo>
                    <a:pt x="5885169" y="885825"/>
                  </a:lnTo>
                  <a:close/>
                </a:path>
              </a:pathLst>
            </a:custGeom>
            <a:solidFill>
              <a:srgbClr val="BF83FB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2462" y="6440482"/>
              <a:ext cx="200025" cy="24476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987425" y="6251918"/>
            <a:ext cx="3081020" cy="7004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0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Exploitation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Prevention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detects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blocks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unfair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pricing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offers.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7200" y="8896350"/>
            <a:ext cx="5924550" cy="476250"/>
            <a:chOff x="457200" y="8896350"/>
            <a:chExt cx="5924550" cy="476250"/>
          </a:xfrm>
        </p:grpSpPr>
        <p:sp>
          <p:nvSpPr>
            <p:cNvPr id="24" name="object 24"/>
            <p:cNvSpPr/>
            <p:nvPr/>
          </p:nvSpPr>
          <p:spPr>
            <a:xfrm>
              <a:off x="457200" y="8896350"/>
              <a:ext cx="5924550" cy="476250"/>
            </a:xfrm>
            <a:custGeom>
              <a:avLst/>
              <a:gdLst/>
              <a:ahLst/>
              <a:cxnLst/>
              <a:rect l="l" t="t" r="r" b="b"/>
              <a:pathLst>
                <a:path w="5924550" h="476250">
                  <a:moveTo>
                    <a:pt x="5848350" y="476250"/>
                  </a:moveTo>
                  <a:lnTo>
                    <a:pt x="76200" y="476250"/>
                  </a:lnTo>
                  <a:lnTo>
                    <a:pt x="68693" y="475887"/>
                  </a:lnTo>
                  <a:lnTo>
                    <a:pt x="27882" y="458982"/>
                  </a:lnTo>
                  <a:lnTo>
                    <a:pt x="3262" y="422135"/>
                  </a:lnTo>
                  <a:lnTo>
                    <a:pt x="0" y="400050"/>
                  </a:lnTo>
                  <a:lnTo>
                    <a:pt x="0" y="76200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200" y="0"/>
                  </a:lnTo>
                  <a:lnTo>
                    <a:pt x="5848350" y="0"/>
                  </a:lnTo>
                  <a:lnTo>
                    <a:pt x="5890691" y="12829"/>
                  </a:lnTo>
                  <a:lnTo>
                    <a:pt x="5918749" y="47039"/>
                  </a:lnTo>
                  <a:lnTo>
                    <a:pt x="5924550" y="76200"/>
                  </a:lnTo>
                  <a:lnTo>
                    <a:pt x="5924550" y="400050"/>
                  </a:lnTo>
                  <a:lnTo>
                    <a:pt x="5911719" y="442391"/>
                  </a:lnTo>
                  <a:lnTo>
                    <a:pt x="5877510" y="470449"/>
                  </a:lnTo>
                  <a:lnTo>
                    <a:pt x="5848350" y="476250"/>
                  </a:lnTo>
                  <a:close/>
                </a:path>
              </a:pathLst>
            </a:custGeom>
            <a:solidFill>
              <a:srgbClr val="581B8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57200" y="8896350"/>
              <a:ext cx="5924550" cy="476250"/>
            </a:xfrm>
            <a:custGeom>
              <a:avLst/>
              <a:gdLst/>
              <a:ahLst/>
              <a:cxnLst/>
              <a:rect l="l" t="t" r="r" b="b"/>
              <a:pathLst>
                <a:path w="5924550" h="476250">
                  <a:moveTo>
                    <a:pt x="5848349" y="476249"/>
                  </a:moveTo>
                  <a:lnTo>
                    <a:pt x="76199" y="476249"/>
                  </a:lnTo>
                  <a:lnTo>
                    <a:pt x="68693" y="475887"/>
                  </a:lnTo>
                  <a:lnTo>
                    <a:pt x="27882" y="458982"/>
                  </a:lnTo>
                  <a:lnTo>
                    <a:pt x="3262" y="422135"/>
                  </a:lnTo>
                  <a:lnTo>
                    <a:pt x="0" y="4000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5848349" y="0"/>
                  </a:lnTo>
                  <a:lnTo>
                    <a:pt x="5885171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404428"/>
                  </a:lnTo>
                  <a:lnTo>
                    <a:pt x="9833" y="407556"/>
                  </a:lnTo>
                  <a:lnTo>
                    <a:pt x="9952" y="408763"/>
                  </a:lnTo>
                  <a:lnTo>
                    <a:pt x="25957" y="444100"/>
                  </a:lnTo>
                  <a:lnTo>
                    <a:pt x="58898" y="464589"/>
                  </a:lnTo>
                  <a:lnTo>
                    <a:pt x="71822" y="466725"/>
                  </a:lnTo>
                  <a:lnTo>
                    <a:pt x="5885169" y="466725"/>
                  </a:lnTo>
                  <a:lnTo>
                    <a:pt x="5884306" y="467241"/>
                  </a:lnTo>
                  <a:lnTo>
                    <a:pt x="5877510" y="470449"/>
                  </a:lnTo>
                  <a:lnTo>
                    <a:pt x="5870436" y="472987"/>
                  </a:lnTo>
                  <a:lnTo>
                    <a:pt x="5863218" y="474799"/>
                  </a:lnTo>
                  <a:lnTo>
                    <a:pt x="5855856" y="475887"/>
                  </a:lnTo>
                  <a:lnTo>
                    <a:pt x="5848349" y="476249"/>
                  </a:lnTo>
                  <a:close/>
                </a:path>
                <a:path w="5924550" h="476250">
                  <a:moveTo>
                    <a:pt x="5885169" y="466725"/>
                  </a:moveTo>
                  <a:lnTo>
                    <a:pt x="5852727" y="466725"/>
                  </a:lnTo>
                  <a:lnTo>
                    <a:pt x="5857063" y="466298"/>
                  </a:lnTo>
                  <a:lnTo>
                    <a:pt x="5865650" y="464589"/>
                  </a:lnTo>
                  <a:lnTo>
                    <a:pt x="5898591" y="444100"/>
                  </a:lnTo>
                  <a:lnTo>
                    <a:pt x="5914597" y="408763"/>
                  </a:lnTo>
                  <a:lnTo>
                    <a:pt x="5915024" y="404428"/>
                  </a:lnTo>
                  <a:lnTo>
                    <a:pt x="5915024" y="71822"/>
                  </a:lnTo>
                  <a:lnTo>
                    <a:pt x="5914716" y="68693"/>
                  </a:lnTo>
                  <a:lnTo>
                    <a:pt x="5914597" y="67486"/>
                  </a:lnTo>
                  <a:lnTo>
                    <a:pt x="5898591" y="32149"/>
                  </a:lnTo>
                  <a:lnTo>
                    <a:pt x="5865650" y="11660"/>
                  </a:lnTo>
                  <a:lnTo>
                    <a:pt x="5852727" y="9525"/>
                  </a:lnTo>
                  <a:lnTo>
                    <a:pt x="5885171" y="9525"/>
                  </a:lnTo>
                  <a:lnTo>
                    <a:pt x="5915541" y="40242"/>
                  </a:lnTo>
                  <a:lnTo>
                    <a:pt x="5924549" y="76199"/>
                  </a:lnTo>
                  <a:lnTo>
                    <a:pt x="5924549" y="400049"/>
                  </a:lnTo>
                  <a:lnTo>
                    <a:pt x="5911718" y="442391"/>
                  </a:lnTo>
                  <a:lnTo>
                    <a:pt x="5890818" y="463325"/>
                  </a:lnTo>
                  <a:lnTo>
                    <a:pt x="5885169" y="466725"/>
                  </a:lnTo>
                  <a:close/>
                </a:path>
              </a:pathLst>
            </a:custGeom>
            <a:solidFill>
              <a:srgbClr val="BF83FB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6425" y="9007475"/>
            <a:ext cx="5055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8B4FE"/>
                </a:solidFill>
                <a:latin typeface="Times New Roman"/>
                <a:cs typeface="Times New Roman"/>
              </a:rPr>
              <a:t>Tech</a:t>
            </a:r>
            <a:r>
              <a:rPr sz="1200" spc="-20" dirty="0">
                <a:solidFill>
                  <a:srgbClr val="D8B4FE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D8B4FE"/>
                </a:solidFill>
                <a:latin typeface="Times New Roman"/>
                <a:cs typeface="Times New Roman"/>
              </a:rPr>
              <a:t>Stack:</a:t>
            </a:r>
            <a:r>
              <a:rPr sz="1200" spc="-20" dirty="0">
                <a:solidFill>
                  <a:srgbClr val="D8B4F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D8B4FE"/>
                </a:solidFill>
                <a:latin typeface="Times New Roman"/>
                <a:cs typeface="Times New Roman"/>
              </a:rPr>
              <a:t>GPT-</a:t>
            </a:r>
            <a:r>
              <a:rPr sz="1200" dirty="0">
                <a:solidFill>
                  <a:srgbClr val="D8B4FE"/>
                </a:solidFill>
                <a:latin typeface="Times New Roman"/>
                <a:cs typeface="Times New Roman"/>
              </a:rPr>
              <a:t>4</a:t>
            </a:r>
            <a:r>
              <a:rPr sz="1200" spc="-15" dirty="0">
                <a:solidFill>
                  <a:srgbClr val="D8B4FE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D8B4FE"/>
                </a:solidFill>
                <a:latin typeface="Times New Roman"/>
                <a:cs typeface="Times New Roman"/>
              </a:rPr>
              <a:t>|</a:t>
            </a:r>
            <a:r>
              <a:rPr sz="1200" spc="-20" dirty="0">
                <a:solidFill>
                  <a:srgbClr val="D8B4F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D8B4FE"/>
                </a:solidFill>
                <a:latin typeface="Times New Roman"/>
                <a:cs typeface="Times New Roman"/>
              </a:rPr>
              <a:t>Fine-</a:t>
            </a:r>
            <a:r>
              <a:rPr sz="1200" dirty="0">
                <a:solidFill>
                  <a:srgbClr val="D8B4FE"/>
                </a:solidFill>
                <a:latin typeface="Times New Roman"/>
                <a:cs typeface="Times New Roman"/>
              </a:rPr>
              <a:t>tuning</a:t>
            </a:r>
            <a:r>
              <a:rPr sz="1200" spc="-20" dirty="0">
                <a:solidFill>
                  <a:srgbClr val="D8B4FE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D8B4FE"/>
                </a:solidFill>
                <a:latin typeface="Times New Roman"/>
                <a:cs typeface="Times New Roman"/>
              </a:rPr>
              <a:t>|</a:t>
            </a:r>
            <a:r>
              <a:rPr sz="1200" spc="-15" dirty="0">
                <a:solidFill>
                  <a:srgbClr val="D8B4F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D8B4FE"/>
                </a:solidFill>
                <a:latin typeface="Times New Roman"/>
                <a:cs typeface="Times New Roman"/>
              </a:rPr>
              <a:t>Real-</a:t>
            </a:r>
            <a:r>
              <a:rPr sz="1200" dirty="0">
                <a:solidFill>
                  <a:srgbClr val="D8B4FE"/>
                </a:solidFill>
                <a:latin typeface="Times New Roman"/>
                <a:cs typeface="Times New Roman"/>
              </a:rPr>
              <a:t>time</a:t>
            </a:r>
            <a:r>
              <a:rPr sz="1200" spc="-20" dirty="0">
                <a:solidFill>
                  <a:srgbClr val="D8B4F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D8B4FE"/>
                </a:solidFill>
                <a:latin typeface="Times New Roman"/>
                <a:cs typeface="Times New Roman"/>
              </a:rPr>
              <a:t>Translation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391999" y="1286509"/>
            <a:ext cx="1882139" cy="398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2450" b="1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450" b="1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5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Works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279312" y="353536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2" y="0"/>
                </a:moveTo>
                <a:lnTo>
                  <a:pt x="55562" y="111125"/>
                </a:lnTo>
              </a:path>
              <a:path w="111125" h="111125">
                <a:moveTo>
                  <a:pt x="111125" y="55562"/>
                </a:moveTo>
                <a:lnTo>
                  <a:pt x="55562" y="111125"/>
                </a:lnTo>
                <a:lnTo>
                  <a:pt x="0" y="55562"/>
                </a:lnTo>
              </a:path>
            </a:pathLst>
          </a:custGeom>
          <a:ln w="15875">
            <a:solidFill>
              <a:srgbClr val="FF9933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2279312" y="484981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2" y="0"/>
                </a:moveTo>
                <a:lnTo>
                  <a:pt x="55562" y="111125"/>
                </a:lnTo>
              </a:path>
              <a:path w="111125" h="111125">
                <a:moveTo>
                  <a:pt x="111125" y="55562"/>
                </a:moveTo>
                <a:lnTo>
                  <a:pt x="55562" y="111125"/>
                </a:lnTo>
                <a:lnTo>
                  <a:pt x="0" y="55562"/>
                </a:lnTo>
              </a:path>
            </a:pathLst>
          </a:custGeom>
          <a:ln w="15875">
            <a:solidFill>
              <a:srgbClr val="FF9933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279312" y="616426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2" y="0"/>
                </a:moveTo>
                <a:lnTo>
                  <a:pt x="55562" y="111125"/>
                </a:lnTo>
              </a:path>
              <a:path w="111125" h="111125">
                <a:moveTo>
                  <a:pt x="111125" y="55562"/>
                </a:moveTo>
                <a:lnTo>
                  <a:pt x="55562" y="111125"/>
                </a:lnTo>
                <a:lnTo>
                  <a:pt x="0" y="55562"/>
                </a:lnTo>
              </a:path>
            </a:pathLst>
          </a:custGeom>
          <a:ln w="15875">
            <a:solidFill>
              <a:srgbClr val="FF9933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2279312" y="747871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2" y="0"/>
                </a:moveTo>
                <a:lnTo>
                  <a:pt x="55562" y="111125"/>
                </a:lnTo>
              </a:path>
              <a:path w="111125" h="111125">
                <a:moveTo>
                  <a:pt x="111125" y="55562"/>
                </a:moveTo>
                <a:lnTo>
                  <a:pt x="55562" y="111125"/>
                </a:lnTo>
                <a:lnTo>
                  <a:pt x="0" y="55562"/>
                </a:lnTo>
              </a:path>
            </a:pathLst>
          </a:custGeom>
          <a:ln w="15875">
            <a:solidFill>
              <a:srgbClr val="FF9933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321484" y="9933047"/>
            <a:ext cx="1369695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75" dirty="0">
                <a:solidFill>
                  <a:srgbClr val="FFFFFF"/>
                </a:solidFill>
                <a:latin typeface="Times New Roman"/>
                <a:cs typeface="Times New Roman"/>
              </a:rPr>
              <a:t>04 </a:t>
            </a:r>
            <a:r>
              <a:rPr sz="1300" spc="55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13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Core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0"/>
            <a:ext cx="18288000" cy="876300"/>
            <a:chOff x="0" y="0"/>
            <a:chExt cx="18288000" cy="876300"/>
          </a:xfrm>
        </p:grpSpPr>
        <p:sp>
          <p:nvSpPr>
            <p:cNvPr id="34" name="object 34"/>
            <p:cNvSpPr/>
            <p:nvPr/>
          </p:nvSpPr>
          <p:spPr>
            <a:xfrm>
              <a:off x="0" y="0"/>
              <a:ext cx="18288000" cy="876300"/>
            </a:xfrm>
            <a:custGeom>
              <a:avLst/>
              <a:gdLst/>
              <a:ahLst/>
              <a:cxnLst/>
              <a:rect l="l" t="t" r="r" b="b"/>
              <a:pathLst>
                <a:path w="18288000" h="876300">
                  <a:moveTo>
                    <a:pt x="18288000" y="876300"/>
                  </a:moveTo>
                  <a:lnTo>
                    <a:pt x="0" y="876300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87630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671512" y="252412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71475" y="247650"/>
                  </a:moveTo>
                  <a:lnTo>
                    <a:pt x="351052" y="283688"/>
                  </a:lnTo>
                  <a:lnTo>
                    <a:pt x="345995" y="285783"/>
                  </a:lnTo>
                  <a:lnTo>
                    <a:pt x="340938" y="287877"/>
                  </a:lnTo>
                  <a:lnTo>
                    <a:pt x="335673" y="288925"/>
                  </a:lnTo>
                  <a:lnTo>
                    <a:pt x="330200" y="288925"/>
                  </a:lnTo>
                  <a:lnTo>
                    <a:pt x="82550" y="288925"/>
                  </a:lnTo>
                  <a:lnTo>
                    <a:pt x="0" y="371475"/>
                  </a:lnTo>
                  <a:lnTo>
                    <a:pt x="0" y="41275"/>
                  </a:lnTo>
                  <a:lnTo>
                    <a:pt x="0" y="35801"/>
                  </a:lnTo>
                  <a:lnTo>
                    <a:pt x="1047" y="30536"/>
                  </a:lnTo>
                  <a:lnTo>
                    <a:pt x="3141" y="25479"/>
                  </a:lnTo>
                  <a:lnTo>
                    <a:pt x="5236" y="20422"/>
                  </a:lnTo>
                  <a:lnTo>
                    <a:pt x="8218" y="15959"/>
                  </a:lnTo>
                  <a:lnTo>
                    <a:pt x="12089" y="12089"/>
                  </a:lnTo>
                  <a:lnTo>
                    <a:pt x="15959" y="8218"/>
                  </a:lnTo>
                  <a:lnTo>
                    <a:pt x="20422" y="5236"/>
                  </a:lnTo>
                  <a:lnTo>
                    <a:pt x="25479" y="3141"/>
                  </a:lnTo>
                  <a:lnTo>
                    <a:pt x="30536" y="1047"/>
                  </a:lnTo>
                  <a:lnTo>
                    <a:pt x="35801" y="0"/>
                  </a:lnTo>
                  <a:lnTo>
                    <a:pt x="41275" y="0"/>
                  </a:lnTo>
                  <a:lnTo>
                    <a:pt x="330200" y="0"/>
                  </a:lnTo>
                  <a:lnTo>
                    <a:pt x="335673" y="0"/>
                  </a:lnTo>
                  <a:lnTo>
                    <a:pt x="340938" y="1047"/>
                  </a:lnTo>
                  <a:lnTo>
                    <a:pt x="370427" y="30536"/>
                  </a:lnTo>
                  <a:lnTo>
                    <a:pt x="371475" y="41275"/>
                  </a:lnTo>
                  <a:lnTo>
                    <a:pt x="371475" y="247650"/>
                  </a:lnTo>
                  <a:close/>
                </a:path>
              </a:pathLst>
            </a:custGeom>
            <a:ln w="41275">
              <a:solidFill>
                <a:srgbClr val="BF83FB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977900" y="-12326"/>
            <a:ext cx="14570710" cy="7970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95"/>
              </a:spcBef>
            </a:pPr>
            <a:r>
              <a:rPr spc="-265" dirty="0">
                <a:latin typeface="Times New Roman"/>
                <a:cs typeface="Times New Roman"/>
              </a:rPr>
              <a:t>Feature</a:t>
            </a:r>
            <a:r>
              <a:rPr spc="-355" dirty="0">
                <a:latin typeface="Times New Roman"/>
                <a:cs typeface="Times New Roman"/>
              </a:rPr>
              <a:t> </a:t>
            </a:r>
            <a:r>
              <a:rPr sz="4900" dirty="0">
                <a:latin typeface="Times New Roman"/>
                <a:cs typeface="Times New Roman"/>
              </a:rPr>
              <a:t>1:</a:t>
            </a:r>
            <a:r>
              <a:rPr sz="4900" spc="-75" dirty="0">
                <a:latin typeface="Times New Roman"/>
                <a:cs typeface="Times New Roman"/>
              </a:rPr>
              <a:t> </a:t>
            </a:r>
            <a:r>
              <a:rPr spc="-245" dirty="0">
                <a:latin typeface="Times New Roman"/>
                <a:cs typeface="Times New Roman"/>
              </a:rPr>
              <a:t>Cultural</a:t>
            </a:r>
            <a:r>
              <a:rPr spc="-355" dirty="0">
                <a:latin typeface="Times New Roman"/>
                <a:cs typeface="Times New Roman"/>
              </a:rPr>
              <a:t> </a:t>
            </a:r>
            <a:r>
              <a:rPr spc="-250" dirty="0">
                <a:latin typeface="Times New Roman"/>
                <a:cs typeface="Times New Roman"/>
              </a:rPr>
              <a:t>Context</a:t>
            </a:r>
            <a:r>
              <a:rPr spc="-355" dirty="0">
                <a:latin typeface="Times New Roman"/>
                <a:cs typeface="Times New Roman"/>
              </a:rPr>
              <a:t> </a:t>
            </a:r>
            <a:r>
              <a:rPr spc="-250" dirty="0">
                <a:latin typeface="Times New Roman"/>
                <a:cs typeface="Times New Roman"/>
              </a:rPr>
              <a:t>AI</a:t>
            </a:r>
            <a:r>
              <a:rPr spc="-355" dirty="0">
                <a:latin typeface="Times New Roman"/>
                <a:cs typeface="Times New Roman"/>
              </a:rPr>
              <a:t> </a:t>
            </a:r>
            <a:r>
              <a:rPr spc="-185" dirty="0">
                <a:latin typeface="Times New Roman"/>
                <a:cs typeface="Times New Roman"/>
              </a:rPr>
              <a:t>Negotiation</a:t>
            </a:r>
            <a:endParaRPr sz="49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838950" y="2486024"/>
            <a:ext cx="10991850" cy="971550"/>
            <a:chOff x="6838950" y="2486024"/>
            <a:chExt cx="10991850" cy="971550"/>
          </a:xfrm>
        </p:grpSpPr>
        <p:sp>
          <p:nvSpPr>
            <p:cNvPr id="38" name="object 38"/>
            <p:cNvSpPr/>
            <p:nvPr/>
          </p:nvSpPr>
          <p:spPr>
            <a:xfrm>
              <a:off x="6838950" y="2486024"/>
              <a:ext cx="10991850" cy="971550"/>
            </a:xfrm>
            <a:custGeom>
              <a:avLst/>
              <a:gdLst/>
              <a:ahLst/>
              <a:cxnLst/>
              <a:rect l="l" t="t" r="r" b="b"/>
              <a:pathLst>
                <a:path w="10991850" h="971550">
                  <a:moveTo>
                    <a:pt x="10877550" y="971550"/>
                  </a:moveTo>
                  <a:lnTo>
                    <a:pt x="114300" y="971550"/>
                  </a:lnTo>
                  <a:lnTo>
                    <a:pt x="103040" y="971006"/>
                  </a:lnTo>
                  <a:lnTo>
                    <a:pt x="60364" y="958038"/>
                  </a:lnTo>
                  <a:lnTo>
                    <a:pt x="25900" y="929725"/>
                  </a:lnTo>
                  <a:lnTo>
                    <a:pt x="4894" y="890379"/>
                  </a:lnTo>
                  <a:lnTo>
                    <a:pt x="0" y="8572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877550" y="0"/>
                  </a:lnTo>
                  <a:lnTo>
                    <a:pt x="10921288" y="8700"/>
                  </a:lnTo>
                  <a:lnTo>
                    <a:pt x="10958370" y="33477"/>
                  </a:lnTo>
                  <a:lnTo>
                    <a:pt x="10983148" y="70559"/>
                  </a:lnTo>
                  <a:lnTo>
                    <a:pt x="10991850" y="114300"/>
                  </a:lnTo>
                  <a:lnTo>
                    <a:pt x="10991850" y="857250"/>
                  </a:lnTo>
                  <a:lnTo>
                    <a:pt x="10983148" y="900990"/>
                  </a:lnTo>
                  <a:lnTo>
                    <a:pt x="10958370" y="938072"/>
                  </a:lnTo>
                  <a:lnTo>
                    <a:pt x="10921288" y="962849"/>
                  </a:lnTo>
                  <a:lnTo>
                    <a:pt x="10877550" y="9715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838950" y="2486025"/>
              <a:ext cx="10991850" cy="971550"/>
            </a:xfrm>
            <a:custGeom>
              <a:avLst/>
              <a:gdLst/>
              <a:ahLst/>
              <a:cxnLst/>
              <a:rect l="l" t="t" r="r" b="b"/>
              <a:pathLst>
                <a:path w="10991850" h="971550">
                  <a:moveTo>
                    <a:pt x="10877549" y="971549"/>
                  </a:moveTo>
                  <a:lnTo>
                    <a:pt x="114299" y="971549"/>
                  </a:lnTo>
                  <a:lnTo>
                    <a:pt x="103040" y="971006"/>
                  </a:lnTo>
                  <a:lnTo>
                    <a:pt x="60364" y="958037"/>
                  </a:lnTo>
                  <a:lnTo>
                    <a:pt x="25900" y="929725"/>
                  </a:lnTo>
                  <a:lnTo>
                    <a:pt x="4894" y="890379"/>
                  </a:lnTo>
                  <a:lnTo>
                    <a:pt x="0" y="857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77549" y="0"/>
                  </a:lnTo>
                  <a:lnTo>
                    <a:pt x="10921288" y="8700"/>
                  </a:lnTo>
                  <a:lnTo>
                    <a:pt x="10923035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64129"/>
                  </a:lnTo>
                  <a:lnTo>
                    <a:pt x="20133" y="903701"/>
                  </a:lnTo>
                  <a:lnTo>
                    <a:pt x="45077" y="936201"/>
                  </a:lnTo>
                  <a:lnTo>
                    <a:pt x="80560" y="956682"/>
                  </a:lnTo>
                  <a:lnTo>
                    <a:pt x="107420" y="962024"/>
                  </a:lnTo>
                  <a:lnTo>
                    <a:pt x="10923035" y="962024"/>
                  </a:lnTo>
                  <a:lnTo>
                    <a:pt x="10921288" y="962849"/>
                  </a:lnTo>
                  <a:lnTo>
                    <a:pt x="10910678" y="966655"/>
                  </a:lnTo>
                  <a:lnTo>
                    <a:pt x="10899851" y="969374"/>
                  </a:lnTo>
                  <a:lnTo>
                    <a:pt x="10888808" y="971006"/>
                  </a:lnTo>
                  <a:lnTo>
                    <a:pt x="10877549" y="971549"/>
                  </a:lnTo>
                  <a:close/>
                </a:path>
                <a:path w="10991850" h="971550">
                  <a:moveTo>
                    <a:pt x="10923035" y="962024"/>
                  </a:moveTo>
                  <a:lnTo>
                    <a:pt x="10884429" y="962024"/>
                  </a:lnTo>
                  <a:lnTo>
                    <a:pt x="10891242" y="961353"/>
                  </a:lnTo>
                  <a:lnTo>
                    <a:pt x="10904736" y="958669"/>
                  </a:lnTo>
                  <a:lnTo>
                    <a:pt x="10941478" y="940545"/>
                  </a:lnTo>
                  <a:lnTo>
                    <a:pt x="10968487" y="909739"/>
                  </a:lnTo>
                  <a:lnTo>
                    <a:pt x="10981652" y="870943"/>
                  </a:lnTo>
                  <a:lnTo>
                    <a:pt x="10982324" y="864129"/>
                  </a:lnTo>
                  <a:lnTo>
                    <a:pt x="10982324" y="107420"/>
                  </a:lnTo>
                  <a:lnTo>
                    <a:pt x="10971714" y="67848"/>
                  </a:lnTo>
                  <a:lnTo>
                    <a:pt x="10946770" y="35348"/>
                  </a:lnTo>
                  <a:lnTo>
                    <a:pt x="10911287" y="14867"/>
                  </a:lnTo>
                  <a:lnTo>
                    <a:pt x="10884429" y="9524"/>
                  </a:lnTo>
                  <a:lnTo>
                    <a:pt x="10923035" y="9524"/>
                  </a:lnTo>
                  <a:lnTo>
                    <a:pt x="10958370" y="33477"/>
                  </a:lnTo>
                  <a:lnTo>
                    <a:pt x="10983147" y="70559"/>
                  </a:lnTo>
                  <a:lnTo>
                    <a:pt x="10991849" y="114299"/>
                  </a:lnTo>
                  <a:lnTo>
                    <a:pt x="10991849" y="857249"/>
                  </a:lnTo>
                  <a:lnTo>
                    <a:pt x="10983147" y="900990"/>
                  </a:lnTo>
                  <a:lnTo>
                    <a:pt x="10958370" y="938072"/>
                  </a:lnTo>
                  <a:lnTo>
                    <a:pt x="10931483" y="958037"/>
                  </a:lnTo>
                  <a:lnTo>
                    <a:pt x="10923035" y="962024"/>
                  </a:lnTo>
                  <a:close/>
                </a:path>
              </a:pathLst>
            </a:custGeom>
            <a:solidFill>
              <a:srgbClr val="BF83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6962774" y="27813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lnTo>
                    <a:pt x="144200" y="375289"/>
                  </a:lnTo>
                  <a:lnTo>
                    <a:pt x="100696" y="358507"/>
                  </a:lnTo>
                  <a:lnTo>
                    <a:pt x="62575" y="331659"/>
                  </a:lnTo>
                  <a:lnTo>
                    <a:pt x="32104" y="296336"/>
                  </a:lnTo>
                  <a:lnTo>
                    <a:pt x="11130" y="254667"/>
                  </a:lnTo>
                  <a:lnTo>
                    <a:pt x="914" y="209172"/>
                  </a:lnTo>
                  <a:lnTo>
                    <a:pt x="0" y="190500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5" y="55795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500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5"/>
                  </a:lnTo>
                  <a:lnTo>
                    <a:pt x="353902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1000" y="190500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095628" y="2816624"/>
            <a:ext cx="107950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32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42" name="object 4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08875" y="2844800"/>
            <a:ext cx="279400" cy="254000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7936805" y="2528275"/>
            <a:ext cx="4119879" cy="7880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000" b="1" spc="-120" dirty="0">
                <a:solidFill>
                  <a:srgbClr val="FFFFFF"/>
                </a:solidFill>
                <a:latin typeface="Times New Roman"/>
                <a:cs typeface="Times New Roman"/>
              </a:rPr>
              <a:t>Buyer</a:t>
            </a:r>
            <a:r>
              <a:rPr sz="2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Inquiry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3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13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buyer</a:t>
            </a:r>
            <a:r>
              <a:rPr sz="13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expresses</a:t>
            </a:r>
            <a:r>
              <a:rPr sz="13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interest</a:t>
            </a:r>
            <a:r>
              <a:rPr sz="13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3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3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artisan's</a:t>
            </a:r>
            <a:r>
              <a:rPr sz="13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product.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i="1" dirty="0">
                <a:solidFill>
                  <a:srgbClr val="D8B4FE"/>
                </a:solidFill>
                <a:latin typeface="Times New Roman"/>
                <a:cs typeface="Times New Roman"/>
              </a:rPr>
              <a:t>Web Platform / Mobile </a:t>
            </a:r>
            <a:r>
              <a:rPr sz="1050" i="1" spc="-25" dirty="0">
                <a:solidFill>
                  <a:srgbClr val="D8B4FE"/>
                </a:solidFill>
                <a:latin typeface="Times New Roman"/>
                <a:cs typeface="Times New Roman"/>
              </a:rPr>
              <a:t>PWA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838950" y="3800475"/>
            <a:ext cx="10991850" cy="971550"/>
            <a:chOff x="6838950" y="3800475"/>
            <a:chExt cx="10991850" cy="971550"/>
          </a:xfrm>
        </p:grpSpPr>
        <p:sp>
          <p:nvSpPr>
            <p:cNvPr id="45" name="object 45"/>
            <p:cNvSpPr/>
            <p:nvPr/>
          </p:nvSpPr>
          <p:spPr>
            <a:xfrm>
              <a:off x="6838950" y="3800475"/>
              <a:ext cx="10991850" cy="971550"/>
            </a:xfrm>
            <a:custGeom>
              <a:avLst/>
              <a:gdLst/>
              <a:ahLst/>
              <a:cxnLst/>
              <a:rect l="l" t="t" r="r" b="b"/>
              <a:pathLst>
                <a:path w="10991850" h="971550">
                  <a:moveTo>
                    <a:pt x="10877550" y="971550"/>
                  </a:moveTo>
                  <a:lnTo>
                    <a:pt x="114300" y="971550"/>
                  </a:lnTo>
                  <a:lnTo>
                    <a:pt x="103040" y="971006"/>
                  </a:lnTo>
                  <a:lnTo>
                    <a:pt x="60364" y="958038"/>
                  </a:lnTo>
                  <a:lnTo>
                    <a:pt x="25900" y="929725"/>
                  </a:lnTo>
                  <a:lnTo>
                    <a:pt x="4894" y="890379"/>
                  </a:lnTo>
                  <a:lnTo>
                    <a:pt x="0" y="8572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877550" y="0"/>
                  </a:lnTo>
                  <a:lnTo>
                    <a:pt x="10921288" y="8700"/>
                  </a:lnTo>
                  <a:lnTo>
                    <a:pt x="10958370" y="33477"/>
                  </a:lnTo>
                  <a:lnTo>
                    <a:pt x="10983148" y="70559"/>
                  </a:lnTo>
                  <a:lnTo>
                    <a:pt x="10991850" y="114300"/>
                  </a:lnTo>
                  <a:lnTo>
                    <a:pt x="10991850" y="857250"/>
                  </a:lnTo>
                  <a:lnTo>
                    <a:pt x="10983148" y="900990"/>
                  </a:lnTo>
                  <a:lnTo>
                    <a:pt x="10958370" y="938072"/>
                  </a:lnTo>
                  <a:lnTo>
                    <a:pt x="10921288" y="962849"/>
                  </a:lnTo>
                  <a:lnTo>
                    <a:pt x="10877550" y="9715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6838950" y="3800475"/>
              <a:ext cx="10991850" cy="971550"/>
            </a:xfrm>
            <a:custGeom>
              <a:avLst/>
              <a:gdLst/>
              <a:ahLst/>
              <a:cxnLst/>
              <a:rect l="l" t="t" r="r" b="b"/>
              <a:pathLst>
                <a:path w="10991850" h="971550">
                  <a:moveTo>
                    <a:pt x="10877549" y="971549"/>
                  </a:moveTo>
                  <a:lnTo>
                    <a:pt x="114299" y="971549"/>
                  </a:lnTo>
                  <a:lnTo>
                    <a:pt x="103040" y="971006"/>
                  </a:lnTo>
                  <a:lnTo>
                    <a:pt x="60364" y="958038"/>
                  </a:lnTo>
                  <a:lnTo>
                    <a:pt x="25900" y="929725"/>
                  </a:lnTo>
                  <a:lnTo>
                    <a:pt x="4894" y="890379"/>
                  </a:lnTo>
                  <a:lnTo>
                    <a:pt x="0" y="857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77549" y="0"/>
                  </a:lnTo>
                  <a:lnTo>
                    <a:pt x="10921288" y="8700"/>
                  </a:lnTo>
                  <a:lnTo>
                    <a:pt x="10923035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64129"/>
                  </a:lnTo>
                  <a:lnTo>
                    <a:pt x="20133" y="903701"/>
                  </a:lnTo>
                  <a:lnTo>
                    <a:pt x="45077" y="936201"/>
                  </a:lnTo>
                  <a:lnTo>
                    <a:pt x="80560" y="956682"/>
                  </a:lnTo>
                  <a:lnTo>
                    <a:pt x="107420" y="962024"/>
                  </a:lnTo>
                  <a:lnTo>
                    <a:pt x="10923035" y="962024"/>
                  </a:lnTo>
                  <a:lnTo>
                    <a:pt x="10921288" y="962849"/>
                  </a:lnTo>
                  <a:lnTo>
                    <a:pt x="10910678" y="966655"/>
                  </a:lnTo>
                  <a:lnTo>
                    <a:pt x="10899851" y="969374"/>
                  </a:lnTo>
                  <a:lnTo>
                    <a:pt x="10888808" y="971006"/>
                  </a:lnTo>
                  <a:lnTo>
                    <a:pt x="10877549" y="971549"/>
                  </a:lnTo>
                  <a:close/>
                </a:path>
                <a:path w="10991850" h="971550">
                  <a:moveTo>
                    <a:pt x="10923035" y="962024"/>
                  </a:moveTo>
                  <a:lnTo>
                    <a:pt x="10884429" y="962024"/>
                  </a:lnTo>
                  <a:lnTo>
                    <a:pt x="10891242" y="961353"/>
                  </a:lnTo>
                  <a:lnTo>
                    <a:pt x="10904736" y="958669"/>
                  </a:lnTo>
                  <a:lnTo>
                    <a:pt x="10941478" y="940545"/>
                  </a:lnTo>
                  <a:lnTo>
                    <a:pt x="10968487" y="909739"/>
                  </a:lnTo>
                  <a:lnTo>
                    <a:pt x="10981652" y="870943"/>
                  </a:lnTo>
                  <a:lnTo>
                    <a:pt x="10982324" y="864129"/>
                  </a:lnTo>
                  <a:lnTo>
                    <a:pt x="10982324" y="107420"/>
                  </a:lnTo>
                  <a:lnTo>
                    <a:pt x="10971714" y="67848"/>
                  </a:lnTo>
                  <a:lnTo>
                    <a:pt x="10946770" y="35348"/>
                  </a:lnTo>
                  <a:lnTo>
                    <a:pt x="10911287" y="14867"/>
                  </a:lnTo>
                  <a:lnTo>
                    <a:pt x="10884429" y="9524"/>
                  </a:lnTo>
                  <a:lnTo>
                    <a:pt x="10923035" y="9524"/>
                  </a:lnTo>
                  <a:lnTo>
                    <a:pt x="10958370" y="33477"/>
                  </a:lnTo>
                  <a:lnTo>
                    <a:pt x="10983147" y="70559"/>
                  </a:lnTo>
                  <a:lnTo>
                    <a:pt x="10991849" y="114299"/>
                  </a:lnTo>
                  <a:lnTo>
                    <a:pt x="10991849" y="857249"/>
                  </a:lnTo>
                  <a:lnTo>
                    <a:pt x="10983147" y="900990"/>
                  </a:lnTo>
                  <a:lnTo>
                    <a:pt x="10958370" y="938072"/>
                  </a:lnTo>
                  <a:lnTo>
                    <a:pt x="10931483" y="958038"/>
                  </a:lnTo>
                  <a:lnTo>
                    <a:pt x="10923035" y="962024"/>
                  </a:lnTo>
                  <a:close/>
                </a:path>
              </a:pathLst>
            </a:custGeom>
            <a:solidFill>
              <a:srgbClr val="BF83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6962774" y="40957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lnTo>
                    <a:pt x="144200" y="375289"/>
                  </a:lnTo>
                  <a:lnTo>
                    <a:pt x="100696" y="358507"/>
                  </a:lnTo>
                  <a:lnTo>
                    <a:pt x="62575" y="331659"/>
                  </a:lnTo>
                  <a:lnTo>
                    <a:pt x="32104" y="296336"/>
                  </a:lnTo>
                  <a:lnTo>
                    <a:pt x="11130" y="254667"/>
                  </a:lnTo>
                  <a:lnTo>
                    <a:pt x="914" y="209172"/>
                  </a:lnTo>
                  <a:lnTo>
                    <a:pt x="0" y="190500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5" y="55795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500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5"/>
                  </a:lnTo>
                  <a:lnTo>
                    <a:pt x="353902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1000" y="190500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076578" y="4131074"/>
            <a:ext cx="145415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49" name="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21575" y="4159250"/>
            <a:ext cx="254000" cy="254000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7936805" y="3842725"/>
            <a:ext cx="4318000" cy="7880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Context</a:t>
            </a:r>
            <a:r>
              <a:rPr sz="20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Understanding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analyzes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details,</a:t>
            </a:r>
            <a:r>
              <a:rPr sz="13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artisan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costs,</a:t>
            </a:r>
            <a:r>
              <a:rPr sz="13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market</a:t>
            </a:r>
            <a:r>
              <a:rPr sz="13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rates.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i="1" dirty="0">
                <a:solidFill>
                  <a:srgbClr val="D8B4FE"/>
                </a:solidFill>
                <a:latin typeface="Times New Roman"/>
                <a:cs typeface="Times New Roman"/>
              </a:rPr>
              <a:t>GPT-4 | Market Data </a:t>
            </a:r>
            <a:r>
              <a:rPr sz="1050" i="1" spc="-25" dirty="0">
                <a:solidFill>
                  <a:srgbClr val="D8B4FE"/>
                </a:solidFill>
                <a:latin typeface="Times New Roman"/>
                <a:cs typeface="Times New Roman"/>
              </a:rPr>
              <a:t>API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838950" y="5114925"/>
            <a:ext cx="10991850" cy="971550"/>
            <a:chOff x="6838950" y="5114925"/>
            <a:chExt cx="10991850" cy="971550"/>
          </a:xfrm>
        </p:grpSpPr>
        <p:sp>
          <p:nvSpPr>
            <p:cNvPr id="52" name="object 52"/>
            <p:cNvSpPr/>
            <p:nvPr/>
          </p:nvSpPr>
          <p:spPr>
            <a:xfrm>
              <a:off x="6838950" y="5114925"/>
              <a:ext cx="10991850" cy="971550"/>
            </a:xfrm>
            <a:custGeom>
              <a:avLst/>
              <a:gdLst/>
              <a:ahLst/>
              <a:cxnLst/>
              <a:rect l="l" t="t" r="r" b="b"/>
              <a:pathLst>
                <a:path w="10991850" h="971550">
                  <a:moveTo>
                    <a:pt x="10877550" y="971550"/>
                  </a:moveTo>
                  <a:lnTo>
                    <a:pt x="114300" y="971550"/>
                  </a:lnTo>
                  <a:lnTo>
                    <a:pt x="103040" y="971006"/>
                  </a:lnTo>
                  <a:lnTo>
                    <a:pt x="60364" y="958037"/>
                  </a:lnTo>
                  <a:lnTo>
                    <a:pt x="25900" y="929725"/>
                  </a:lnTo>
                  <a:lnTo>
                    <a:pt x="4894" y="890379"/>
                  </a:lnTo>
                  <a:lnTo>
                    <a:pt x="0" y="8572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877550" y="0"/>
                  </a:lnTo>
                  <a:lnTo>
                    <a:pt x="10921288" y="8700"/>
                  </a:lnTo>
                  <a:lnTo>
                    <a:pt x="10958370" y="33477"/>
                  </a:lnTo>
                  <a:lnTo>
                    <a:pt x="10983148" y="70559"/>
                  </a:lnTo>
                  <a:lnTo>
                    <a:pt x="10991850" y="114300"/>
                  </a:lnTo>
                  <a:lnTo>
                    <a:pt x="10991850" y="857250"/>
                  </a:lnTo>
                  <a:lnTo>
                    <a:pt x="10983148" y="900990"/>
                  </a:lnTo>
                  <a:lnTo>
                    <a:pt x="10958370" y="938072"/>
                  </a:lnTo>
                  <a:lnTo>
                    <a:pt x="10921288" y="962849"/>
                  </a:lnTo>
                  <a:lnTo>
                    <a:pt x="10877550" y="9715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6838950" y="5114925"/>
              <a:ext cx="10991850" cy="971550"/>
            </a:xfrm>
            <a:custGeom>
              <a:avLst/>
              <a:gdLst/>
              <a:ahLst/>
              <a:cxnLst/>
              <a:rect l="l" t="t" r="r" b="b"/>
              <a:pathLst>
                <a:path w="10991850" h="971550">
                  <a:moveTo>
                    <a:pt x="10877549" y="971549"/>
                  </a:moveTo>
                  <a:lnTo>
                    <a:pt x="114299" y="971549"/>
                  </a:lnTo>
                  <a:lnTo>
                    <a:pt x="103040" y="971006"/>
                  </a:lnTo>
                  <a:lnTo>
                    <a:pt x="60364" y="958037"/>
                  </a:lnTo>
                  <a:lnTo>
                    <a:pt x="25900" y="929725"/>
                  </a:lnTo>
                  <a:lnTo>
                    <a:pt x="4894" y="890379"/>
                  </a:lnTo>
                  <a:lnTo>
                    <a:pt x="0" y="857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77549" y="0"/>
                  </a:lnTo>
                  <a:lnTo>
                    <a:pt x="10921288" y="8700"/>
                  </a:lnTo>
                  <a:lnTo>
                    <a:pt x="10923035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64129"/>
                  </a:lnTo>
                  <a:lnTo>
                    <a:pt x="20133" y="903701"/>
                  </a:lnTo>
                  <a:lnTo>
                    <a:pt x="45077" y="936201"/>
                  </a:lnTo>
                  <a:lnTo>
                    <a:pt x="80560" y="956682"/>
                  </a:lnTo>
                  <a:lnTo>
                    <a:pt x="107420" y="962024"/>
                  </a:lnTo>
                  <a:lnTo>
                    <a:pt x="10923035" y="962024"/>
                  </a:lnTo>
                  <a:lnTo>
                    <a:pt x="10921288" y="962849"/>
                  </a:lnTo>
                  <a:lnTo>
                    <a:pt x="10910678" y="966655"/>
                  </a:lnTo>
                  <a:lnTo>
                    <a:pt x="10899851" y="969374"/>
                  </a:lnTo>
                  <a:lnTo>
                    <a:pt x="10888808" y="971006"/>
                  </a:lnTo>
                  <a:lnTo>
                    <a:pt x="10877549" y="971549"/>
                  </a:lnTo>
                  <a:close/>
                </a:path>
                <a:path w="10991850" h="971550">
                  <a:moveTo>
                    <a:pt x="10923035" y="962024"/>
                  </a:moveTo>
                  <a:lnTo>
                    <a:pt x="10884429" y="962024"/>
                  </a:lnTo>
                  <a:lnTo>
                    <a:pt x="10891242" y="961353"/>
                  </a:lnTo>
                  <a:lnTo>
                    <a:pt x="10904736" y="958669"/>
                  </a:lnTo>
                  <a:lnTo>
                    <a:pt x="10941478" y="940544"/>
                  </a:lnTo>
                  <a:lnTo>
                    <a:pt x="10968487" y="909739"/>
                  </a:lnTo>
                  <a:lnTo>
                    <a:pt x="10981652" y="870943"/>
                  </a:lnTo>
                  <a:lnTo>
                    <a:pt x="10982324" y="864129"/>
                  </a:lnTo>
                  <a:lnTo>
                    <a:pt x="10982324" y="107420"/>
                  </a:lnTo>
                  <a:lnTo>
                    <a:pt x="10971714" y="67848"/>
                  </a:lnTo>
                  <a:lnTo>
                    <a:pt x="10946770" y="35348"/>
                  </a:lnTo>
                  <a:lnTo>
                    <a:pt x="10911287" y="14867"/>
                  </a:lnTo>
                  <a:lnTo>
                    <a:pt x="10884429" y="9524"/>
                  </a:lnTo>
                  <a:lnTo>
                    <a:pt x="10923035" y="9524"/>
                  </a:lnTo>
                  <a:lnTo>
                    <a:pt x="10958370" y="33477"/>
                  </a:lnTo>
                  <a:lnTo>
                    <a:pt x="10983147" y="70559"/>
                  </a:lnTo>
                  <a:lnTo>
                    <a:pt x="10991849" y="114299"/>
                  </a:lnTo>
                  <a:lnTo>
                    <a:pt x="10991849" y="857249"/>
                  </a:lnTo>
                  <a:lnTo>
                    <a:pt x="10983147" y="900990"/>
                  </a:lnTo>
                  <a:lnTo>
                    <a:pt x="10958370" y="938072"/>
                  </a:lnTo>
                  <a:lnTo>
                    <a:pt x="10931483" y="958037"/>
                  </a:lnTo>
                  <a:lnTo>
                    <a:pt x="10923035" y="962024"/>
                  </a:lnTo>
                  <a:close/>
                </a:path>
              </a:pathLst>
            </a:custGeom>
            <a:solidFill>
              <a:srgbClr val="BF83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6962774" y="54102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lnTo>
                    <a:pt x="144200" y="375289"/>
                  </a:lnTo>
                  <a:lnTo>
                    <a:pt x="100696" y="358507"/>
                  </a:lnTo>
                  <a:lnTo>
                    <a:pt x="62575" y="331658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500"/>
                  </a:lnTo>
                  <a:lnTo>
                    <a:pt x="228" y="181140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5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500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2" y="92571"/>
                  </a:lnTo>
                  <a:lnTo>
                    <a:pt x="372798" y="135199"/>
                  </a:lnTo>
                  <a:lnTo>
                    <a:pt x="380770" y="181140"/>
                  </a:lnTo>
                  <a:lnTo>
                    <a:pt x="381000" y="190500"/>
                  </a:lnTo>
                  <a:lnTo>
                    <a:pt x="380770" y="199858"/>
                  </a:lnTo>
                  <a:lnTo>
                    <a:pt x="372798" y="245798"/>
                  </a:lnTo>
                  <a:lnTo>
                    <a:pt x="353902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075090" y="5445524"/>
            <a:ext cx="148590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521575" y="5486212"/>
            <a:ext cx="241935" cy="241935"/>
          </a:xfrm>
          <a:custGeom>
            <a:avLst/>
            <a:gdLst/>
            <a:ahLst/>
            <a:cxnLst/>
            <a:rect l="l" t="t" r="r" b="b"/>
            <a:pathLst>
              <a:path w="241934" h="241935">
                <a:moveTo>
                  <a:pt x="74930" y="216088"/>
                </a:moveTo>
                <a:lnTo>
                  <a:pt x="78932" y="218141"/>
                </a:lnTo>
                <a:lnTo>
                  <a:pt x="83041" y="219951"/>
                </a:lnTo>
                <a:lnTo>
                  <a:pt x="87257" y="221519"/>
                </a:lnTo>
                <a:lnTo>
                  <a:pt x="91473" y="223087"/>
                </a:lnTo>
                <a:lnTo>
                  <a:pt x="95766" y="224402"/>
                </a:lnTo>
                <a:lnTo>
                  <a:pt x="100138" y="225463"/>
                </a:lnTo>
                <a:lnTo>
                  <a:pt x="104509" y="226524"/>
                </a:lnTo>
                <a:lnTo>
                  <a:pt x="126838" y="228688"/>
                </a:lnTo>
                <a:lnTo>
                  <a:pt x="131337" y="228698"/>
                </a:lnTo>
                <a:lnTo>
                  <a:pt x="153554" y="225584"/>
                </a:lnTo>
                <a:lnTo>
                  <a:pt x="157930" y="224543"/>
                </a:lnTo>
                <a:lnTo>
                  <a:pt x="162229" y="223248"/>
                </a:lnTo>
                <a:lnTo>
                  <a:pt x="166452" y="221700"/>
                </a:lnTo>
                <a:lnTo>
                  <a:pt x="170676" y="220151"/>
                </a:lnTo>
                <a:lnTo>
                  <a:pt x="190438" y="209533"/>
                </a:lnTo>
                <a:lnTo>
                  <a:pt x="194183" y="207041"/>
                </a:lnTo>
                <a:lnTo>
                  <a:pt x="197767" y="204337"/>
                </a:lnTo>
                <a:lnTo>
                  <a:pt x="201192" y="201421"/>
                </a:lnTo>
                <a:lnTo>
                  <a:pt x="204617" y="198505"/>
                </a:lnTo>
                <a:lnTo>
                  <a:pt x="219478" y="181698"/>
                </a:lnTo>
                <a:lnTo>
                  <a:pt x="222127" y="178063"/>
                </a:lnTo>
                <a:lnTo>
                  <a:pt x="224553" y="174284"/>
                </a:lnTo>
                <a:lnTo>
                  <a:pt x="226755" y="170362"/>
                </a:lnTo>
                <a:lnTo>
                  <a:pt x="228958" y="166441"/>
                </a:lnTo>
                <a:lnTo>
                  <a:pt x="237076" y="145526"/>
                </a:lnTo>
                <a:lnTo>
                  <a:pt x="238301" y="141199"/>
                </a:lnTo>
                <a:lnTo>
                  <a:pt x="241488" y="114472"/>
                </a:lnTo>
                <a:lnTo>
                  <a:pt x="241403" y="109983"/>
                </a:lnTo>
                <a:lnTo>
                  <a:pt x="241053" y="105498"/>
                </a:lnTo>
                <a:lnTo>
                  <a:pt x="240703" y="101014"/>
                </a:lnTo>
                <a:lnTo>
                  <a:pt x="240091" y="96565"/>
                </a:lnTo>
                <a:lnTo>
                  <a:pt x="239216" y="92153"/>
                </a:lnTo>
                <a:lnTo>
                  <a:pt x="238341" y="87741"/>
                </a:lnTo>
                <a:lnTo>
                  <a:pt x="237209" y="83395"/>
                </a:lnTo>
                <a:lnTo>
                  <a:pt x="235821" y="79117"/>
                </a:lnTo>
                <a:lnTo>
                  <a:pt x="234433" y="74838"/>
                </a:lnTo>
                <a:lnTo>
                  <a:pt x="232798" y="70656"/>
                </a:lnTo>
                <a:lnTo>
                  <a:pt x="230916" y="66571"/>
                </a:lnTo>
                <a:lnTo>
                  <a:pt x="229035" y="62485"/>
                </a:lnTo>
                <a:lnTo>
                  <a:pt x="216869" y="43636"/>
                </a:lnTo>
                <a:lnTo>
                  <a:pt x="214085" y="40103"/>
                </a:lnTo>
                <a:lnTo>
                  <a:pt x="211102" y="36746"/>
                </a:lnTo>
                <a:lnTo>
                  <a:pt x="207921" y="33566"/>
                </a:lnTo>
                <a:lnTo>
                  <a:pt x="204741" y="30385"/>
                </a:lnTo>
                <a:lnTo>
                  <a:pt x="201384" y="27403"/>
                </a:lnTo>
                <a:lnTo>
                  <a:pt x="197851" y="24618"/>
                </a:lnTo>
                <a:lnTo>
                  <a:pt x="194319" y="21834"/>
                </a:lnTo>
                <a:lnTo>
                  <a:pt x="190634" y="19267"/>
                </a:lnTo>
                <a:lnTo>
                  <a:pt x="186799" y="16918"/>
                </a:lnTo>
                <a:lnTo>
                  <a:pt x="182963" y="14568"/>
                </a:lnTo>
                <a:lnTo>
                  <a:pt x="179002" y="12453"/>
                </a:lnTo>
                <a:lnTo>
                  <a:pt x="174916" y="10571"/>
                </a:lnTo>
                <a:lnTo>
                  <a:pt x="170831" y="8689"/>
                </a:lnTo>
                <a:lnTo>
                  <a:pt x="166649" y="7054"/>
                </a:lnTo>
                <a:lnTo>
                  <a:pt x="162370" y="5666"/>
                </a:lnTo>
                <a:lnTo>
                  <a:pt x="158092" y="4278"/>
                </a:lnTo>
                <a:lnTo>
                  <a:pt x="127015" y="0"/>
                </a:lnTo>
                <a:lnTo>
                  <a:pt x="122521" y="180"/>
                </a:lnTo>
                <a:lnTo>
                  <a:pt x="95961" y="4411"/>
                </a:lnTo>
                <a:lnTo>
                  <a:pt x="91633" y="5637"/>
                </a:lnTo>
                <a:lnTo>
                  <a:pt x="56153" y="24658"/>
                </a:lnTo>
                <a:lnTo>
                  <a:pt x="49388" y="30570"/>
                </a:lnTo>
                <a:lnTo>
                  <a:pt x="46089" y="33628"/>
                </a:lnTo>
                <a:lnTo>
                  <a:pt x="31954" y="51049"/>
                </a:lnTo>
                <a:lnTo>
                  <a:pt x="29461" y="54793"/>
                </a:lnTo>
                <a:lnTo>
                  <a:pt x="27197" y="58671"/>
                </a:lnTo>
                <a:lnTo>
                  <a:pt x="25163" y="62683"/>
                </a:lnTo>
                <a:lnTo>
                  <a:pt x="23128" y="66694"/>
                </a:lnTo>
                <a:lnTo>
                  <a:pt x="13563" y="101199"/>
                </a:lnTo>
                <a:lnTo>
                  <a:pt x="13044" y="105667"/>
                </a:lnTo>
                <a:lnTo>
                  <a:pt x="12789" y="110151"/>
                </a:lnTo>
                <a:lnTo>
                  <a:pt x="12799" y="114649"/>
                </a:lnTo>
                <a:lnTo>
                  <a:pt x="12810" y="119147"/>
                </a:lnTo>
                <a:lnTo>
                  <a:pt x="16025" y="141350"/>
                </a:lnTo>
                <a:lnTo>
                  <a:pt x="17086" y="145721"/>
                </a:lnTo>
                <a:lnTo>
                  <a:pt x="18400" y="150014"/>
                </a:lnTo>
                <a:lnTo>
                  <a:pt x="19968" y="154230"/>
                </a:lnTo>
                <a:lnTo>
                  <a:pt x="21536" y="158446"/>
                </a:lnTo>
                <a:lnTo>
                  <a:pt x="23346" y="162555"/>
                </a:lnTo>
                <a:lnTo>
                  <a:pt x="25400" y="166558"/>
                </a:lnTo>
                <a:lnTo>
                  <a:pt x="0" y="241488"/>
                </a:lnTo>
                <a:lnTo>
                  <a:pt x="74930" y="216088"/>
                </a:lnTo>
                <a:close/>
              </a:path>
            </a:pathLst>
          </a:custGeom>
          <a:ln w="25400">
            <a:solidFill>
              <a:srgbClr val="BF83FB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936805" y="5157175"/>
            <a:ext cx="3861435" cy="7880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Multilingual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Negotiation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AI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facilitates</a:t>
            </a:r>
            <a:r>
              <a:rPr sz="13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time,</a:t>
            </a:r>
            <a:r>
              <a:rPr sz="13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culturally-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aware</a:t>
            </a:r>
            <a:r>
              <a:rPr sz="13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conversation.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i="1" dirty="0">
                <a:solidFill>
                  <a:srgbClr val="D8B4FE"/>
                </a:solidFill>
                <a:latin typeface="Times New Roman"/>
                <a:cs typeface="Times New Roman"/>
              </a:rPr>
              <a:t>Real-time Translation | Cultural Context </a:t>
            </a:r>
            <a:r>
              <a:rPr sz="1050" i="1" spc="-10" dirty="0">
                <a:solidFill>
                  <a:srgbClr val="D8B4FE"/>
                </a:solidFill>
                <a:latin typeface="Times New Roman"/>
                <a:cs typeface="Times New Roman"/>
              </a:rPr>
              <a:t>Engine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838950" y="6429375"/>
            <a:ext cx="10991850" cy="971550"/>
            <a:chOff x="6838950" y="6429375"/>
            <a:chExt cx="10991850" cy="971550"/>
          </a:xfrm>
        </p:grpSpPr>
        <p:sp>
          <p:nvSpPr>
            <p:cNvPr id="59" name="object 59"/>
            <p:cNvSpPr/>
            <p:nvPr/>
          </p:nvSpPr>
          <p:spPr>
            <a:xfrm>
              <a:off x="6838950" y="6429375"/>
              <a:ext cx="10991850" cy="971550"/>
            </a:xfrm>
            <a:custGeom>
              <a:avLst/>
              <a:gdLst/>
              <a:ahLst/>
              <a:cxnLst/>
              <a:rect l="l" t="t" r="r" b="b"/>
              <a:pathLst>
                <a:path w="10991850" h="971550">
                  <a:moveTo>
                    <a:pt x="10877550" y="971550"/>
                  </a:moveTo>
                  <a:lnTo>
                    <a:pt x="114300" y="971550"/>
                  </a:lnTo>
                  <a:lnTo>
                    <a:pt x="103040" y="971006"/>
                  </a:lnTo>
                  <a:lnTo>
                    <a:pt x="60364" y="958038"/>
                  </a:lnTo>
                  <a:lnTo>
                    <a:pt x="25900" y="929725"/>
                  </a:lnTo>
                  <a:lnTo>
                    <a:pt x="4894" y="890379"/>
                  </a:lnTo>
                  <a:lnTo>
                    <a:pt x="0" y="8572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877550" y="0"/>
                  </a:lnTo>
                  <a:lnTo>
                    <a:pt x="10921288" y="8700"/>
                  </a:lnTo>
                  <a:lnTo>
                    <a:pt x="10958370" y="33477"/>
                  </a:lnTo>
                  <a:lnTo>
                    <a:pt x="10983148" y="70559"/>
                  </a:lnTo>
                  <a:lnTo>
                    <a:pt x="10991850" y="114300"/>
                  </a:lnTo>
                  <a:lnTo>
                    <a:pt x="10991850" y="857250"/>
                  </a:lnTo>
                  <a:lnTo>
                    <a:pt x="10983148" y="900990"/>
                  </a:lnTo>
                  <a:lnTo>
                    <a:pt x="10958370" y="938072"/>
                  </a:lnTo>
                  <a:lnTo>
                    <a:pt x="10921288" y="962849"/>
                  </a:lnTo>
                  <a:lnTo>
                    <a:pt x="10877550" y="9715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6838950" y="6429375"/>
              <a:ext cx="10991850" cy="971550"/>
            </a:xfrm>
            <a:custGeom>
              <a:avLst/>
              <a:gdLst/>
              <a:ahLst/>
              <a:cxnLst/>
              <a:rect l="l" t="t" r="r" b="b"/>
              <a:pathLst>
                <a:path w="10991850" h="971550">
                  <a:moveTo>
                    <a:pt x="10877549" y="971549"/>
                  </a:moveTo>
                  <a:lnTo>
                    <a:pt x="114299" y="971549"/>
                  </a:lnTo>
                  <a:lnTo>
                    <a:pt x="103040" y="971006"/>
                  </a:lnTo>
                  <a:lnTo>
                    <a:pt x="60364" y="958037"/>
                  </a:lnTo>
                  <a:lnTo>
                    <a:pt x="25900" y="929725"/>
                  </a:lnTo>
                  <a:lnTo>
                    <a:pt x="4894" y="890379"/>
                  </a:lnTo>
                  <a:lnTo>
                    <a:pt x="0" y="857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77549" y="0"/>
                  </a:lnTo>
                  <a:lnTo>
                    <a:pt x="10921288" y="8700"/>
                  </a:lnTo>
                  <a:lnTo>
                    <a:pt x="10923035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64129"/>
                  </a:lnTo>
                  <a:lnTo>
                    <a:pt x="20133" y="903701"/>
                  </a:lnTo>
                  <a:lnTo>
                    <a:pt x="45077" y="936201"/>
                  </a:lnTo>
                  <a:lnTo>
                    <a:pt x="80560" y="956682"/>
                  </a:lnTo>
                  <a:lnTo>
                    <a:pt x="107420" y="962024"/>
                  </a:lnTo>
                  <a:lnTo>
                    <a:pt x="10923035" y="962024"/>
                  </a:lnTo>
                  <a:lnTo>
                    <a:pt x="10921288" y="962849"/>
                  </a:lnTo>
                  <a:lnTo>
                    <a:pt x="10910678" y="966655"/>
                  </a:lnTo>
                  <a:lnTo>
                    <a:pt x="10899851" y="969374"/>
                  </a:lnTo>
                  <a:lnTo>
                    <a:pt x="10888808" y="971006"/>
                  </a:lnTo>
                  <a:lnTo>
                    <a:pt x="10877549" y="971549"/>
                  </a:lnTo>
                  <a:close/>
                </a:path>
                <a:path w="10991850" h="971550">
                  <a:moveTo>
                    <a:pt x="10923035" y="962024"/>
                  </a:moveTo>
                  <a:lnTo>
                    <a:pt x="10884429" y="962024"/>
                  </a:lnTo>
                  <a:lnTo>
                    <a:pt x="10891242" y="961353"/>
                  </a:lnTo>
                  <a:lnTo>
                    <a:pt x="10904736" y="958669"/>
                  </a:lnTo>
                  <a:lnTo>
                    <a:pt x="10941478" y="940545"/>
                  </a:lnTo>
                  <a:lnTo>
                    <a:pt x="10968487" y="909739"/>
                  </a:lnTo>
                  <a:lnTo>
                    <a:pt x="10981652" y="870943"/>
                  </a:lnTo>
                  <a:lnTo>
                    <a:pt x="10982324" y="864129"/>
                  </a:lnTo>
                  <a:lnTo>
                    <a:pt x="10982324" y="107420"/>
                  </a:lnTo>
                  <a:lnTo>
                    <a:pt x="10971714" y="67848"/>
                  </a:lnTo>
                  <a:lnTo>
                    <a:pt x="10946770" y="35348"/>
                  </a:lnTo>
                  <a:lnTo>
                    <a:pt x="10911287" y="14867"/>
                  </a:lnTo>
                  <a:lnTo>
                    <a:pt x="10884429" y="9524"/>
                  </a:lnTo>
                  <a:lnTo>
                    <a:pt x="10923035" y="9524"/>
                  </a:lnTo>
                  <a:lnTo>
                    <a:pt x="10958370" y="33477"/>
                  </a:lnTo>
                  <a:lnTo>
                    <a:pt x="10983147" y="70559"/>
                  </a:lnTo>
                  <a:lnTo>
                    <a:pt x="10991849" y="114299"/>
                  </a:lnTo>
                  <a:lnTo>
                    <a:pt x="10991849" y="857249"/>
                  </a:lnTo>
                  <a:lnTo>
                    <a:pt x="10983147" y="900990"/>
                  </a:lnTo>
                  <a:lnTo>
                    <a:pt x="10958370" y="938072"/>
                  </a:lnTo>
                  <a:lnTo>
                    <a:pt x="10931483" y="958037"/>
                  </a:lnTo>
                  <a:lnTo>
                    <a:pt x="10923035" y="962024"/>
                  </a:lnTo>
                  <a:close/>
                </a:path>
              </a:pathLst>
            </a:custGeom>
            <a:solidFill>
              <a:srgbClr val="BF83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6962774" y="67246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lnTo>
                    <a:pt x="144200" y="375289"/>
                  </a:lnTo>
                  <a:lnTo>
                    <a:pt x="100696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500"/>
                  </a:lnTo>
                  <a:lnTo>
                    <a:pt x="228" y="181140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5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500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2" y="92571"/>
                  </a:lnTo>
                  <a:lnTo>
                    <a:pt x="372798" y="135200"/>
                  </a:lnTo>
                  <a:lnTo>
                    <a:pt x="380770" y="181140"/>
                  </a:lnTo>
                  <a:lnTo>
                    <a:pt x="381000" y="190500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2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072262" y="6759974"/>
            <a:ext cx="154305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7546975" y="6788150"/>
            <a:ext cx="203200" cy="254000"/>
          </a:xfrm>
          <a:custGeom>
            <a:avLst/>
            <a:gdLst/>
            <a:ahLst/>
            <a:cxnLst/>
            <a:rect l="l" t="t" r="r" b="b"/>
            <a:pathLst>
              <a:path w="203200" h="254000">
                <a:moveTo>
                  <a:pt x="25400" y="0"/>
                </a:moveTo>
                <a:lnTo>
                  <a:pt x="177800" y="0"/>
                </a:lnTo>
                <a:lnTo>
                  <a:pt x="181168" y="0"/>
                </a:lnTo>
                <a:lnTo>
                  <a:pt x="184408" y="644"/>
                </a:lnTo>
                <a:lnTo>
                  <a:pt x="187520" y="1933"/>
                </a:lnTo>
                <a:lnTo>
                  <a:pt x="190632" y="3222"/>
                </a:lnTo>
                <a:lnTo>
                  <a:pt x="193378" y="5057"/>
                </a:lnTo>
                <a:lnTo>
                  <a:pt x="203200" y="25400"/>
                </a:lnTo>
                <a:lnTo>
                  <a:pt x="203200" y="228600"/>
                </a:lnTo>
                <a:lnTo>
                  <a:pt x="187520" y="252066"/>
                </a:lnTo>
                <a:lnTo>
                  <a:pt x="184408" y="253355"/>
                </a:lnTo>
                <a:lnTo>
                  <a:pt x="181168" y="254000"/>
                </a:lnTo>
                <a:lnTo>
                  <a:pt x="177800" y="254000"/>
                </a:lnTo>
                <a:lnTo>
                  <a:pt x="25400" y="254000"/>
                </a:lnTo>
                <a:lnTo>
                  <a:pt x="22031" y="254000"/>
                </a:lnTo>
                <a:lnTo>
                  <a:pt x="18791" y="253355"/>
                </a:lnTo>
                <a:lnTo>
                  <a:pt x="15679" y="252066"/>
                </a:lnTo>
                <a:lnTo>
                  <a:pt x="12567" y="250777"/>
                </a:lnTo>
                <a:lnTo>
                  <a:pt x="1933" y="238320"/>
                </a:lnTo>
                <a:lnTo>
                  <a:pt x="644" y="235208"/>
                </a:lnTo>
                <a:lnTo>
                  <a:pt x="0" y="231968"/>
                </a:lnTo>
                <a:lnTo>
                  <a:pt x="0" y="228600"/>
                </a:lnTo>
                <a:lnTo>
                  <a:pt x="0" y="25400"/>
                </a:lnTo>
                <a:lnTo>
                  <a:pt x="7439" y="7439"/>
                </a:lnTo>
                <a:lnTo>
                  <a:pt x="9821" y="5057"/>
                </a:lnTo>
                <a:lnTo>
                  <a:pt x="12567" y="3222"/>
                </a:lnTo>
                <a:lnTo>
                  <a:pt x="15679" y="1933"/>
                </a:lnTo>
                <a:lnTo>
                  <a:pt x="18791" y="644"/>
                </a:lnTo>
                <a:lnTo>
                  <a:pt x="22031" y="0"/>
                </a:lnTo>
                <a:lnTo>
                  <a:pt x="25400" y="0"/>
                </a:lnTo>
                <a:close/>
              </a:path>
              <a:path w="203200" h="254000">
                <a:moveTo>
                  <a:pt x="50800" y="50800"/>
                </a:moveTo>
                <a:lnTo>
                  <a:pt x="152400" y="50800"/>
                </a:lnTo>
              </a:path>
              <a:path w="203200" h="254000">
                <a:moveTo>
                  <a:pt x="152400" y="152400"/>
                </a:moveTo>
                <a:lnTo>
                  <a:pt x="152400" y="203200"/>
                </a:lnTo>
              </a:path>
              <a:path w="203200" h="254000">
                <a:moveTo>
                  <a:pt x="152400" y="101600"/>
                </a:moveTo>
                <a:lnTo>
                  <a:pt x="152527" y="101600"/>
                </a:lnTo>
              </a:path>
              <a:path w="203200" h="254000">
                <a:moveTo>
                  <a:pt x="101600" y="101600"/>
                </a:moveTo>
                <a:lnTo>
                  <a:pt x="101727" y="101600"/>
                </a:lnTo>
              </a:path>
              <a:path w="203200" h="254000">
                <a:moveTo>
                  <a:pt x="50800" y="101600"/>
                </a:moveTo>
                <a:lnTo>
                  <a:pt x="50927" y="101600"/>
                </a:lnTo>
              </a:path>
              <a:path w="203200" h="254000">
                <a:moveTo>
                  <a:pt x="101600" y="152400"/>
                </a:moveTo>
                <a:lnTo>
                  <a:pt x="101727" y="152400"/>
                </a:lnTo>
              </a:path>
              <a:path w="203200" h="254000">
                <a:moveTo>
                  <a:pt x="50800" y="152400"/>
                </a:moveTo>
                <a:lnTo>
                  <a:pt x="50927" y="152400"/>
                </a:lnTo>
              </a:path>
              <a:path w="203200" h="254000">
                <a:moveTo>
                  <a:pt x="101600" y="203200"/>
                </a:moveTo>
                <a:lnTo>
                  <a:pt x="101727" y="203200"/>
                </a:lnTo>
              </a:path>
              <a:path w="203200" h="254000">
                <a:moveTo>
                  <a:pt x="50800" y="203200"/>
                </a:moveTo>
                <a:lnTo>
                  <a:pt x="50927" y="203200"/>
                </a:lnTo>
              </a:path>
            </a:pathLst>
          </a:custGeom>
          <a:ln w="25400">
            <a:solidFill>
              <a:srgbClr val="BF83FB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936805" y="6471625"/>
            <a:ext cx="4880610" cy="7880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Price</a:t>
            </a:r>
            <a:r>
              <a:rPr sz="2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Recommendation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suggests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fair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price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range,</a:t>
            </a:r>
            <a:r>
              <a:rPr sz="13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ensuring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artisans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get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70%+</a:t>
            </a:r>
            <a:r>
              <a:rPr sz="13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value.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i="1" dirty="0">
                <a:solidFill>
                  <a:srgbClr val="D8B4FE"/>
                </a:solidFill>
                <a:latin typeface="Times New Roman"/>
                <a:cs typeface="Times New Roman"/>
              </a:rPr>
              <a:t>Pricing Algorithm | Historical </a:t>
            </a:r>
            <a:r>
              <a:rPr sz="1050" i="1" spc="-20" dirty="0">
                <a:solidFill>
                  <a:srgbClr val="D8B4FE"/>
                </a:solidFill>
                <a:latin typeface="Times New Roman"/>
                <a:cs typeface="Times New Roman"/>
              </a:rPr>
              <a:t>Data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838950" y="7743825"/>
            <a:ext cx="10991850" cy="971550"/>
            <a:chOff x="6838950" y="7743825"/>
            <a:chExt cx="10991850" cy="971550"/>
          </a:xfrm>
        </p:grpSpPr>
        <p:sp>
          <p:nvSpPr>
            <p:cNvPr id="66" name="object 66"/>
            <p:cNvSpPr/>
            <p:nvPr/>
          </p:nvSpPr>
          <p:spPr>
            <a:xfrm>
              <a:off x="6838950" y="7743825"/>
              <a:ext cx="10991850" cy="971550"/>
            </a:xfrm>
            <a:custGeom>
              <a:avLst/>
              <a:gdLst/>
              <a:ahLst/>
              <a:cxnLst/>
              <a:rect l="l" t="t" r="r" b="b"/>
              <a:pathLst>
                <a:path w="10991850" h="971550">
                  <a:moveTo>
                    <a:pt x="10877550" y="971550"/>
                  </a:moveTo>
                  <a:lnTo>
                    <a:pt x="114300" y="971550"/>
                  </a:lnTo>
                  <a:lnTo>
                    <a:pt x="103040" y="971006"/>
                  </a:lnTo>
                  <a:lnTo>
                    <a:pt x="60364" y="958038"/>
                  </a:lnTo>
                  <a:lnTo>
                    <a:pt x="25900" y="929725"/>
                  </a:lnTo>
                  <a:lnTo>
                    <a:pt x="4894" y="890379"/>
                  </a:lnTo>
                  <a:lnTo>
                    <a:pt x="0" y="8572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877550" y="0"/>
                  </a:lnTo>
                  <a:lnTo>
                    <a:pt x="10921288" y="8700"/>
                  </a:lnTo>
                  <a:lnTo>
                    <a:pt x="10958370" y="33477"/>
                  </a:lnTo>
                  <a:lnTo>
                    <a:pt x="10983148" y="70559"/>
                  </a:lnTo>
                  <a:lnTo>
                    <a:pt x="10991850" y="114300"/>
                  </a:lnTo>
                  <a:lnTo>
                    <a:pt x="10991850" y="857250"/>
                  </a:lnTo>
                  <a:lnTo>
                    <a:pt x="10983148" y="900990"/>
                  </a:lnTo>
                  <a:lnTo>
                    <a:pt x="10958370" y="938072"/>
                  </a:lnTo>
                  <a:lnTo>
                    <a:pt x="10921288" y="962849"/>
                  </a:lnTo>
                  <a:lnTo>
                    <a:pt x="10877550" y="9715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6838950" y="7743825"/>
              <a:ext cx="10991850" cy="971550"/>
            </a:xfrm>
            <a:custGeom>
              <a:avLst/>
              <a:gdLst/>
              <a:ahLst/>
              <a:cxnLst/>
              <a:rect l="l" t="t" r="r" b="b"/>
              <a:pathLst>
                <a:path w="10991850" h="971550">
                  <a:moveTo>
                    <a:pt x="10877549" y="971549"/>
                  </a:moveTo>
                  <a:lnTo>
                    <a:pt x="114299" y="971549"/>
                  </a:lnTo>
                  <a:lnTo>
                    <a:pt x="103040" y="971006"/>
                  </a:lnTo>
                  <a:lnTo>
                    <a:pt x="60364" y="958037"/>
                  </a:lnTo>
                  <a:lnTo>
                    <a:pt x="25900" y="929725"/>
                  </a:lnTo>
                  <a:lnTo>
                    <a:pt x="4894" y="890379"/>
                  </a:lnTo>
                  <a:lnTo>
                    <a:pt x="0" y="857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0877549" y="0"/>
                  </a:lnTo>
                  <a:lnTo>
                    <a:pt x="10921288" y="8700"/>
                  </a:lnTo>
                  <a:lnTo>
                    <a:pt x="10923035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864129"/>
                  </a:lnTo>
                  <a:lnTo>
                    <a:pt x="20133" y="903701"/>
                  </a:lnTo>
                  <a:lnTo>
                    <a:pt x="45077" y="936201"/>
                  </a:lnTo>
                  <a:lnTo>
                    <a:pt x="80560" y="956682"/>
                  </a:lnTo>
                  <a:lnTo>
                    <a:pt x="107420" y="962024"/>
                  </a:lnTo>
                  <a:lnTo>
                    <a:pt x="10923035" y="962024"/>
                  </a:lnTo>
                  <a:lnTo>
                    <a:pt x="10921288" y="962849"/>
                  </a:lnTo>
                  <a:lnTo>
                    <a:pt x="10910678" y="966655"/>
                  </a:lnTo>
                  <a:lnTo>
                    <a:pt x="10899851" y="969374"/>
                  </a:lnTo>
                  <a:lnTo>
                    <a:pt x="10888808" y="971006"/>
                  </a:lnTo>
                  <a:lnTo>
                    <a:pt x="10877549" y="971549"/>
                  </a:lnTo>
                  <a:close/>
                </a:path>
                <a:path w="10991850" h="971550">
                  <a:moveTo>
                    <a:pt x="10923035" y="962024"/>
                  </a:moveTo>
                  <a:lnTo>
                    <a:pt x="10884429" y="962024"/>
                  </a:lnTo>
                  <a:lnTo>
                    <a:pt x="10891242" y="961353"/>
                  </a:lnTo>
                  <a:lnTo>
                    <a:pt x="10904736" y="958669"/>
                  </a:lnTo>
                  <a:lnTo>
                    <a:pt x="10941478" y="940545"/>
                  </a:lnTo>
                  <a:lnTo>
                    <a:pt x="10968487" y="909739"/>
                  </a:lnTo>
                  <a:lnTo>
                    <a:pt x="10981652" y="870943"/>
                  </a:lnTo>
                  <a:lnTo>
                    <a:pt x="10982324" y="864129"/>
                  </a:lnTo>
                  <a:lnTo>
                    <a:pt x="10982324" y="107420"/>
                  </a:lnTo>
                  <a:lnTo>
                    <a:pt x="10971714" y="67848"/>
                  </a:lnTo>
                  <a:lnTo>
                    <a:pt x="10946770" y="35348"/>
                  </a:lnTo>
                  <a:lnTo>
                    <a:pt x="10911287" y="14867"/>
                  </a:lnTo>
                  <a:lnTo>
                    <a:pt x="10884429" y="9524"/>
                  </a:lnTo>
                  <a:lnTo>
                    <a:pt x="10923035" y="9524"/>
                  </a:lnTo>
                  <a:lnTo>
                    <a:pt x="10958370" y="33477"/>
                  </a:lnTo>
                  <a:lnTo>
                    <a:pt x="10983147" y="70559"/>
                  </a:lnTo>
                  <a:lnTo>
                    <a:pt x="10991849" y="114299"/>
                  </a:lnTo>
                  <a:lnTo>
                    <a:pt x="10991849" y="857249"/>
                  </a:lnTo>
                  <a:lnTo>
                    <a:pt x="10983147" y="900990"/>
                  </a:lnTo>
                  <a:lnTo>
                    <a:pt x="10958370" y="938072"/>
                  </a:lnTo>
                  <a:lnTo>
                    <a:pt x="10931483" y="958037"/>
                  </a:lnTo>
                  <a:lnTo>
                    <a:pt x="10923035" y="962024"/>
                  </a:lnTo>
                  <a:close/>
                </a:path>
              </a:pathLst>
            </a:custGeom>
            <a:solidFill>
              <a:srgbClr val="BF83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6962774" y="80391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lnTo>
                    <a:pt x="144200" y="375288"/>
                  </a:lnTo>
                  <a:lnTo>
                    <a:pt x="100696" y="358506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500"/>
                  </a:lnTo>
                  <a:lnTo>
                    <a:pt x="228" y="181140"/>
                  </a:lnTo>
                  <a:lnTo>
                    <a:pt x="8200" y="135198"/>
                  </a:lnTo>
                  <a:lnTo>
                    <a:pt x="27095" y="92571"/>
                  </a:lnTo>
                  <a:lnTo>
                    <a:pt x="55795" y="55795"/>
                  </a:lnTo>
                  <a:lnTo>
                    <a:pt x="92571" y="27094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500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4"/>
                  </a:lnTo>
                  <a:lnTo>
                    <a:pt x="325203" y="55795"/>
                  </a:lnTo>
                  <a:lnTo>
                    <a:pt x="353902" y="92571"/>
                  </a:lnTo>
                  <a:lnTo>
                    <a:pt x="372798" y="135198"/>
                  </a:lnTo>
                  <a:lnTo>
                    <a:pt x="380770" y="181140"/>
                  </a:lnTo>
                  <a:lnTo>
                    <a:pt x="381000" y="190500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2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077323" y="8074424"/>
            <a:ext cx="144145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521533" y="8102468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4">
                <a:moveTo>
                  <a:pt x="251513" y="101731"/>
                </a:moveTo>
                <a:lnTo>
                  <a:pt x="252472" y="106435"/>
                </a:lnTo>
                <a:lnTo>
                  <a:pt x="253161" y="111177"/>
                </a:lnTo>
                <a:lnTo>
                  <a:pt x="253582" y="115959"/>
                </a:lnTo>
                <a:lnTo>
                  <a:pt x="254003" y="120740"/>
                </a:lnTo>
                <a:lnTo>
                  <a:pt x="254152" y="125530"/>
                </a:lnTo>
                <a:lnTo>
                  <a:pt x="254029" y="130329"/>
                </a:lnTo>
                <a:lnTo>
                  <a:pt x="253907" y="135127"/>
                </a:lnTo>
                <a:lnTo>
                  <a:pt x="253514" y="139904"/>
                </a:lnTo>
                <a:lnTo>
                  <a:pt x="252849" y="144657"/>
                </a:lnTo>
                <a:lnTo>
                  <a:pt x="252185" y="149411"/>
                </a:lnTo>
                <a:lnTo>
                  <a:pt x="251255" y="154112"/>
                </a:lnTo>
                <a:lnTo>
                  <a:pt x="250058" y="158761"/>
                </a:lnTo>
                <a:lnTo>
                  <a:pt x="248861" y="163409"/>
                </a:lnTo>
                <a:lnTo>
                  <a:pt x="232470" y="197941"/>
                </a:lnTo>
                <a:lnTo>
                  <a:pt x="229792" y="201924"/>
                </a:lnTo>
                <a:lnTo>
                  <a:pt x="202828" y="229019"/>
                </a:lnTo>
                <a:lnTo>
                  <a:pt x="198976" y="231882"/>
                </a:lnTo>
                <a:lnTo>
                  <a:pt x="178000" y="243429"/>
                </a:lnTo>
                <a:lnTo>
                  <a:pt x="173603" y="245354"/>
                </a:lnTo>
                <a:lnTo>
                  <a:pt x="169111" y="247025"/>
                </a:lnTo>
                <a:lnTo>
                  <a:pt x="164524" y="248440"/>
                </a:lnTo>
                <a:lnTo>
                  <a:pt x="159938" y="249856"/>
                </a:lnTo>
                <a:lnTo>
                  <a:pt x="136312" y="253752"/>
                </a:lnTo>
                <a:lnTo>
                  <a:pt x="131525" y="254101"/>
                </a:lnTo>
                <a:lnTo>
                  <a:pt x="126733" y="254179"/>
                </a:lnTo>
                <a:lnTo>
                  <a:pt x="121937" y="253985"/>
                </a:lnTo>
                <a:lnTo>
                  <a:pt x="117141" y="253791"/>
                </a:lnTo>
                <a:lnTo>
                  <a:pt x="79937" y="245018"/>
                </a:lnTo>
                <a:lnTo>
                  <a:pt x="75479" y="243237"/>
                </a:lnTo>
                <a:lnTo>
                  <a:pt x="54654" y="231419"/>
                </a:lnTo>
                <a:lnTo>
                  <a:pt x="50711" y="228682"/>
                </a:lnTo>
                <a:lnTo>
                  <a:pt x="46935" y="225731"/>
                </a:lnTo>
                <a:lnTo>
                  <a:pt x="43326" y="222566"/>
                </a:lnTo>
                <a:lnTo>
                  <a:pt x="39718" y="219401"/>
                </a:lnTo>
                <a:lnTo>
                  <a:pt x="36300" y="216042"/>
                </a:lnTo>
                <a:lnTo>
                  <a:pt x="33072" y="212489"/>
                </a:lnTo>
                <a:lnTo>
                  <a:pt x="29844" y="208936"/>
                </a:lnTo>
                <a:lnTo>
                  <a:pt x="26827" y="205212"/>
                </a:lnTo>
                <a:lnTo>
                  <a:pt x="24022" y="201318"/>
                </a:lnTo>
                <a:lnTo>
                  <a:pt x="21216" y="197423"/>
                </a:lnTo>
                <a:lnTo>
                  <a:pt x="18640" y="193382"/>
                </a:lnTo>
                <a:lnTo>
                  <a:pt x="16293" y="189195"/>
                </a:lnTo>
                <a:lnTo>
                  <a:pt x="13945" y="185008"/>
                </a:lnTo>
                <a:lnTo>
                  <a:pt x="11842" y="180702"/>
                </a:lnTo>
                <a:lnTo>
                  <a:pt x="9983" y="176277"/>
                </a:lnTo>
                <a:lnTo>
                  <a:pt x="8124" y="171851"/>
                </a:lnTo>
                <a:lnTo>
                  <a:pt x="6521" y="167335"/>
                </a:lnTo>
                <a:lnTo>
                  <a:pt x="5174" y="162728"/>
                </a:lnTo>
                <a:lnTo>
                  <a:pt x="3827" y="158121"/>
                </a:lnTo>
                <a:lnTo>
                  <a:pt x="2744" y="153452"/>
                </a:lnTo>
                <a:lnTo>
                  <a:pt x="1927" y="148722"/>
                </a:lnTo>
                <a:lnTo>
                  <a:pt x="1109" y="143992"/>
                </a:lnTo>
                <a:lnTo>
                  <a:pt x="561" y="139232"/>
                </a:lnTo>
                <a:lnTo>
                  <a:pt x="283" y="134440"/>
                </a:lnTo>
                <a:lnTo>
                  <a:pt x="6" y="129648"/>
                </a:lnTo>
                <a:lnTo>
                  <a:pt x="0" y="124855"/>
                </a:lnTo>
                <a:lnTo>
                  <a:pt x="265" y="120063"/>
                </a:lnTo>
                <a:lnTo>
                  <a:pt x="531" y="115270"/>
                </a:lnTo>
                <a:lnTo>
                  <a:pt x="1066" y="110508"/>
                </a:lnTo>
                <a:lnTo>
                  <a:pt x="1872" y="105776"/>
                </a:lnTo>
                <a:lnTo>
                  <a:pt x="2677" y="101044"/>
                </a:lnTo>
                <a:lnTo>
                  <a:pt x="9857" y="78201"/>
                </a:lnTo>
                <a:lnTo>
                  <a:pt x="11705" y="73771"/>
                </a:lnTo>
                <a:lnTo>
                  <a:pt x="32853" y="41929"/>
                </a:lnTo>
                <a:lnTo>
                  <a:pt x="43082" y="31826"/>
                </a:lnTo>
                <a:lnTo>
                  <a:pt x="46682" y="28652"/>
                </a:lnTo>
                <a:lnTo>
                  <a:pt x="66623" y="15396"/>
                </a:lnTo>
                <a:lnTo>
                  <a:pt x="70845" y="13112"/>
                </a:lnTo>
                <a:lnTo>
                  <a:pt x="93253" y="4674"/>
                </a:lnTo>
                <a:lnTo>
                  <a:pt x="97880" y="3395"/>
                </a:lnTo>
                <a:lnTo>
                  <a:pt x="126407" y="0"/>
                </a:lnTo>
                <a:lnTo>
                  <a:pt x="131199" y="65"/>
                </a:lnTo>
                <a:lnTo>
                  <a:pt x="135987" y="402"/>
                </a:lnTo>
                <a:lnTo>
                  <a:pt x="140775" y="739"/>
                </a:lnTo>
                <a:lnTo>
                  <a:pt x="145529" y="1345"/>
                </a:lnTo>
                <a:lnTo>
                  <a:pt x="150248" y="2221"/>
                </a:lnTo>
                <a:lnTo>
                  <a:pt x="154968" y="3097"/>
                </a:lnTo>
                <a:lnTo>
                  <a:pt x="159623" y="4237"/>
                </a:lnTo>
                <a:lnTo>
                  <a:pt x="164213" y="5641"/>
                </a:lnTo>
                <a:lnTo>
                  <a:pt x="168803" y="7045"/>
                </a:lnTo>
                <a:lnTo>
                  <a:pt x="173299" y="8704"/>
                </a:lnTo>
                <a:lnTo>
                  <a:pt x="177701" y="10617"/>
                </a:lnTo>
                <a:lnTo>
                  <a:pt x="182103" y="12531"/>
                </a:lnTo>
                <a:lnTo>
                  <a:pt x="186383" y="14687"/>
                </a:lnTo>
                <a:lnTo>
                  <a:pt x="190541" y="17086"/>
                </a:lnTo>
              </a:path>
              <a:path w="254634" h="254634">
                <a:moveTo>
                  <a:pt x="88941" y="114431"/>
                </a:moveTo>
                <a:lnTo>
                  <a:pt x="127041" y="152532"/>
                </a:lnTo>
                <a:lnTo>
                  <a:pt x="254041" y="25531"/>
                </a:lnTo>
              </a:path>
            </a:pathLst>
          </a:custGeom>
          <a:ln w="25400">
            <a:solidFill>
              <a:srgbClr val="BF83FB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936805" y="7786075"/>
            <a:ext cx="4333240" cy="7880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Smart</a:t>
            </a:r>
            <a:r>
              <a:rPr sz="2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Contract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300" spc="-25" dirty="0">
                <a:solidFill>
                  <a:srgbClr val="FFFFFF"/>
                </a:solidFill>
                <a:latin typeface="Times New Roman"/>
                <a:cs typeface="Times New Roman"/>
              </a:rPr>
              <a:t>Terms</a:t>
            </a:r>
            <a:r>
              <a:rPr sz="13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3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locked</a:t>
            </a:r>
            <a:r>
              <a:rPr sz="13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blockchain,</a:t>
            </a:r>
            <a:r>
              <a:rPr sz="13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guaranteeing</a:t>
            </a:r>
            <a:r>
              <a:rPr sz="13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imes New Roman"/>
                <a:cs typeface="Times New Roman"/>
              </a:rPr>
              <a:t>payment.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i="1" dirty="0">
                <a:solidFill>
                  <a:srgbClr val="D8B4FE"/>
                </a:solidFill>
                <a:latin typeface="Times New Roman"/>
                <a:cs typeface="Times New Roman"/>
              </a:rPr>
              <a:t>Blockchain | Smart </a:t>
            </a:r>
            <a:r>
              <a:rPr sz="1050" i="1" spc="-10" dirty="0">
                <a:solidFill>
                  <a:srgbClr val="D8B4FE"/>
                </a:solidFill>
                <a:latin typeface="Times New Roman"/>
                <a:cs typeface="Times New Roman"/>
              </a:rPr>
              <a:t>Contracts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200546"/>
            <a:ext cx="6779259" cy="11887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b="1" spc="-160" dirty="0">
                <a:solidFill>
                  <a:srgbClr val="2DD4BE"/>
                </a:solidFill>
                <a:latin typeface="Times New Roman"/>
                <a:cs typeface="Times New Roman"/>
              </a:rPr>
              <a:t>AI</a:t>
            </a:r>
            <a:r>
              <a:rPr sz="3100" b="1" spc="-160" dirty="0">
                <a:solidFill>
                  <a:srgbClr val="2DD4BE"/>
                </a:solidFill>
                <a:latin typeface="Times New Roman"/>
                <a:cs typeface="Times New Roman"/>
              </a:rPr>
              <a:t>-</a:t>
            </a:r>
            <a:r>
              <a:rPr sz="3050" b="1" spc="-185" dirty="0">
                <a:solidFill>
                  <a:srgbClr val="2DD4BE"/>
                </a:solidFill>
                <a:latin typeface="Times New Roman"/>
                <a:cs typeface="Times New Roman"/>
              </a:rPr>
              <a:t>Powered</a:t>
            </a:r>
            <a:r>
              <a:rPr sz="3050" b="1" spc="-160" dirty="0">
                <a:solidFill>
                  <a:srgbClr val="2DD4BE"/>
                </a:solidFill>
                <a:latin typeface="Times New Roman"/>
                <a:cs typeface="Times New Roman"/>
              </a:rPr>
              <a:t> </a:t>
            </a:r>
            <a:r>
              <a:rPr sz="3050" b="1" spc="-135" dirty="0">
                <a:solidFill>
                  <a:srgbClr val="2DD4BE"/>
                </a:solidFill>
                <a:latin typeface="Times New Roman"/>
                <a:cs typeface="Times New Roman"/>
              </a:rPr>
              <a:t>Quality</a:t>
            </a:r>
            <a:r>
              <a:rPr sz="3050" b="1" spc="-155" dirty="0">
                <a:solidFill>
                  <a:srgbClr val="2DD4BE"/>
                </a:solidFill>
                <a:latin typeface="Times New Roman"/>
                <a:cs typeface="Times New Roman"/>
              </a:rPr>
              <a:t> </a:t>
            </a:r>
            <a:r>
              <a:rPr sz="3050" b="1" spc="-40" dirty="0">
                <a:solidFill>
                  <a:srgbClr val="2DD4BE"/>
                </a:solidFill>
                <a:latin typeface="Times New Roman"/>
                <a:cs typeface="Times New Roman"/>
              </a:rPr>
              <a:t>Assurance</a:t>
            </a: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ct val="106100"/>
              </a:lnSpc>
              <a:spcBef>
                <a:spcPts val="1210"/>
              </a:spcBef>
            </a:pP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AI-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driven</a:t>
            </a:r>
            <a:r>
              <a:rPr sz="165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vision</a:t>
            </a:r>
            <a:r>
              <a:rPr sz="16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16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6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auto-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grade</a:t>
            </a:r>
            <a:r>
              <a:rPr sz="1650" spc="-35" dirty="0">
                <a:solidFill>
                  <a:srgbClr val="FFFFFF"/>
                </a:solidFill>
                <a:latin typeface="Times New Roman"/>
                <a:cs typeface="Times New Roman"/>
              </a:rPr>
              <a:t> quality,</a:t>
            </a:r>
            <a:r>
              <a:rPr sz="165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detect</a:t>
            </a:r>
            <a:r>
              <a:rPr sz="16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FFFFFF"/>
                </a:solidFill>
                <a:latin typeface="Times New Roman"/>
                <a:cs typeface="Times New Roman"/>
              </a:rPr>
              <a:t>defects,</a:t>
            </a:r>
            <a:r>
              <a:rPr sz="165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generate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export</a:t>
            </a:r>
            <a:r>
              <a:rPr sz="165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documents.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2590799"/>
            <a:ext cx="2171700" cy="1276350"/>
            <a:chOff x="457200" y="2590799"/>
            <a:chExt cx="2171700" cy="1276350"/>
          </a:xfrm>
        </p:grpSpPr>
        <p:sp>
          <p:nvSpPr>
            <p:cNvPr id="4" name="object 4"/>
            <p:cNvSpPr/>
            <p:nvPr/>
          </p:nvSpPr>
          <p:spPr>
            <a:xfrm>
              <a:off x="457200" y="2590799"/>
              <a:ext cx="2171700" cy="1276350"/>
            </a:xfrm>
            <a:custGeom>
              <a:avLst/>
              <a:gdLst/>
              <a:ahLst/>
              <a:cxnLst/>
              <a:rect l="l" t="t" r="r" b="b"/>
              <a:pathLst>
                <a:path w="2171700" h="1276350">
                  <a:moveTo>
                    <a:pt x="2095500" y="1276350"/>
                  </a:moveTo>
                  <a:lnTo>
                    <a:pt x="76200" y="1276350"/>
                  </a:lnTo>
                  <a:lnTo>
                    <a:pt x="68693" y="1275987"/>
                  </a:lnTo>
                  <a:lnTo>
                    <a:pt x="27882" y="1259082"/>
                  </a:lnTo>
                  <a:lnTo>
                    <a:pt x="3262" y="1222236"/>
                  </a:lnTo>
                  <a:lnTo>
                    <a:pt x="0" y="1200150"/>
                  </a:lnTo>
                  <a:lnTo>
                    <a:pt x="0" y="76200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2095500" y="0"/>
                  </a:lnTo>
                  <a:lnTo>
                    <a:pt x="2137842" y="12829"/>
                  </a:lnTo>
                  <a:lnTo>
                    <a:pt x="2165899" y="47039"/>
                  </a:lnTo>
                  <a:lnTo>
                    <a:pt x="2171700" y="76200"/>
                  </a:lnTo>
                  <a:lnTo>
                    <a:pt x="2171700" y="1200150"/>
                  </a:lnTo>
                  <a:lnTo>
                    <a:pt x="2158869" y="1242492"/>
                  </a:lnTo>
                  <a:lnTo>
                    <a:pt x="2124660" y="1270549"/>
                  </a:lnTo>
                  <a:lnTo>
                    <a:pt x="2095500" y="1276350"/>
                  </a:lnTo>
                  <a:close/>
                </a:path>
              </a:pathLst>
            </a:custGeom>
            <a:solidFill>
              <a:srgbClr val="0D948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2590800"/>
              <a:ext cx="2171700" cy="1276350"/>
            </a:xfrm>
            <a:custGeom>
              <a:avLst/>
              <a:gdLst/>
              <a:ahLst/>
              <a:cxnLst/>
              <a:rect l="l" t="t" r="r" b="b"/>
              <a:pathLst>
                <a:path w="2171700" h="1276350">
                  <a:moveTo>
                    <a:pt x="2095499" y="1276349"/>
                  </a:moveTo>
                  <a:lnTo>
                    <a:pt x="76199" y="1276349"/>
                  </a:lnTo>
                  <a:lnTo>
                    <a:pt x="68693" y="1275987"/>
                  </a:lnTo>
                  <a:lnTo>
                    <a:pt x="27882" y="1259082"/>
                  </a:lnTo>
                  <a:lnTo>
                    <a:pt x="3262" y="1222236"/>
                  </a:lnTo>
                  <a:lnTo>
                    <a:pt x="0" y="12001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2095499" y="0"/>
                  </a:lnTo>
                  <a:lnTo>
                    <a:pt x="2103006" y="362"/>
                  </a:lnTo>
                  <a:lnTo>
                    <a:pt x="21323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204527"/>
                  </a:lnTo>
                  <a:lnTo>
                    <a:pt x="9833" y="1207656"/>
                  </a:lnTo>
                  <a:lnTo>
                    <a:pt x="9952" y="1208863"/>
                  </a:lnTo>
                  <a:lnTo>
                    <a:pt x="25957" y="1244200"/>
                  </a:lnTo>
                  <a:lnTo>
                    <a:pt x="58898" y="1264689"/>
                  </a:lnTo>
                  <a:lnTo>
                    <a:pt x="71822" y="1266824"/>
                  </a:lnTo>
                  <a:lnTo>
                    <a:pt x="2132319" y="1266824"/>
                  </a:lnTo>
                  <a:lnTo>
                    <a:pt x="2131456" y="1267341"/>
                  </a:lnTo>
                  <a:lnTo>
                    <a:pt x="2124660" y="1270549"/>
                  </a:lnTo>
                  <a:lnTo>
                    <a:pt x="2117586" y="1273086"/>
                  </a:lnTo>
                  <a:lnTo>
                    <a:pt x="2110368" y="1274899"/>
                  </a:lnTo>
                  <a:lnTo>
                    <a:pt x="2103006" y="1275987"/>
                  </a:lnTo>
                  <a:lnTo>
                    <a:pt x="2095499" y="1276349"/>
                  </a:lnTo>
                  <a:close/>
                </a:path>
                <a:path w="2171700" h="1276350">
                  <a:moveTo>
                    <a:pt x="2132319" y="1266824"/>
                  </a:moveTo>
                  <a:lnTo>
                    <a:pt x="2099877" y="1266824"/>
                  </a:lnTo>
                  <a:lnTo>
                    <a:pt x="2104213" y="1266397"/>
                  </a:lnTo>
                  <a:lnTo>
                    <a:pt x="2112801" y="1264689"/>
                  </a:lnTo>
                  <a:lnTo>
                    <a:pt x="2145741" y="1244200"/>
                  </a:lnTo>
                  <a:lnTo>
                    <a:pt x="2161747" y="1208863"/>
                  </a:lnTo>
                  <a:lnTo>
                    <a:pt x="2162174" y="1204527"/>
                  </a:lnTo>
                  <a:lnTo>
                    <a:pt x="2162174" y="71822"/>
                  </a:lnTo>
                  <a:lnTo>
                    <a:pt x="2148505" y="35517"/>
                  </a:lnTo>
                  <a:lnTo>
                    <a:pt x="2116656" y="12829"/>
                  </a:lnTo>
                  <a:lnTo>
                    <a:pt x="2099877" y="9525"/>
                  </a:lnTo>
                  <a:lnTo>
                    <a:pt x="2132320" y="9525"/>
                  </a:lnTo>
                  <a:lnTo>
                    <a:pt x="2162691" y="40242"/>
                  </a:lnTo>
                  <a:lnTo>
                    <a:pt x="2171699" y="76199"/>
                  </a:lnTo>
                  <a:lnTo>
                    <a:pt x="2171699" y="1200149"/>
                  </a:lnTo>
                  <a:lnTo>
                    <a:pt x="2158869" y="1242492"/>
                  </a:lnTo>
                  <a:lnTo>
                    <a:pt x="2137969" y="1263424"/>
                  </a:lnTo>
                  <a:lnTo>
                    <a:pt x="2132319" y="1266824"/>
                  </a:lnTo>
                  <a:close/>
                </a:path>
              </a:pathLst>
            </a:custGeom>
            <a:solidFill>
              <a:srgbClr val="2DD4BE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416050" y="2765425"/>
              <a:ext cx="254000" cy="203200"/>
            </a:xfrm>
            <a:custGeom>
              <a:avLst/>
              <a:gdLst/>
              <a:ahLst/>
              <a:cxnLst/>
              <a:rect l="l" t="t" r="r" b="b"/>
              <a:pathLst>
                <a:path w="254000" h="203200">
                  <a:moveTo>
                    <a:pt x="158750" y="0"/>
                  </a:moveTo>
                  <a:lnTo>
                    <a:pt x="95250" y="0"/>
                  </a:lnTo>
                  <a:lnTo>
                    <a:pt x="63500" y="38100"/>
                  </a:lnTo>
                  <a:lnTo>
                    <a:pt x="25400" y="38100"/>
                  </a:lnTo>
                  <a:lnTo>
                    <a:pt x="22031" y="38100"/>
                  </a:lnTo>
                  <a:lnTo>
                    <a:pt x="18791" y="38744"/>
                  </a:lnTo>
                  <a:lnTo>
                    <a:pt x="15679" y="40033"/>
                  </a:lnTo>
                  <a:lnTo>
                    <a:pt x="12567" y="41322"/>
                  </a:lnTo>
                  <a:lnTo>
                    <a:pt x="9821" y="43157"/>
                  </a:lnTo>
                  <a:lnTo>
                    <a:pt x="7439" y="45539"/>
                  </a:lnTo>
                  <a:lnTo>
                    <a:pt x="5057" y="47921"/>
                  </a:lnTo>
                  <a:lnTo>
                    <a:pt x="3222" y="50667"/>
                  </a:lnTo>
                  <a:lnTo>
                    <a:pt x="1933" y="53779"/>
                  </a:lnTo>
                  <a:lnTo>
                    <a:pt x="644" y="56891"/>
                  </a:lnTo>
                  <a:lnTo>
                    <a:pt x="0" y="60131"/>
                  </a:lnTo>
                  <a:lnTo>
                    <a:pt x="0" y="63500"/>
                  </a:lnTo>
                  <a:lnTo>
                    <a:pt x="0" y="177800"/>
                  </a:lnTo>
                  <a:lnTo>
                    <a:pt x="0" y="181168"/>
                  </a:lnTo>
                  <a:lnTo>
                    <a:pt x="644" y="184408"/>
                  </a:lnTo>
                  <a:lnTo>
                    <a:pt x="1933" y="187520"/>
                  </a:lnTo>
                  <a:lnTo>
                    <a:pt x="3222" y="190632"/>
                  </a:lnTo>
                  <a:lnTo>
                    <a:pt x="25400" y="203200"/>
                  </a:lnTo>
                  <a:lnTo>
                    <a:pt x="228600" y="203200"/>
                  </a:lnTo>
                  <a:lnTo>
                    <a:pt x="252066" y="187520"/>
                  </a:lnTo>
                  <a:lnTo>
                    <a:pt x="253355" y="184408"/>
                  </a:lnTo>
                  <a:lnTo>
                    <a:pt x="254000" y="181168"/>
                  </a:lnTo>
                  <a:lnTo>
                    <a:pt x="254000" y="177800"/>
                  </a:lnTo>
                  <a:lnTo>
                    <a:pt x="254000" y="63500"/>
                  </a:lnTo>
                  <a:lnTo>
                    <a:pt x="254000" y="60131"/>
                  </a:lnTo>
                  <a:lnTo>
                    <a:pt x="253355" y="56891"/>
                  </a:lnTo>
                  <a:lnTo>
                    <a:pt x="252066" y="53779"/>
                  </a:lnTo>
                  <a:lnTo>
                    <a:pt x="250777" y="50667"/>
                  </a:lnTo>
                  <a:lnTo>
                    <a:pt x="248942" y="47921"/>
                  </a:lnTo>
                  <a:lnTo>
                    <a:pt x="246560" y="45539"/>
                  </a:lnTo>
                  <a:lnTo>
                    <a:pt x="244178" y="43157"/>
                  </a:lnTo>
                  <a:lnTo>
                    <a:pt x="241432" y="41322"/>
                  </a:lnTo>
                  <a:lnTo>
                    <a:pt x="238320" y="40033"/>
                  </a:lnTo>
                  <a:lnTo>
                    <a:pt x="235208" y="38744"/>
                  </a:lnTo>
                  <a:lnTo>
                    <a:pt x="231968" y="38100"/>
                  </a:lnTo>
                  <a:lnTo>
                    <a:pt x="228600" y="38100"/>
                  </a:lnTo>
                  <a:lnTo>
                    <a:pt x="190500" y="38100"/>
                  </a:lnTo>
                  <a:lnTo>
                    <a:pt x="158750" y="0"/>
                  </a:lnTo>
                  <a:close/>
                </a:path>
              </a:pathLst>
            </a:custGeom>
            <a:ln w="25400">
              <a:solidFill>
                <a:srgbClr val="2DD4B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2250" y="2828925"/>
              <a:ext cx="101600" cy="1016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23416" y="2951193"/>
            <a:ext cx="1442085" cy="7816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295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98.5%</a:t>
            </a:r>
            <a:endParaRPr sz="2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r>
              <a:rPr sz="13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Accuracy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81299" y="2590799"/>
            <a:ext cx="2181225" cy="1276350"/>
            <a:chOff x="2781299" y="2590799"/>
            <a:chExt cx="2181225" cy="1276350"/>
          </a:xfrm>
        </p:grpSpPr>
        <p:sp>
          <p:nvSpPr>
            <p:cNvPr id="10" name="object 10"/>
            <p:cNvSpPr/>
            <p:nvPr/>
          </p:nvSpPr>
          <p:spPr>
            <a:xfrm>
              <a:off x="2781300" y="2590799"/>
              <a:ext cx="2181225" cy="1276350"/>
            </a:xfrm>
            <a:custGeom>
              <a:avLst/>
              <a:gdLst/>
              <a:ahLst/>
              <a:cxnLst/>
              <a:rect l="l" t="t" r="r" b="b"/>
              <a:pathLst>
                <a:path w="2181225" h="1276350">
                  <a:moveTo>
                    <a:pt x="2105025" y="1276350"/>
                  </a:moveTo>
                  <a:lnTo>
                    <a:pt x="76200" y="1276350"/>
                  </a:lnTo>
                  <a:lnTo>
                    <a:pt x="68693" y="1275987"/>
                  </a:lnTo>
                  <a:lnTo>
                    <a:pt x="27882" y="1259082"/>
                  </a:lnTo>
                  <a:lnTo>
                    <a:pt x="3262" y="1222236"/>
                  </a:lnTo>
                  <a:lnTo>
                    <a:pt x="0" y="12001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2105025" y="0"/>
                  </a:lnTo>
                  <a:lnTo>
                    <a:pt x="2147366" y="12829"/>
                  </a:lnTo>
                  <a:lnTo>
                    <a:pt x="2175424" y="47039"/>
                  </a:lnTo>
                  <a:lnTo>
                    <a:pt x="2181225" y="76200"/>
                  </a:lnTo>
                  <a:lnTo>
                    <a:pt x="2181225" y="1200150"/>
                  </a:lnTo>
                  <a:lnTo>
                    <a:pt x="2168394" y="1242492"/>
                  </a:lnTo>
                  <a:lnTo>
                    <a:pt x="2134184" y="1270549"/>
                  </a:lnTo>
                  <a:lnTo>
                    <a:pt x="2105025" y="1276350"/>
                  </a:lnTo>
                  <a:close/>
                </a:path>
              </a:pathLst>
            </a:custGeom>
            <a:solidFill>
              <a:srgbClr val="0D948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781299" y="2590800"/>
              <a:ext cx="2181225" cy="1276350"/>
            </a:xfrm>
            <a:custGeom>
              <a:avLst/>
              <a:gdLst/>
              <a:ahLst/>
              <a:cxnLst/>
              <a:rect l="l" t="t" r="r" b="b"/>
              <a:pathLst>
                <a:path w="2181225" h="1276350">
                  <a:moveTo>
                    <a:pt x="2105024" y="1276349"/>
                  </a:moveTo>
                  <a:lnTo>
                    <a:pt x="76199" y="1276349"/>
                  </a:lnTo>
                  <a:lnTo>
                    <a:pt x="68693" y="1275987"/>
                  </a:lnTo>
                  <a:lnTo>
                    <a:pt x="27882" y="1259082"/>
                  </a:lnTo>
                  <a:lnTo>
                    <a:pt x="3262" y="1222236"/>
                  </a:lnTo>
                  <a:lnTo>
                    <a:pt x="0" y="12001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2105024" y="0"/>
                  </a:lnTo>
                  <a:lnTo>
                    <a:pt x="2112531" y="362"/>
                  </a:lnTo>
                  <a:lnTo>
                    <a:pt x="2141845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204527"/>
                  </a:lnTo>
                  <a:lnTo>
                    <a:pt x="9833" y="1207656"/>
                  </a:lnTo>
                  <a:lnTo>
                    <a:pt x="9952" y="1208863"/>
                  </a:lnTo>
                  <a:lnTo>
                    <a:pt x="25958" y="1244200"/>
                  </a:lnTo>
                  <a:lnTo>
                    <a:pt x="58898" y="1264689"/>
                  </a:lnTo>
                  <a:lnTo>
                    <a:pt x="71822" y="1266824"/>
                  </a:lnTo>
                  <a:lnTo>
                    <a:pt x="2141844" y="1266824"/>
                  </a:lnTo>
                  <a:lnTo>
                    <a:pt x="2140981" y="1267341"/>
                  </a:lnTo>
                  <a:lnTo>
                    <a:pt x="2134184" y="1270549"/>
                  </a:lnTo>
                  <a:lnTo>
                    <a:pt x="2127111" y="1273086"/>
                  </a:lnTo>
                  <a:lnTo>
                    <a:pt x="2119893" y="1274899"/>
                  </a:lnTo>
                  <a:lnTo>
                    <a:pt x="2112531" y="1275987"/>
                  </a:lnTo>
                  <a:lnTo>
                    <a:pt x="2105024" y="1276349"/>
                  </a:lnTo>
                  <a:close/>
                </a:path>
                <a:path w="2181225" h="1276350">
                  <a:moveTo>
                    <a:pt x="2141844" y="1266824"/>
                  </a:moveTo>
                  <a:lnTo>
                    <a:pt x="2109403" y="1266824"/>
                  </a:lnTo>
                  <a:lnTo>
                    <a:pt x="2113738" y="1266397"/>
                  </a:lnTo>
                  <a:lnTo>
                    <a:pt x="2122326" y="1264689"/>
                  </a:lnTo>
                  <a:lnTo>
                    <a:pt x="2155266" y="1244200"/>
                  </a:lnTo>
                  <a:lnTo>
                    <a:pt x="2171272" y="1208863"/>
                  </a:lnTo>
                  <a:lnTo>
                    <a:pt x="2171699" y="1204527"/>
                  </a:lnTo>
                  <a:lnTo>
                    <a:pt x="2171699" y="71822"/>
                  </a:lnTo>
                  <a:lnTo>
                    <a:pt x="2171391" y="68693"/>
                  </a:lnTo>
                  <a:lnTo>
                    <a:pt x="2171272" y="67486"/>
                  </a:lnTo>
                  <a:lnTo>
                    <a:pt x="2155266" y="32149"/>
                  </a:lnTo>
                  <a:lnTo>
                    <a:pt x="2122326" y="11660"/>
                  </a:lnTo>
                  <a:lnTo>
                    <a:pt x="2109403" y="9525"/>
                  </a:lnTo>
                  <a:lnTo>
                    <a:pt x="2141845" y="9525"/>
                  </a:lnTo>
                  <a:lnTo>
                    <a:pt x="2172216" y="40242"/>
                  </a:lnTo>
                  <a:lnTo>
                    <a:pt x="2181224" y="76199"/>
                  </a:lnTo>
                  <a:lnTo>
                    <a:pt x="2181224" y="1200149"/>
                  </a:lnTo>
                  <a:lnTo>
                    <a:pt x="2168394" y="1242492"/>
                  </a:lnTo>
                  <a:lnTo>
                    <a:pt x="2147493" y="1263424"/>
                  </a:lnTo>
                  <a:lnTo>
                    <a:pt x="2141844" y="1266824"/>
                  </a:lnTo>
                  <a:close/>
                </a:path>
              </a:pathLst>
            </a:custGeom>
            <a:solidFill>
              <a:srgbClr val="2DD4BE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751739" y="2739828"/>
              <a:ext cx="231140" cy="254635"/>
            </a:xfrm>
            <a:custGeom>
              <a:avLst/>
              <a:gdLst/>
              <a:ahLst/>
              <a:cxnLst/>
              <a:rect l="l" t="t" r="r" b="b"/>
              <a:pathLst>
                <a:path w="231139" h="254635">
                  <a:moveTo>
                    <a:pt x="13810" y="152596"/>
                  </a:moveTo>
                  <a:lnTo>
                    <a:pt x="8455" y="152615"/>
                  </a:lnTo>
                  <a:lnTo>
                    <a:pt x="4622" y="150209"/>
                  </a:lnTo>
                  <a:lnTo>
                    <a:pt x="2311" y="145378"/>
                  </a:lnTo>
                  <a:lnTo>
                    <a:pt x="0" y="140548"/>
                  </a:lnTo>
                  <a:lnTo>
                    <a:pt x="531" y="136054"/>
                  </a:lnTo>
                  <a:lnTo>
                    <a:pt x="3904" y="131895"/>
                  </a:lnTo>
                  <a:lnTo>
                    <a:pt x="129634" y="2355"/>
                  </a:lnTo>
                  <a:lnTo>
                    <a:pt x="130605" y="1234"/>
                  </a:lnTo>
                  <a:lnTo>
                    <a:pt x="131820" y="539"/>
                  </a:lnTo>
                  <a:lnTo>
                    <a:pt x="133279" y="269"/>
                  </a:lnTo>
                  <a:lnTo>
                    <a:pt x="134737" y="0"/>
                  </a:lnTo>
                  <a:lnTo>
                    <a:pt x="136121" y="214"/>
                  </a:lnTo>
                  <a:lnTo>
                    <a:pt x="137428" y="914"/>
                  </a:lnTo>
                  <a:lnTo>
                    <a:pt x="138736" y="1614"/>
                  </a:lnTo>
                  <a:lnTo>
                    <a:pt x="139683" y="2645"/>
                  </a:lnTo>
                  <a:lnTo>
                    <a:pt x="140268" y="4008"/>
                  </a:lnTo>
                  <a:lnTo>
                    <a:pt x="140854" y="5371"/>
                  </a:lnTo>
                  <a:lnTo>
                    <a:pt x="140949" y="6767"/>
                  </a:lnTo>
                  <a:lnTo>
                    <a:pt x="140556" y="8197"/>
                  </a:lnTo>
                  <a:lnTo>
                    <a:pt x="116172" y="84651"/>
                  </a:lnTo>
                  <a:lnTo>
                    <a:pt x="115442" y="86605"/>
                  </a:lnTo>
                  <a:lnTo>
                    <a:pt x="115208" y="88615"/>
                  </a:lnTo>
                  <a:lnTo>
                    <a:pt x="115468" y="90684"/>
                  </a:lnTo>
                  <a:lnTo>
                    <a:pt x="115729" y="92753"/>
                  </a:lnTo>
                  <a:lnTo>
                    <a:pt x="116455" y="94642"/>
                  </a:lnTo>
                  <a:lnTo>
                    <a:pt x="117646" y="96354"/>
                  </a:lnTo>
                  <a:lnTo>
                    <a:pt x="118838" y="98065"/>
                  </a:lnTo>
                  <a:lnTo>
                    <a:pt x="120358" y="99401"/>
                  </a:lnTo>
                  <a:lnTo>
                    <a:pt x="122208" y="100363"/>
                  </a:lnTo>
                  <a:lnTo>
                    <a:pt x="124058" y="101326"/>
                  </a:lnTo>
                  <a:lnTo>
                    <a:pt x="126025" y="101803"/>
                  </a:lnTo>
                  <a:lnTo>
                    <a:pt x="128110" y="101796"/>
                  </a:lnTo>
                  <a:lnTo>
                    <a:pt x="217010" y="101796"/>
                  </a:lnTo>
                  <a:lnTo>
                    <a:pt x="222365" y="101778"/>
                  </a:lnTo>
                  <a:lnTo>
                    <a:pt x="226198" y="104184"/>
                  </a:lnTo>
                  <a:lnTo>
                    <a:pt x="228509" y="109014"/>
                  </a:lnTo>
                  <a:lnTo>
                    <a:pt x="230821" y="113845"/>
                  </a:lnTo>
                  <a:lnTo>
                    <a:pt x="230290" y="118339"/>
                  </a:lnTo>
                  <a:lnTo>
                    <a:pt x="226916" y="122497"/>
                  </a:lnTo>
                  <a:lnTo>
                    <a:pt x="101186" y="252037"/>
                  </a:lnTo>
                  <a:lnTo>
                    <a:pt x="100215" y="253159"/>
                  </a:lnTo>
                  <a:lnTo>
                    <a:pt x="99000" y="253854"/>
                  </a:lnTo>
                  <a:lnTo>
                    <a:pt x="97541" y="254124"/>
                  </a:lnTo>
                  <a:lnTo>
                    <a:pt x="96083" y="254393"/>
                  </a:lnTo>
                  <a:lnTo>
                    <a:pt x="94700" y="254178"/>
                  </a:lnTo>
                  <a:lnTo>
                    <a:pt x="93392" y="253479"/>
                  </a:lnTo>
                  <a:lnTo>
                    <a:pt x="92084" y="252779"/>
                  </a:lnTo>
                  <a:lnTo>
                    <a:pt x="91137" y="251748"/>
                  </a:lnTo>
                  <a:lnTo>
                    <a:pt x="90552" y="250385"/>
                  </a:lnTo>
                  <a:lnTo>
                    <a:pt x="89967" y="249022"/>
                  </a:lnTo>
                  <a:lnTo>
                    <a:pt x="89871" y="247626"/>
                  </a:lnTo>
                  <a:lnTo>
                    <a:pt x="90264" y="246195"/>
                  </a:lnTo>
                  <a:lnTo>
                    <a:pt x="114648" y="169741"/>
                  </a:lnTo>
                  <a:lnTo>
                    <a:pt x="115378" y="167788"/>
                  </a:lnTo>
                  <a:lnTo>
                    <a:pt x="115612" y="165777"/>
                  </a:lnTo>
                  <a:lnTo>
                    <a:pt x="115352" y="163709"/>
                  </a:lnTo>
                  <a:lnTo>
                    <a:pt x="115091" y="161640"/>
                  </a:lnTo>
                  <a:lnTo>
                    <a:pt x="114365" y="159750"/>
                  </a:lnTo>
                  <a:lnTo>
                    <a:pt x="113174" y="158039"/>
                  </a:lnTo>
                  <a:lnTo>
                    <a:pt x="111982" y="156328"/>
                  </a:lnTo>
                  <a:lnTo>
                    <a:pt x="110462" y="154992"/>
                  </a:lnTo>
                  <a:lnTo>
                    <a:pt x="108612" y="154029"/>
                  </a:lnTo>
                  <a:lnTo>
                    <a:pt x="106762" y="153067"/>
                  </a:lnTo>
                  <a:lnTo>
                    <a:pt x="104795" y="152590"/>
                  </a:lnTo>
                  <a:lnTo>
                    <a:pt x="102710" y="152596"/>
                  </a:lnTo>
                  <a:lnTo>
                    <a:pt x="13810" y="152596"/>
                  </a:lnTo>
                  <a:close/>
                </a:path>
              </a:pathLst>
            </a:custGeom>
            <a:ln w="25400">
              <a:solidFill>
                <a:srgbClr val="2DD4B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257500" y="2937430"/>
            <a:ext cx="1226820" cy="7956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620"/>
              </a:spcBef>
            </a:pPr>
            <a:r>
              <a:rPr sz="2950" b="1" spc="75" dirty="0">
                <a:solidFill>
                  <a:srgbClr val="FFFFFF"/>
                </a:solidFill>
                <a:latin typeface="Times New Roman"/>
                <a:cs typeface="Times New Roman"/>
              </a:rPr>
              <a:t>&lt;2</a:t>
            </a:r>
            <a:r>
              <a:rPr sz="2950" b="1" spc="-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1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sec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Processing</a:t>
            </a:r>
            <a:r>
              <a:rPr sz="13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14924" y="2590799"/>
            <a:ext cx="2171700" cy="1276350"/>
            <a:chOff x="5114924" y="2590799"/>
            <a:chExt cx="2171700" cy="1276350"/>
          </a:xfrm>
        </p:grpSpPr>
        <p:sp>
          <p:nvSpPr>
            <p:cNvPr id="15" name="object 15"/>
            <p:cNvSpPr/>
            <p:nvPr/>
          </p:nvSpPr>
          <p:spPr>
            <a:xfrm>
              <a:off x="5114925" y="2590799"/>
              <a:ext cx="2171700" cy="1276350"/>
            </a:xfrm>
            <a:custGeom>
              <a:avLst/>
              <a:gdLst/>
              <a:ahLst/>
              <a:cxnLst/>
              <a:rect l="l" t="t" r="r" b="b"/>
              <a:pathLst>
                <a:path w="2171700" h="1276350">
                  <a:moveTo>
                    <a:pt x="2095500" y="1276350"/>
                  </a:moveTo>
                  <a:lnTo>
                    <a:pt x="76200" y="1276350"/>
                  </a:lnTo>
                  <a:lnTo>
                    <a:pt x="68693" y="1275987"/>
                  </a:lnTo>
                  <a:lnTo>
                    <a:pt x="27882" y="1259082"/>
                  </a:lnTo>
                  <a:lnTo>
                    <a:pt x="3262" y="1222236"/>
                  </a:lnTo>
                  <a:lnTo>
                    <a:pt x="0" y="12001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200" y="0"/>
                  </a:lnTo>
                  <a:lnTo>
                    <a:pt x="2095500" y="0"/>
                  </a:lnTo>
                  <a:lnTo>
                    <a:pt x="2137841" y="12829"/>
                  </a:lnTo>
                  <a:lnTo>
                    <a:pt x="2165899" y="47039"/>
                  </a:lnTo>
                  <a:lnTo>
                    <a:pt x="2171700" y="76200"/>
                  </a:lnTo>
                  <a:lnTo>
                    <a:pt x="2171700" y="1200150"/>
                  </a:lnTo>
                  <a:lnTo>
                    <a:pt x="2158869" y="1242492"/>
                  </a:lnTo>
                  <a:lnTo>
                    <a:pt x="2124660" y="1270549"/>
                  </a:lnTo>
                  <a:lnTo>
                    <a:pt x="2095500" y="1276350"/>
                  </a:lnTo>
                  <a:close/>
                </a:path>
              </a:pathLst>
            </a:custGeom>
            <a:solidFill>
              <a:srgbClr val="0D948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114924" y="2590800"/>
              <a:ext cx="2171700" cy="1276350"/>
            </a:xfrm>
            <a:custGeom>
              <a:avLst/>
              <a:gdLst/>
              <a:ahLst/>
              <a:cxnLst/>
              <a:rect l="l" t="t" r="r" b="b"/>
              <a:pathLst>
                <a:path w="2171700" h="1276350">
                  <a:moveTo>
                    <a:pt x="2095499" y="1276349"/>
                  </a:moveTo>
                  <a:lnTo>
                    <a:pt x="76199" y="1276349"/>
                  </a:lnTo>
                  <a:lnTo>
                    <a:pt x="68693" y="1275987"/>
                  </a:lnTo>
                  <a:lnTo>
                    <a:pt x="27882" y="1259082"/>
                  </a:lnTo>
                  <a:lnTo>
                    <a:pt x="3262" y="1222236"/>
                  </a:lnTo>
                  <a:lnTo>
                    <a:pt x="0" y="12001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2095499" y="0"/>
                  </a:lnTo>
                  <a:lnTo>
                    <a:pt x="2103006" y="362"/>
                  </a:lnTo>
                  <a:lnTo>
                    <a:pt x="21323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204527"/>
                  </a:lnTo>
                  <a:lnTo>
                    <a:pt x="9833" y="1207656"/>
                  </a:lnTo>
                  <a:lnTo>
                    <a:pt x="9952" y="1208863"/>
                  </a:lnTo>
                  <a:lnTo>
                    <a:pt x="25958" y="1244200"/>
                  </a:lnTo>
                  <a:lnTo>
                    <a:pt x="58898" y="1264689"/>
                  </a:lnTo>
                  <a:lnTo>
                    <a:pt x="71822" y="1266824"/>
                  </a:lnTo>
                  <a:lnTo>
                    <a:pt x="2132318" y="1266824"/>
                  </a:lnTo>
                  <a:lnTo>
                    <a:pt x="2131456" y="1267341"/>
                  </a:lnTo>
                  <a:lnTo>
                    <a:pt x="2124660" y="1270549"/>
                  </a:lnTo>
                  <a:lnTo>
                    <a:pt x="2117586" y="1273086"/>
                  </a:lnTo>
                  <a:lnTo>
                    <a:pt x="2110368" y="1274899"/>
                  </a:lnTo>
                  <a:lnTo>
                    <a:pt x="2103006" y="1275987"/>
                  </a:lnTo>
                  <a:lnTo>
                    <a:pt x="2095499" y="1276349"/>
                  </a:lnTo>
                  <a:close/>
                </a:path>
                <a:path w="2171700" h="1276350">
                  <a:moveTo>
                    <a:pt x="2132318" y="1266824"/>
                  </a:moveTo>
                  <a:lnTo>
                    <a:pt x="2099878" y="1266824"/>
                  </a:lnTo>
                  <a:lnTo>
                    <a:pt x="2104213" y="1266397"/>
                  </a:lnTo>
                  <a:lnTo>
                    <a:pt x="2112801" y="1264689"/>
                  </a:lnTo>
                  <a:lnTo>
                    <a:pt x="2145741" y="1244200"/>
                  </a:lnTo>
                  <a:lnTo>
                    <a:pt x="2161747" y="1208863"/>
                  </a:lnTo>
                  <a:lnTo>
                    <a:pt x="2162174" y="1204527"/>
                  </a:lnTo>
                  <a:lnTo>
                    <a:pt x="2162174" y="71822"/>
                  </a:lnTo>
                  <a:lnTo>
                    <a:pt x="2148505" y="35517"/>
                  </a:lnTo>
                  <a:lnTo>
                    <a:pt x="2116656" y="12829"/>
                  </a:lnTo>
                  <a:lnTo>
                    <a:pt x="2099878" y="9525"/>
                  </a:lnTo>
                  <a:lnTo>
                    <a:pt x="2132320" y="9525"/>
                  </a:lnTo>
                  <a:lnTo>
                    <a:pt x="2162691" y="40242"/>
                  </a:lnTo>
                  <a:lnTo>
                    <a:pt x="2171699" y="76199"/>
                  </a:lnTo>
                  <a:lnTo>
                    <a:pt x="2171699" y="1200149"/>
                  </a:lnTo>
                  <a:lnTo>
                    <a:pt x="2158869" y="1242492"/>
                  </a:lnTo>
                  <a:lnTo>
                    <a:pt x="2137968" y="1263424"/>
                  </a:lnTo>
                  <a:lnTo>
                    <a:pt x="2132318" y="1266824"/>
                  </a:lnTo>
                  <a:close/>
                </a:path>
              </a:pathLst>
            </a:custGeom>
            <a:solidFill>
              <a:srgbClr val="2DD4BE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086475" y="2752725"/>
              <a:ext cx="241300" cy="228600"/>
            </a:xfrm>
            <a:custGeom>
              <a:avLst/>
              <a:gdLst/>
              <a:ahLst/>
              <a:cxnLst/>
              <a:rect l="l" t="t" r="r" b="b"/>
              <a:pathLst>
                <a:path w="241300" h="228600">
                  <a:moveTo>
                    <a:pt x="228600" y="95250"/>
                  </a:moveTo>
                  <a:lnTo>
                    <a:pt x="228600" y="203200"/>
                  </a:lnTo>
                  <a:lnTo>
                    <a:pt x="228600" y="206568"/>
                  </a:lnTo>
                  <a:lnTo>
                    <a:pt x="203200" y="228600"/>
                  </a:lnTo>
                  <a:lnTo>
                    <a:pt x="25400" y="228600"/>
                  </a:lnTo>
                  <a:lnTo>
                    <a:pt x="0" y="206568"/>
                  </a:lnTo>
                  <a:lnTo>
                    <a:pt x="0" y="203200"/>
                  </a:lnTo>
                  <a:lnTo>
                    <a:pt x="0" y="25400"/>
                  </a:lnTo>
                  <a:lnTo>
                    <a:pt x="0" y="22031"/>
                  </a:lnTo>
                  <a:lnTo>
                    <a:pt x="644" y="18791"/>
                  </a:lnTo>
                  <a:lnTo>
                    <a:pt x="1933" y="15679"/>
                  </a:lnTo>
                  <a:lnTo>
                    <a:pt x="3222" y="12567"/>
                  </a:lnTo>
                  <a:lnTo>
                    <a:pt x="5057" y="9821"/>
                  </a:lnTo>
                  <a:lnTo>
                    <a:pt x="7439" y="7439"/>
                  </a:lnTo>
                  <a:lnTo>
                    <a:pt x="9821" y="5057"/>
                  </a:lnTo>
                  <a:lnTo>
                    <a:pt x="12567" y="3222"/>
                  </a:lnTo>
                  <a:lnTo>
                    <a:pt x="15679" y="1933"/>
                  </a:lnTo>
                  <a:lnTo>
                    <a:pt x="18791" y="644"/>
                  </a:lnTo>
                  <a:lnTo>
                    <a:pt x="22031" y="0"/>
                  </a:lnTo>
                  <a:lnTo>
                    <a:pt x="25400" y="0"/>
                  </a:lnTo>
                  <a:lnTo>
                    <a:pt x="184150" y="0"/>
                  </a:lnTo>
                </a:path>
                <a:path w="241300" h="228600">
                  <a:moveTo>
                    <a:pt x="76200" y="101600"/>
                  </a:moveTo>
                  <a:lnTo>
                    <a:pt x="114300" y="139700"/>
                  </a:lnTo>
                  <a:lnTo>
                    <a:pt x="241300" y="12700"/>
                  </a:lnTo>
                </a:path>
              </a:pathLst>
            </a:custGeom>
            <a:ln w="25400">
              <a:solidFill>
                <a:srgbClr val="2DD4B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649019" y="2951193"/>
            <a:ext cx="1097280" cy="7816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660"/>
              </a:spcBef>
            </a:pPr>
            <a:r>
              <a:rPr sz="29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100%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300" spc="-35" dirty="0">
                <a:solidFill>
                  <a:srgbClr val="FFFFFF"/>
                </a:solidFill>
                <a:latin typeface="Times New Roman"/>
                <a:cs typeface="Times New Roman"/>
              </a:rPr>
              <a:t>Doc.</a:t>
            </a:r>
            <a:r>
              <a:rPr sz="13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7200" y="4057649"/>
            <a:ext cx="6829425" cy="742950"/>
            <a:chOff x="457200" y="4057649"/>
            <a:chExt cx="6829425" cy="74295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4057649"/>
              <a:ext cx="6829425" cy="7429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57200" y="4057650"/>
              <a:ext cx="6829425" cy="742950"/>
            </a:xfrm>
            <a:custGeom>
              <a:avLst/>
              <a:gdLst/>
              <a:ahLst/>
              <a:cxnLst/>
              <a:rect l="l" t="t" r="r" b="b"/>
              <a:pathLst>
                <a:path w="6829425" h="742950">
                  <a:moveTo>
                    <a:pt x="6753224" y="742949"/>
                  </a:moveTo>
                  <a:lnTo>
                    <a:pt x="76199" y="742949"/>
                  </a:lnTo>
                  <a:lnTo>
                    <a:pt x="68693" y="742587"/>
                  </a:lnTo>
                  <a:lnTo>
                    <a:pt x="27882" y="725682"/>
                  </a:lnTo>
                  <a:lnTo>
                    <a:pt x="3262" y="688835"/>
                  </a:lnTo>
                  <a:lnTo>
                    <a:pt x="0" y="6667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6753224" y="0"/>
                  </a:lnTo>
                  <a:lnTo>
                    <a:pt x="6790046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671128"/>
                  </a:lnTo>
                  <a:lnTo>
                    <a:pt x="23194" y="707432"/>
                  </a:lnTo>
                  <a:lnTo>
                    <a:pt x="54729" y="730024"/>
                  </a:lnTo>
                  <a:lnTo>
                    <a:pt x="71822" y="733425"/>
                  </a:lnTo>
                  <a:lnTo>
                    <a:pt x="6790043" y="733425"/>
                  </a:lnTo>
                  <a:lnTo>
                    <a:pt x="6789180" y="733941"/>
                  </a:lnTo>
                  <a:lnTo>
                    <a:pt x="6782384" y="737149"/>
                  </a:lnTo>
                  <a:lnTo>
                    <a:pt x="6775310" y="739687"/>
                  </a:lnTo>
                  <a:lnTo>
                    <a:pt x="6768092" y="741499"/>
                  </a:lnTo>
                  <a:lnTo>
                    <a:pt x="6760730" y="742587"/>
                  </a:lnTo>
                  <a:lnTo>
                    <a:pt x="6753224" y="742949"/>
                  </a:lnTo>
                  <a:close/>
                </a:path>
                <a:path w="6829425" h="742950">
                  <a:moveTo>
                    <a:pt x="6790043" y="733425"/>
                  </a:moveTo>
                  <a:lnTo>
                    <a:pt x="6757602" y="733425"/>
                  </a:lnTo>
                  <a:lnTo>
                    <a:pt x="6761938" y="732997"/>
                  </a:lnTo>
                  <a:lnTo>
                    <a:pt x="6770525" y="731289"/>
                  </a:lnTo>
                  <a:lnTo>
                    <a:pt x="6803465" y="710800"/>
                  </a:lnTo>
                  <a:lnTo>
                    <a:pt x="6819472" y="675463"/>
                  </a:lnTo>
                  <a:lnTo>
                    <a:pt x="6819899" y="671128"/>
                  </a:lnTo>
                  <a:lnTo>
                    <a:pt x="6819899" y="71822"/>
                  </a:lnTo>
                  <a:lnTo>
                    <a:pt x="6819591" y="68693"/>
                  </a:lnTo>
                  <a:lnTo>
                    <a:pt x="6819472" y="67486"/>
                  </a:lnTo>
                  <a:lnTo>
                    <a:pt x="6803465" y="32149"/>
                  </a:lnTo>
                  <a:lnTo>
                    <a:pt x="6770525" y="11660"/>
                  </a:lnTo>
                  <a:lnTo>
                    <a:pt x="6757602" y="9525"/>
                  </a:lnTo>
                  <a:lnTo>
                    <a:pt x="6790046" y="9525"/>
                  </a:lnTo>
                  <a:lnTo>
                    <a:pt x="6820416" y="40243"/>
                  </a:lnTo>
                  <a:lnTo>
                    <a:pt x="6829424" y="76199"/>
                  </a:lnTo>
                  <a:lnTo>
                    <a:pt x="6829424" y="666749"/>
                  </a:lnTo>
                  <a:lnTo>
                    <a:pt x="6816594" y="709091"/>
                  </a:lnTo>
                  <a:lnTo>
                    <a:pt x="6795693" y="730024"/>
                  </a:lnTo>
                  <a:lnTo>
                    <a:pt x="6790043" y="733425"/>
                  </a:lnTo>
                  <a:close/>
                </a:path>
              </a:pathLst>
            </a:custGeom>
            <a:solidFill>
              <a:srgbClr val="2DD4BE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609600" y="4248149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38100"/>
                  </a:moveTo>
                  <a:lnTo>
                    <a:pt x="0" y="19050"/>
                  </a:lnTo>
                  <a:lnTo>
                    <a:pt x="0" y="16523"/>
                  </a:lnTo>
                  <a:lnTo>
                    <a:pt x="483" y="14093"/>
                  </a:lnTo>
                  <a:lnTo>
                    <a:pt x="1450" y="11759"/>
                  </a:lnTo>
                  <a:lnTo>
                    <a:pt x="2416" y="9425"/>
                  </a:lnTo>
                  <a:lnTo>
                    <a:pt x="3793" y="7365"/>
                  </a:lnTo>
                  <a:lnTo>
                    <a:pt x="5579" y="5579"/>
                  </a:lnTo>
                  <a:lnTo>
                    <a:pt x="7365" y="3793"/>
                  </a:lnTo>
                  <a:lnTo>
                    <a:pt x="9425" y="2416"/>
                  </a:lnTo>
                  <a:lnTo>
                    <a:pt x="11759" y="1450"/>
                  </a:lnTo>
                  <a:lnTo>
                    <a:pt x="14093" y="483"/>
                  </a:lnTo>
                  <a:lnTo>
                    <a:pt x="16523" y="0"/>
                  </a:lnTo>
                  <a:lnTo>
                    <a:pt x="19050" y="0"/>
                  </a:lnTo>
                  <a:lnTo>
                    <a:pt x="38100" y="0"/>
                  </a:lnTo>
                </a:path>
                <a:path w="171450" h="171450">
                  <a:moveTo>
                    <a:pt x="133350" y="0"/>
                  </a:moveTo>
                  <a:lnTo>
                    <a:pt x="152400" y="0"/>
                  </a:lnTo>
                  <a:lnTo>
                    <a:pt x="154926" y="0"/>
                  </a:lnTo>
                  <a:lnTo>
                    <a:pt x="157356" y="483"/>
                  </a:lnTo>
                  <a:lnTo>
                    <a:pt x="171450" y="19050"/>
                  </a:lnTo>
                  <a:lnTo>
                    <a:pt x="171450" y="38100"/>
                  </a:lnTo>
                </a:path>
                <a:path w="171450" h="171450">
                  <a:moveTo>
                    <a:pt x="171450" y="133350"/>
                  </a:moveTo>
                  <a:lnTo>
                    <a:pt x="171450" y="152400"/>
                  </a:lnTo>
                  <a:lnTo>
                    <a:pt x="171449" y="154926"/>
                  </a:lnTo>
                  <a:lnTo>
                    <a:pt x="152400" y="171450"/>
                  </a:lnTo>
                  <a:lnTo>
                    <a:pt x="133350" y="171450"/>
                  </a:lnTo>
                </a:path>
                <a:path w="171450" h="171450">
                  <a:moveTo>
                    <a:pt x="38100" y="171450"/>
                  </a:moveTo>
                  <a:lnTo>
                    <a:pt x="19050" y="171450"/>
                  </a:lnTo>
                  <a:lnTo>
                    <a:pt x="16523" y="171449"/>
                  </a:lnTo>
                  <a:lnTo>
                    <a:pt x="0" y="154926"/>
                  </a:lnTo>
                  <a:lnTo>
                    <a:pt x="0" y="152400"/>
                  </a:lnTo>
                  <a:lnTo>
                    <a:pt x="0" y="133350"/>
                  </a:lnTo>
                </a:path>
              </a:pathLst>
            </a:custGeom>
            <a:ln w="19050">
              <a:solidFill>
                <a:srgbClr val="BF83FB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11225" y="4121523"/>
            <a:ext cx="4288790" cy="5448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Defect</a:t>
            </a:r>
            <a:r>
              <a:rPr sz="1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Identifies</a:t>
            </a:r>
            <a:r>
              <a:rPr sz="1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cracks,</a:t>
            </a:r>
            <a:r>
              <a:rPr sz="13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color</a:t>
            </a:r>
            <a:r>
              <a:rPr sz="1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inconsistencies</a:t>
            </a:r>
            <a:r>
              <a:rPr sz="1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45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dimension</a:t>
            </a:r>
            <a:r>
              <a:rPr sz="13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issues.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7200" y="4914899"/>
            <a:ext cx="6829425" cy="742950"/>
            <a:chOff x="457200" y="4914899"/>
            <a:chExt cx="6829425" cy="74295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4914899"/>
              <a:ext cx="6829425" cy="74295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57200" y="4914899"/>
              <a:ext cx="6829425" cy="742950"/>
            </a:xfrm>
            <a:custGeom>
              <a:avLst/>
              <a:gdLst/>
              <a:ahLst/>
              <a:cxnLst/>
              <a:rect l="l" t="t" r="r" b="b"/>
              <a:pathLst>
                <a:path w="6829425" h="742950">
                  <a:moveTo>
                    <a:pt x="6753224" y="742949"/>
                  </a:moveTo>
                  <a:lnTo>
                    <a:pt x="76199" y="742949"/>
                  </a:lnTo>
                  <a:lnTo>
                    <a:pt x="68693" y="742587"/>
                  </a:lnTo>
                  <a:lnTo>
                    <a:pt x="27882" y="725682"/>
                  </a:lnTo>
                  <a:lnTo>
                    <a:pt x="3262" y="688836"/>
                  </a:lnTo>
                  <a:lnTo>
                    <a:pt x="0" y="6667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6753224" y="0"/>
                  </a:lnTo>
                  <a:lnTo>
                    <a:pt x="6790045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671128"/>
                  </a:lnTo>
                  <a:lnTo>
                    <a:pt x="23193" y="707432"/>
                  </a:lnTo>
                  <a:lnTo>
                    <a:pt x="54729" y="730025"/>
                  </a:lnTo>
                  <a:lnTo>
                    <a:pt x="71822" y="733425"/>
                  </a:lnTo>
                  <a:lnTo>
                    <a:pt x="6790043" y="733425"/>
                  </a:lnTo>
                  <a:lnTo>
                    <a:pt x="6789180" y="733941"/>
                  </a:lnTo>
                  <a:lnTo>
                    <a:pt x="6782385" y="737148"/>
                  </a:lnTo>
                  <a:lnTo>
                    <a:pt x="6775311" y="739686"/>
                  </a:lnTo>
                  <a:lnTo>
                    <a:pt x="6768093" y="741499"/>
                  </a:lnTo>
                  <a:lnTo>
                    <a:pt x="6760731" y="742587"/>
                  </a:lnTo>
                  <a:lnTo>
                    <a:pt x="6753224" y="742949"/>
                  </a:lnTo>
                  <a:close/>
                </a:path>
                <a:path w="6829425" h="742950">
                  <a:moveTo>
                    <a:pt x="6790043" y="733425"/>
                  </a:moveTo>
                  <a:lnTo>
                    <a:pt x="6757602" y="733425"/>
                  </a:lnTo>
                  <a:lnTo>
                    <a:pt x="6761938" y="732998"/>
                  </a:lnTo>
                  <a:lnTo>
                    <a:pt x="6770525" y="731289"/>
                  </a:lnTo>
                  <a:lnTo>
                    <a:pt x="6803465" y="710800"/>
                  </a:lnTo>
                  <a:lnTo>
                    <a:pt x="6819472" y="675463"/>
                  </a:lnTo>
                  <a:lnTo>
                    <a:pt x="6819899" y="671128"/>
                  </a:lnTo>
                  <a:lnTo>
                    <a:pt x="6819899" y="71822"/>
                  </a:lnTo>
                  <a:lnTo>
                    <a:pt x="6806229" y="35517"/>
                  </a:lnTo>
                  <a:lnTo>
                    <a:pt x="6774380" y="12829"/>
                  </a:lnTo>
                  <a:lnTo>
                    <a:pt x="6757602" y="9525"/>
                  </a:lnTo>
                  <a:lnTo>
                    <a:pt x="6790045" y="9525"/>
                  </a:lnTo>
                  <a:lnTo>
                    <a:pt x="6820416" y="40242"/>
                  </a:lnTo>
                  <a:lnTo>
                    <a:pt x="6829424" y="76199"/>
                  </a:lnTo>
                  <a:lnTo>
                    <a:pt x="6829424" y="666749"/>
                  </a:lnTo>
                  <a:lnTo>
                    <a:pt x="6816594" y="709091"/>
                  </a:lnTo>
                  <a:lnTo>
                    <a:pt x="6795692" y="730025"/>
                  </a:lnTo>
                  <a:lnTo>
                    <a:pt x="6790043" y="733425"/>
                  </a:lnTo>
                  <a:close/>
                </a:path>
              </a:pathLst>
            </a:custGeom>
            <a:solidFill>
              <a:srgbClr val="2DD4BE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650" y="5086349"/>
              <a:ext cx="133350" cy="21000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911225" y="4978773"/>
            <a:ext cx="3522345" cy="5448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5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1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Grading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300" spc="-125" dirty="0">
                <a:solidFill>
                  <a:srgbClr val="FFFFFF"/>
                </a:solidFill>
                <a:latin typeface="Times New Roman"/>
                <a:cs typeface="Times New Roman"/>
              </a:rPr>
              <a:t>A/B/C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grading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75" dirty="0">
                <a:solidFill>
                  <a:srgbClr val="FFFFFF"/>
                </a:solidFill>
                <a:latin typeface="Times New Roman"/>
                <a:cs typeface="Times New Roman"/>
              </a:rPr>
              <a:t>20+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parameters.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7200" y="5772149"/>
            <a:ext cx="6829425" cy="742950"/>
            <a:chOff x="457200" y="5772149"/>
            <a:chExt cx="6829425" cy="74295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5772149"/>
              <a:ext cx="6829425" cy="74295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57200" y="5772149"/>
              <a:ext cx="6829425" cy="742950"/>
            </a:xfrm>
            <a:custGeom>
              <a:avLst/>
              <a:gdLst/>
              <a:ahLst/>
              <a:cxnLst/>
              <a:rect l="l" t="t" r="r" b="b"/>
              <a:pathLst>
                <a:path w="6829425" h="742950">
                  <a:moveTo>
                    <a:pt x="6753224" y="742949"/>
                  </a:moveTo>
                  <a:lnTo>
                    <a:pt x="76199" y="742949"/>
                  </a:lnTo>
                  <a:lnTo>
                    <a:pt x="68693" y="742587"/>
                  </a:lnTo>
                  <a:lnTo>
                    <a:pt x="27882" y="725682"/>
                  </a:lnTo>
                  <a:lnTo>
                    <a:pt x="3262" y="688836"/>
                  </a:lnTo>
                  <a:lnTo>
                    <a:pt x="0" y="6667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6753224" y="0"/>
                  </a:lnTo>
                  <a:lnTo>
                    <a:pt x="6790045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671128"/>
                  </a:lnTo>
                  <a:lnTo>
                    <a:pt x="9833" y="674256"/>
                  </a:lnTo>
                  <a:lnTo>
                    <a:pt x="9952" y="675463"/>
                  </a:lnTo>
                  <a:lnTo>
                    <a:pt x="25957" y="710800"/>
                  </a:lnTo>
                  <a:lnTo>
                    <a:pt x="58898" y="731289"/>
                  </a:lnTo>
                  <a:lnTo>
                    <a:pt x="71822" y="733425"/>
                  </a:lnTo>
                  <a:lnTo>
                    <a:pt x="6790042" y="733425"/>
                  </a:lnTo>
                  <a:lnTo>
                    <a:pt x="6789179" y="733941"/>
                  </a:lnTo>
                  <a:lnTo>
                    <a:pt x="6782380" y="737149"/>
                  </a:lnTo>
                  <a:lnTo>
                    <a:pt x="6775307" y="739687"/>
                  </a:lnTo>
                  <a:lnTo>
                    <a:pt x="6768089" y="741499"/>
                  </a:lnTo>
                  <a:lnTo>
                    <a:pt x="6760728" y="742587"/>
                  </a:lnTo>
                  <a:lnTo>
                    <a:pt x="6753224" y="742949"/>
                  </a:lnTo>
                  <a:close/>
                </a:path>
                <a:path w="6829425" h="742950">
                  <a:moveTo>
                    <a:pt x="6790042" y="733425"/>
                  </a:moveTo>
                  <a:lnTo>
                    <a:pt x="6757602" y="733425"/>
                  </a:lnTo>
                  <a:lnTo>
                    <a:pt x="6761938" y="732998"/>
                  </a:lnTo>
                  <a:lnTo>
                    <a:pt x="6770525" y="731289"/>
                  </a:lnTo>
                  <a:lnTo>
                    <a:pt x="6803465" y="710800"/>
                  </a:lnTo>
                  <a:lnTo>
                    <a:pt x="6819472" y="675463"/>
                  </a:lnTo>
                  <a:lnTo>
                    <a:pt x="6819899" y="671128"/>
                  </a:lnTo>
                  <a:lnTo>
                    <a:pt x="6819899" y="71822"/>
                  </a:lnTo>
                  <a:lnTo>
                    <a:pt x="6819591" y="68693"/>
                  </a:lnTo>
                  <a:lnTo>
                    <a:pt x="6819472" y="67486"/>
                  </a:lnTo>
                  <a:lnTo>
                    <a:pt x="6803465" y="32149"/>
                  </a:lnTo>
                  <a:lnTo>
                    <a:pt x="6770525" y="11660"/>
                  </a:lnTo>
                  <a:lnTo>
                    <a:pt x="6757602" y="9525"/>
                  </a:lnTo>
                  <a:lnTo>
                    <a:pt x="6790045" y="9525"/>
                  </a:lnTo>
                  <a:lnTo>
                    <a:pt x="6820416" y="40242"/>
                  </a:lnTo>
                  <a:lnTo>
                    <a:pt x="6829424" y="76199"/>
                  </a:lnTo>
                  <a:lnTo>
                    <a:pt x="6829424" y="666749"/>
                  </a:lnTo>
                  <a:lnTo>
                    <a:pt x="6816594" y="709091"/>
                  </a:lnTo>
                  <a:lnTo>
                    <a:pt x="6795692" y="730025"/>
                  </a:lnTo>
                  <a:lnTo>
                    <a:pt x="6790042" y="733425"/>
                  </a:lnTo>
                  <a:close/>
                </a:path>
              </a:pathLst>
            </a:custGeom>
            <a:solidFill>
              <a:srgbClr val="2DD4BE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600" y="5943599"/>
              <a:ext cx="171450" cy="20955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911225" y="5836023"/>
            <a:ext cx="4551045" cy="5448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5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Auto</a:t>
            </a:r>
            <a:r>
              <a:rPr sz="1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Documentation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300" spc="-25" dirty="0">
                <a:solidFill>
                  <a:srgbClr val="FFFFFF"/>
                </a:solidFill>
                <a:latin typeface="Times New Roman"/>
                <a:cs typeface="Times New Roman"/>
              </a:rPr>
              <a:t>Generates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export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certificates,</a:t>
            </a:r>
            <a:r>
              <a:rPr sz="13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reports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45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customs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 forms.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57200" y="6629400"/>
            <a:ext cx="6829425" cy="742950"/>
            <a:chOff x="457200" y="6629400"/>
            <a:chExt cx="6829425" cy="742950"/>
          </a:xfrm>
        </p:grpSpPr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6629400"/>
              <a:ext cx="6829425" cy="74295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57200" y="6629400"/>
              <a:ext cx="6829425" cy="742950"/>
            </a:xfrm>
            <a:custGeom>
              <a:avLst/>
              <a:gdLst/>
              <a:ahLst/>
              <a:cxnLst/>
              <a:rect l="l" t="t" r="r" b="b"/>
              <a:pathLst>
                <a:path w="6829425" h="742950">
                  <a:moveTo>
                    <a:pt x="6753224" y="742949"/>
                  </a:moveTo>
                  <a:lnTo>
                    <a:pt x="76199" y="742949"/>
                  </a:lnTo>
                  <a:lnTo>
                    <a:pt x="68693" y="742587"/>
                  </a:lnTo>
                  <a:lnTo>
                    <a:pt x="27882" y="725682"/>
                  </a:lnTo>
                  <a:lnTo>
                    <a:pt x="3262" y="688836"/>
                  </a:lnTo>
                  <a:lnTo>
                    <a:pt x="0" y="6667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6753224" y="0"/>
                  </a:lnTo>
                  <a:lnTo>
                    <a:pt x="6790045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671128"/>
                  </a:lnTo>
                  <a:lnTo>
                    <a:pt x="9833" y="674256"/>
                  </a:lnTo>
                  <a:lnTo>
                    <a:pt x="9952" y="675463"/>
                  </a:lnTo>
                  <a:lnTo>
                    <a:pt x="25957" y="710800"/>
                  </a:lnTo>
                  <a:lnTo>
                    <a:pt x="58898" y="731289"/>
                  </a:lnTo>
                  <a:lnTo>
                    <a:pt x="71822" y="733425"/>
                  </a:lnTo>
                  <a:lnTo>
                    <a:pt x="6790043" y="733425"/>
                  </a:lnTo>
                  <a:lnTo>
                    <a:pt x="6789180" y="733941"/>
                  </a:lnTo>
                  <a:lnTo>
                    <a:pt x="6782385" y="737149"/>
                  </a:lnTo>
                  <a:lnTo>
                    <a:pt x="6775311" y="739686"/>
                  </a:lnTo>
                  <a:lnTo>
                    <a:pt x="6768093" y="741499"/>
                  </a:lnTo>
                  <a:lnTo>
                    <a:pt x="6760731" y="742587"/>
                  </a:lnTo>
                  <a:lnTo>
                    <a:pt x="6753224" y="742949"/>
                  </a:lnTo>
                  <a:close/>
                </a:path>
                <a:path w="6829425" h="742950">
                  <a:moveTo>
                    <a:pt x="6790043" y="733425"/>
                  </a:moveTo>
                  <a:lnTo>
                    <a:pt x="6757602" y="733425"/>
                  </a:lnTo>
                  <a:lnTo>
                    <a:pt x="6761938" y="732998"/>
                  </a:lnTo>
                  <a:lnTo>
                    <a:pt x="6770525" y="731289"/>
                  </a:lnTo>
                  <a:lnTo>
                    <a:pt x="6803465" y="710800"/>
                  </a:lnTo>
                  <a:lnTo>
                    <a:pt x="6819472" y="675463"/>
                  </a:lnTo>
                  <a:lnTo>
                    <a:pt x="6819899" y="671128"/>
                  </a:lnTo>
                  <a:lnTo>
                    <a:pt x="6819899" y="71822"/>
                  </a:lnTo>
                  <a:lnTo>
                    <a:pt x="6806229" y="35517"/>
                  </a:lnTo>
                  <a:lnTo>
                    <a:pt x="6774381" y="12829"/>
                  </a:lnTo>
                  <a:lnTo>
                    <a:pt x="6757602" y="9525"/>
                  </a:lnTo>
                  <a:lnTo>
                    <a:pt x="6790045" y="9525"/>
                  </a:lnTo>
                  <a:lnTo>
                    <a:pt x="6820416" y="40242"/>
                  </a:lnTo>
                  <a:lnTo>
                    <a:pt x="6829424" y="76199"/>
                  </a:lnTo>
                  <a:lnTo>
                    <a:pt x="6829424" y="666749"/>
                  </a:lnTo>
                  <a:lnTo>
                    <a:pt x="6816594" y="709091"/>
                  </a:lnTo>
                  <a:lnTo>
                    <a:pt x="6795693" y="730025"/>
                  </a:lnTo>
                  <a:lnTo>
                    <a:pt x="6790043" y="733425"/>
                  </a:lnTo>
                  <a:close/>
                </a:path>
              </a:pathLst>
            </a:custGeom>
            <a:solidFill>
              <a:srgbClr val="2DD4BE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0550" y="6800850"/>
              <a:ext cx="209550" cy="20955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911225" y="6693273"/>
            <a:ext cx="4194810" cy="5448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5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Compliance</a:t>
            </a:r>
            <a:r>
              <a:rPr sz="15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Checker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300" spc="-25" dirty="0">
                <a:solidFill>
                  <a:srgbClr val="FFFFFF"/>
                </a:solidFill>
                <a:latin typeface="Times New Roman"/>
                <a:cs typeface="Times New Roman"/>
              </a:rPr>
              <a:t>Validates</a:t>
            </a:r>
            <a:r>
              <a:rPr sz="13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against</a:t>
            </a:r>
            <a:r>
              <a:rPr sz="13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80" dirty="0">
                <a:solidFill>
                  <a:srgbClr val="FFFFFF"/>
                </a:solidFill>
                <a:latin typeface="Times New Roman"/>
                <a:cs typeface="Times New Roman"/>
              </a:rPr>
              <a:t>50+</a:t>
            </a:r>
            <a:r>
              <a:rPr sz="13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country-specific</a:t>
            </a:r>
            <a:r>
              <a:rPr sz="13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import</a:t>
            </a:r>
            <a:r>
              <a:rPr sz="13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regulations.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263262" y="1235261"/>
            <a:ext cx="2893695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b="1" spc="-15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255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591425" y="1819275"/>
            <a:ext cx="10239375" cy="1181100"/>
            <a:chOff x="7591425" y="1819275"/>
            <a:chExt cx="10239375" cy="1181100"/>
          </a:xfrm>
        </p:grpSpPr>
        <p:sp>
          <p:nvSpPr>
            <p:cNvPr id="41" name="object 41"/>
            <p:cNvSpPr/>
            <p:nvPr/>
          </p:nvSpPr>
          <p:spPr>
            <a:xfrm>
              <a:off x="7600950" y="1828800"/>
              <a:ext cx="10220325" cy="1162050"/>
            </a:xfrm>
            <a:custGeom>
              <a:avLst/>
              <a:gdLst/>
              <a:ahLst/>
              <a:cxnLst/>
              <a:rect l="l" t="t" r="r" b="b"/>
              <a:pathLst>
                <a:path w="10220325" h="1162050">
                  <a:moveTo>
                    <a:pt x="10158027" y="1162049"/>
                  </a:moveTo>
                  <a:lnTo>
                    <a:pt x="62297" y="1162049"/>
                  </a:lnTo>
                  <a:lnTo>
                    <a:pt x="57961" y="1161622"/>
                  </a:lnTo>
                  <a:lnTo>
                    <a:pt x="22624" y="1145616"/>
                  </a:lnTo>
                  <a:lnTo>
                    <a:pt x="2134" y="1112676"/>
                  </a:lnTo>
                  <a:lnTo>
                    <a:pt x="0" y="1099753"/>
                  </a:lnTo>
                  <a:lnTo>
                    <a:pt x="0" y="1095375"/>
                  </a:lnTo>
                  <a:lnTo>
                    <a:pt x="0" y="62296"/>
                  </a:lnTo>
                  <a:lnTo>
                    <a:pt x="13667" y="25991"/>
                  </a:lnTo>
                  <a:lnTo>
                    <a:pt x="45202" y="3399"/>
                  </a:lnTo>
                  <a:lnTo>
                    <a:pt x="62297" y="0"/>
                  </a:lnTo>
                  <a:lnTo>
                    <a:pt x="10158027" y="0"/>
                  </a:lnTo>
                  <a:lnTo>
                    <a:pt x="10194329" y="13668"/>
                  </a:lnTo>
                  <a:lnTo>
                    <a:pt x="10216922" y="45204"/>
                  </a:lnTo>
                  <a:lnTo>
                    <a:pt x="10220325" y="62296"/>
                  </a:lnTo>
                  <a:lnTo>
                    <a:pt x="10220325" y="1099753"/>
                  </a:lnTo>
                  <a:lnTo>
                    <a:pt x="10206652" y="1136057"/>
                  </a:lnTo>
                  <a:lnTo>
                    <a:pt x="10175117" y="1158649"/>
                  </a:lnTo>
                  <a:lnTo>
                    <a:pt x="10162362" y="1161622"/>
                  </a:lnTo>
                  <a:lnTo>
                    <a:pt x="10158027" y="1162049"/>
                  </a:lnTo>
                  <a:close/>
                </a:path>
              </a:pathLst>
            </a:custGeom>
            <a:solidFill>
              <a:srgbClr val="1D3A8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7600950" y="1828800"/>
              <a:ext cx="10220325" cy="1162050"/>
            </a:xfrm>
            <a:custGeom>
              <a:avLst/>
              <a:gdLst/>
              <a:ahLst/>
              <a:cxnLst/>
              <a:rect l="l" t="t" r="r" b="b"/>
              <a:pathLst>
                <a:path w="10220325" h="1162050">
                  <a:moveTo>
                    <a:pt x="0" y="1095375"/>
                  </a:moveTo>
                  <a:lnTo>
                    <a:pt x="0" y="66675"/>
                  </a:lnTo>
                  <a:lnTo>
                    <a:pt x="0" y="62296"/>
                  </a:lnTo>
                  <a:lnTo>
                    <a:pt x="426" y="57961"/>
                  </a:lnTo>
                  <a:lnTo>
                    <a:pt x="1281" y="53667"/>
                  </a:lnTo>
                  <a:lnTo>
                    <a:pt x="2134" y="49373"/>
                  </a:lnTo>
                  <a:lnTo>
                    <a:pt x="3400" y="4520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41158" y="5075"/>
                  </a:lnTo>
                  <a:lnTo>
                    <a:pt x="45202" y="3399"/>
                  </a:lnTo>
                  <a:lnTo>
                    <a:pt x="49372" y="2135"/>
                  </a:lnTo>
                  <a:lnTo>
                    <a:pt x="53666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0153650" y="0"/>
                  </a:lnTo>
                  <a:lnTo>
                    <a:pt x="10158027" y="0"/>
                  </a:lnTo>
                  <a:lnTo>
                    <a:pt x="10162362" y="427"/>
                  </a:lnTo>
                  <a:lnTo>
                    <a:pt x="10166655" y="1281"/>
                  </a:lnTo>
                  <a:lnTo>
                    <a:pt x="10170949" y="2135"/>
                  </a:lnTo>
                  <a:lnTo>
                    <a:pt x="10190688" y="11236"/>
                  </a:lnTo>
                  <a:lnTo>
                    <a:pt x="10194329" y="13668"/>
                  </a:lnTo>
                  <a:lnTo>
                    <a:pt x="10215247" y="41159"/>
                  </a:lnTo>
                  <a:lnTo>
                    <a:pt x="10216922" y="45204"/>
                  </a:lnTo>
                  <a:lnTo>
                    <a:pt x="10218187" y="49373"/>
                  </a:lnTo>
                  <a:lnTo>
                    <a:pt x="10219042" y="53667"/>
                  </a:lnTo>
                  <a:lnTo>
                    <a:pt x="10219897" y="57961"/>
                  </a:lnTo>
                  <a:lnTo>
                    <a:pt x="10220325" y="62296"/>
                  </a:lnTo>
                  <a:lnTo>
                    <a:pt x="10220325" y="66675"/>
                  </a:lnTo>
                  <a:lnTo>
                    <a:pt x="10220325" y="1095375"/>
                  </a:lnTo>
                  <a:lnTo>
                    <a:pt x="10220325" y="1099753"/>
                  </a:lnTo>
                  <a:lnTo>
                    <a:pt x="10219897" y="1104088"/>
                  </a:lnTo>
                  <a:lnTo>
                    <a:pt x="10219042" y="1108382"/>
                  </a:lnTo>
                  <a:lnTo>
                    <a:pt x="10218187" y="1112676"/>
                  </a:lnTo>
                  <a:lnTo>
                    <a:pt x="10216922" y="1116845"/>
                  </a:lnTo>
                  <a:lnTo>
                    <a:pt x="10215247" y="1120889"/>
                  </a:lnTo>
                  <a:lnTo>
                    <a:pt x="10213571" y="1124934"/>
                  </a:lnTo>
                  <a:lnTo>
                    <a:pt x="10187050" y="1153245"/>
                  </a:lnTo>
                  <a:lnTo>
                    <a:pt x="10179162" y="1156974"/>
                  </a:lnTo>
                  <a:lnTo>
                    <a:pt x="10175117" y="1158649"/>
                  </a:lnTo>
                  <a:lnTo>
                    <a:pt x="10170949" y="1159914"/>
                  </a:lnTo>
                  <a:lnTo>
                    <a:pt x="10166655" y="1160768"/>
                  </a:lnTo>
                  <a:lnTo>
                    <a:pt x="10162362" y="1161622"/>
                  </a:lnTo>
                  <a:lnTo>
                    <a:pt x="10158027" y="1162049"/>
                  </a:lnTo>
                  <a:lnTo>
                    <a:pt x="10153650" y="1162050"/>
                  </a:lnTo>
                  <a:lnTo>
                    <a:pt x="66675" y="1162050"/>
                  </a:lnTo>
                  <a:lnTo>
                    <a:pt x="62297" y="1162049"/>
                  </a:lnTo>
                  <a:lnTo>
                    <a:pt x="57961" y="1161622"/>
                  </a:lnTo>
                  <a:lnTo>
                    <a:pt x="53666" y="1160768"/>
                  </a:lnTo>
                  <a:lnTo>
                    <a:pt x="49372" y="1159914"/>
                  </a:lnTo>
                  <a:lnTo>
                    <a:pt x="45202" y="1158649"/>
                  </a:lnTo>
                  <a:lnTo>
                    <a:pt x="41158" y="1156974"/>
                  </a:lnTo>
                  <a:lnTo>
                    <a:pt x="37113" y="1155299"/>
                  </a:lnTo>
                  <a:lnTo>
                    <a:pt x="19528" y="1142520"/>
                  </a:lnTo>
                  <a:lnTo>
                    <a:pt x="16432" y="1139424"/>
                  </a:lnTo>
                  <a:lnTo>
                    <a:pt x="1281" y="1108382"/>
                  </a:lnTo>
                  <a:lnTo>
                    <a:pt x="426" y="1104088"/>
                  </a:lnTo>
                  <a:lnTo>
                    <a:pt x="0" y="1099753"/>
                  </a:lnTo>
                  <a:lnTo>
                    <a:pt x="0" y="1095375"/>
                  </a:lnTo>
                  <a:close/>
                </a:path>
              </a:pathLst>
            </a:custGeom>
            <a:ln w="19050">
              <a:solidFill>
                <a:srgbClr val="60A5FA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710140" y="1944115"/>
            <a:ext cx="964565" cy="2378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b="1" spc="-35" dirty="0">
                <a:solidFill>
                  <a:srgbClr val="93C4FD"/>
                </a:solidFill>
                <a:latin typeface="Times New Roman"/>
                <a:cs typeface="Times New Roman"/>
              </a:rPr>
              <a:t>Input</a:t>
            </a:r>
            <a:r>
              <a:rPr sz="1450" b="1" spc="-70" dirty="0">
                <a:solidFill>
                  <a:srgbClr val="93C4FD"/>
                </a:solidFill>
                <a:latin typeface="Times New Roman"/>
                <a:cs typeface="Times New Roman"/>
              </a:rPr>
              <a:t> </a:t>
            </a:r>
            <a:r>
              <a:rPr sz="1450" b="1" spc="-40" dirty="0">
                <a:solidFill>
                  <a:srgbClr val="93C4FD"/>
                </a:solidFill>
                <a:latin typeface="Times New Roman"/>
                <a:cs typeface="Times New Roman"/>
              </a:rPr>
              <a:t>Layer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724775" y="2295525"/>
            <a:ext cx="4943475" cy="571500"/>
            <a:chOff x="7724775" y="2295525"/>
            <a:chExt cx="4943475" cy="571500"/>
          </a:xfrm>
        </p:grpSpPr>
        <p:sp>
          <p:nvSpPr>
            <p:cNvPr id="45" name="object 45"/>
            <p:cNvSpPr/>
            <p:nvPr/>
          </p:nvSpPr>
          <p:spPr>
            <a:xfrm>
              <a:off x="7724775" y="2295525"/>
              <a:ext cx="4943475" cy="571500"/>
            </a:xfrm>
            <a:custGeom>
              <a:avLst/>
              <a:gdLst/>
              <a:ahLst/>
              <a:cxnLst/>
              <a:rect l="l" t="t" r="r" b="b"/>
              <a:pathLst>
                <a:path w="4943475" h="571500">
                  <a:moveTo>
                    <a:pt x="4910427" y="571499"/>
                  </a:moveTo>
                  <a:lnTo>
                    <a:pt x="33048" y="571499"/>
                  </a:lnTo>
                  <a:lnTo>
                    <a:pt x="28186" y="570533"/>
                  </a:lnTo>
                  <a:lnTo>
                    <a:pt x="966" y="543312"/>
                  </a:lnTo>
                  <a:lnTo>
                    <a:pt x="0" y="538452"/>
                  </a:lnTo>
                  <a:lnTo>
                    <a:pt x="0" y="533400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8" y="0"/>
                  </a:lnTo>
                  <a:lnTo>
                    <a:pt x="4910427" y="0"/>
                  </a:lnTo>
                  <a:lnTo>
                    <a:pt x="4942506" y="28187"/>
                  </a:lnTo>
                  <a:lnTo>
                    <a:pt x="4943474" y="33047"/>
                  </a:lnTo>
                  <a:lnTo>
                    <a:pt x="4943474" y="538452"/>
                  </a:lnTo>
                  <a:lnTo>
                    <a:pt x="4915288" y="570533"/>
                  </a:lnTo>
                  <a:lnTo>
                    <a:pt x="4910427" y="571499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7840662" y="2501900"/>
              <a:ext cx="111125" cy="158750"/>
            </a:xfrm>
            <a:custGeom>
              <a:avLst/>
              <a:gdLst/>
              <a:ahLst/>
              <a:cxnLst/>
              <a:rect l="l" t="t" r="r" b="b"/>
              <a:pathLst>
                <a:path w="111125" h="158750">
                  <a:moveTo>
                    <a:pt x="15875" y="0"/>
                  </a:moveTo>
                  <a:lnTo>
                    <a:pt x="95250" y="0"/>
                  </a:lnTo>
                  <a:lnTo>
                    <a:pt x="97355" y="0"/>
                  </a:lnTo>
                  <a:lnTo>
                    <a:pt x="99380" y="402"/>
                  </a:lnTo>
                  <a:lnTo>
                    <a:pt x="101325" y="1208"/>
                  </a:lnTo>
                  <a:lnTo>
                    <a:pt x="103270" y="2014"/>
                  </a:lnTo>
                  <a:lnTo>
                    <a:pt x="104986" y="3161"/>
                  </a:lnTo>
                  <a:lnTo>
                    <a:pt x="106475" y="4649"/>
                  </a:lnTo>
                  <a:lnTo>
                    <a:pt x="107963" y="6138"/>
                  </a:lnTo>
                  <a:lnTo>
                    <a:pt x="109110" y="7854"/>
                  </a:lnTo>
                  <a:lnTo>
                    <a:pt x="109916" y="9799"/>
                  </a:lnTo>
                  <a:lnTo>
                    <a:pt x="110722" y="11744"/>
                  </a:lnTo>
                  <a:lnTo>
                    <a:pt x="111124" y="13769"/>
                  </a:lnTo>
                  <a:lnTo>
                    <a:pt x="111125" y="15875"/>
                  </a:lnTo>
                  <a:lnTo>
                    <a:pt x="111125" y="142875"/>
                  </a:lnTo>
                  <a:lnTo>
                    <a:pt x="111124" y="144980"/>
                  </a:lnTo>
                  <a:lnTo>
                    <a:pt x="110722" y="147005"/>
                  </a:lnTo>
                  <a:lnTo>
                    <a:pt x="109916" y="148950"/>
                  </a:lnTo>
                  <a:lnTo>
                    <a:pt x="109110" y="150895"/>
                  </a:lnTo>
                  <a:lnTo>
                    <a:pt x="101325" y="157541"/>
                  </a:lnTo>
                  <a:lnTo>
                    <a:pt x="99380" y="158347"/>
                  </a:lnTo>
                  <a:lnTo>
                    <a:pt x="97355" y="158749"/>
                  </a:lnTo>
                  <a:lnTo>
                    <a:pt x="95250" y="158750"/>
                  </a:lnTo>
                  <a:lnTo>
                    <a:pt x="15875" y="158750"/>
                  </a:lnTo>
                  <a:lnTo>
                    <a:pt x="1208" y="148950"/>
                  </a:lnTo>
                  <a:lnTo>
                    <a:pt x="402" y="147005"/>
                  </a:lnTo>
                  <a:lnTo>
                    <a:pt x="0" y="144980"/>
                  </a:lnTo>
                  <a:lnTo>
                    <a:pt x="0" y="142875"/>
                  </a:lnTo>
                  <a:lnTo>
                    <a:pt x="0" y="15875"/>
                  </a:lnTo>
                  <a:lnTo>
                    <a:pt x="0" y="13769"/>
                  </a:lnTo>
                  <a:lnTo>
                    <a:pt x="402" y="11744"/>
                  </a:lnTo>
                  <a:lnTo>
                    <a:pt x="1208" y="9799"/>
                  </a:lnTo>
                  <a:lnTo>
                    <a:pt x="2014" y="7854"/>
                  </a:lnTo>
                  <a:lnTo>
                    <a:pt x="3161" y="6138"/>
                  </a:lnTo>
                  <a:lnTo>
                    <a:pt x="4649" y="4649"/>
                  </a:lnTo>
                  <a:lnTo>
                    <a:pt x="6138" y="3161"/>
                  </a:lnTo>
                  <a:lnTo>
                    <a:pt x="7854" y="2014"/>
                  </a:lnTo>
                  <a:lnTo>
                    <a:pt x="9799" y="1208"/>
                  </a:lnTo>
                  <a:lnTo>
                    <a:pt x="11744" y="402"/>
                  </a:lnTo>
                  <a:lnTo>
                    <a:pt x="13769" y="0"/>
                  </a:lnTo>
                  <a:lnTo>
                    <a:pt x="15875" y="0"/>
                  </a:lnTo>
                  <a:close/>
                </a:path>
                <a:path w="111125" h="158750">
                  <a:moveTo>
                    <a:pt x="55562" y="127000"/>
                  </a:moveTo>
                  <a:lnTo>
                    <a:pt x="55641" y="127000"/>
                  </a:lnTo>
                </a:path>
              </a:pathLst>
            </a:custGeom>
            <a:ln w="15875">
              <a:solidFill>
                <a:srgbClr val="60A5FA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053040" y="2339021"/>
            <a:ext cx="1530985" cy="44704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135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App</a:t>
            </a:r>
            <a:r>
              <a:rPr sz="135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Camera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5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Artisan</a:t>
            </a:r>
            <a:r>
              <a:rPr sz="11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imes New Roman"/>
                <a:cs typeface="Times New Roman"/>
              </a:rPr>
              <a:t>captures</a:t>
            </a:r>
            <a:r>
              <a:rPr sz="11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imes New Roman"/>
                <a:cs typeface="Times New Roman"/>
              </a:rPr>
              <a:t>photos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2744449" y="2295525"/>
            <a:ext cx="4953000" cy="571500"/>
            <a:chOff x="12744449" y="2295525"/>
            <a:chExt cx="4953000" cy="571500"/>
          </a:xfrm>
        </p:grpSpPr>
        <p:sp>
          <p:nvSpPr>
            <p:cNvPr id="49" name="object 49"/>
            <p:cNvSpPr/>
            <p:nvPr/>
          </p:nvSpPr>
          <p:spPr>
            <a:xfrm>
              <a:off x="12744449" y="2295525"/>
              <a:ext cx="4953000" cy="571500"/>
            </a:xfrm>
            <a:custGeom>
              <a:avLst/>
              <a:gdLst/>
              <a:ahLst/>
              <a:cxnLst/>
              <a:rect l="l" t="t" r="r" b="b"/>
              <a:pathLst>
                <a:path w="4953000" h="571500">
                  <a:moveTo>
                    <a:pt x="4919952" y="571499"/>
                  </a:moveTo>
                  <a:lnTo>
                    <a:pt x="33046" y="571499"/>
                  </a:lnTo>
                  <a:lnTo>
                    <a:pt x="28186" y="570533"/>
                  </a:lnTo>
                  <a:lnTo>
                    <a:pt x="965" y="543312"/>
                  </a:lnTo>
                  <a:lnTo>
                    <a:pt x="0" y="538452"/>
                  </a:lnTo>
                  <a:lnTo>
                    <a:pt x="0" y="533400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6" y="0"/>
                  </a:lnTo>
                  <a:lnTo>
                    <a:pt x="4919952" y="0"/>
                  </a:lnTo>
                  <a:lnTo>
                    <a:pt x="4952031" y="28187"/>
                  </a:lnTo>
                  <a:lnTo>
                    <a:pt x="4952999" y="33047"/>
                  </a:lnTo>
                  <a:lnTo>
                    <a:pt x="4952999" y="538452"/>
                  </a:lnTo>
                  <a:lnTo>
                    <a:pt x="4924810" y="570533"/>
                  </a:lnTo>
                  <a:lnTo>
                    <a:pt x="4919952" y="571499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36525" y="2501900"/>
              <a:ext cx="158750" cy="158750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13078370" y="2339021"/>
            <a:ext cx="1362710" cy="44704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5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Web</a:t>
            </a:r>
            <a:r>
              <a:rPr sz="135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Upload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50" spc="-20" dirty="0">
                <a:solidFill>
                  <a:srgbClr val="FFFFFF"/>
                </a:solidFill>
                <a:latin typeface="Times New Roman"/>
                <a:cs typeface="Times New Roman"/>
              </a:rPr>
              <a:t>Bulk</a:t>
            </a:r>
            <a:r>
              <a:rPr sz="11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FFFFFF"/>
                </a:solidFill>
                <a:latin typeface="Times New Roman"/>
                <a:cs typeface="Times New Roman"/>
              </a:rPr>
              <a:t>upload</a:t>
            </a:r>
            <a:r>
              <a:rPr sz="11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interface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2650787" y="3144837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2" y="0"/>
                </a:moveTo>
                <a:lnTo>
                  <a:pt x="55562" y="111125"/>
                </a:lnTo>
              </a:path>
              <a:path w="111125" h="111125">
                <a:moveTo>
                  <a:pt x="111125" y="55562"/>
                </a:moveTo>
                <a:lnTo>
                  <a:pt x="55562" y="111125"/>
                </a:lnTo>
                <a:lnTo>
                  <a:pt x="0" y="55562"/>
                </a:lnTo>
              </a:path>
            </a:pathLst>
          </a:custGeom>
          <a:ln w="15875">
            <a:solidFill>
              <a:srgbClr val="FA913C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591425" y="3400425"/>
            <a:ext cx="10239375" cy="2114550"/>
            <a:chOff x="7591425" y="3400425"/>
            <a:chExt cx="10239375" cy="2114550"/>
          </a:xfrm>
        </p:grpSpPr>
        <p:sp>
          <p:nvSpPr>
            <p:cNvPr id="54" name="object 54"/>
            <p:cNvSpPr/>
            <p:nvPr/>
          </p:nvSpPr>
          <p:spPr>
            <a:xfrm>
              <a:off x="7600950" y="3409950"/>
              <a:ext cx="10220325" cy="2095500"/>
            </a:xfrm>
            <a:custGeom>
              <a:avLst/>
              <a:gdLst/>
              <a:ahLst/>
              <a:cxnLst/>
              <a:rect l="l" t="t" r="r" b="b"/>
              <a:pathLst>
                <a:path w="10220325" h="2095500">
                  <a:moveTo>
                    <a:pt x="10158027" y="2095499"/>
                  </a:moveTo>
                  <a:lnTo>
                    <a:pt x="62297" y="2095499"/>
                  </a:lnTo>
                  <a:lnTo>
                    <a:pt x="57961" y="2095072"/>
                  </a:lnTo>
                  <a:lnTo>
                    <a:pt x="22624" y="2079066"/>
                  </a:lnTo>
                  <a:lnTo>
                    <a:pt x="2134" y="2046126"/>
                  </a:lnTo>
                  <a:lnTo>
                    <a:pt x="0" y="2033203"/>
                  </a:lnTo>
                  <a:lnTo>
                    <a:pt x="0" y="2028825"/>
                  </a:lnTo>
                  <a:lnTo>
                    <a:pt x="0" y="62297"/>
                  </a:lnTo>
                  <a:lnTo>
                    <a:pt x="13667" y="25992"/>
                  </a:lnTo>
                  <a:lnTo>
                    <a:pt x="45202" y="3399"/>
                  </a:lnTo>
                  <a:lnTo>
                    <a:pt x="62297" y="0"/>
                  </a:lnTo>
                  <a:lnTo>
                    <a:pt x="10158027" y="0"/>
                  </a:lnTo>
                  <a:lnTo>
                    <a:pt x="10194329" y="13668"/>
                  </a:lnTo>
                  <a:lnTo>
                    <a:pt x="10216922" y="45204"/>
                  </a:lnTo>
                  <a:lnTo>
                    <a:pt x="10220325" y="62297"/>
                  </a:lnTo>
                  <a:lnTo>
                    <a:pt x="10220325" y="2033203"/>
                  </a:lnTo>
                  <a:lnTo>
                    <a:pt x="10206652" y="2069507"/>
                  </a:lnTo>
                  <a:lnTo>
                    <a:pt x="10175117" y="2092099"/>
                  </a:lnTo>
                  <a:lnTo>
                    <a:pt x="10162362" y="2095072"/>
                  </a:lnTo>
                  <a:lnTo>
                    <a:pt x="10158027" y="2095499"/>
                  </a:lnTo>
                  <a:close/>
                </a:path>
              </a:pathLst>
            </a:custGeom>
            <a:solidFill>
              <a:srgbClr val="581B8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7600950" y="3409950"/>
              <a:ext cx="10220325" cy="2095500"/>
            </a:xfrm>
            <a:custGeom>
              <a:avLst/>
              <a:gdLst/>
              <a:ahLst/>
              <a:cxnLst/>
              <a:rect l="l" t="t" r="r" b="b"/>
              <a:pathLst>
                <a:path w="10220325" h="2095500">
                  <a:moveTo>
                    <a:pt x="0" y="2028825"/>
                  </a:moveTo>
                  <a:lnTo>
                    <a:pt x="0" y="66675"/>
                  </a:lnTo>
                  <a:lnTo>
                    <a:pt x="0" y="62297"/>
                  </a:lnTo>
                  <a:lnTo>
                    <a:pt x="426" y="57961"/>
                  </a:lnTo>
                  <a:lnTo>
                    <a:pt x="1281" y="53667"/>
                  </a:lnTo>
                  <a:lnTo>
                    <a:pt x="2134" y="49373"/>
                  </a:lnTo>
                  <a:lnTo>
                    <a:pt x="3400" y="4520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41158" y="5074"/>
                  </a:lnTo>
                  <a:lnTo>
                    <a:pt x="45202" y="3399"/>
                  </a:lnTo>
                  <a:lnTo>
                    <a:pt x="49372" y="2135"/>
                  </a:lnTo>
                  <a:lnTo>
                    <a:pt x="53666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0153650" y="0"/>
                  </a:lnTo>
                  <a:lnTo>
                    <a:pt x="10158027" y="0"/>
                  </a:lnTo>
                  <a:lnTo>
                    <a:pt x="10162362" y="427"/>
                  </a:lnTo>
                  <a:lnTo>
                    <a:pt x="10166655" y="1281"/>
                  </a:lnTo>
                  <a:lnTo>
                    <a:pt x="10170949" y="2135"/>
                  </a:lnTo>
                  <a:lnTo>
                    <a:pt x="10190688" y="11236"/>
                  </a:lnTo>
                  <a:lnTo>
                    <a:pt x="10194329" y="13668"/>
                  </a:lnTo>
                  <a:lnTo>
                    <a:pt x="10215247" y="41159"/>
                  </a:lnTo>
                  <a:lnTo>
                    <a:pt x="10216922" y="45204"/>
                  </a:lnTo>
                  <a:lnTo>
                    <a:pt x="10218187" y="49373"/>
                  </a:lnTo>
                  <a:lnTo>
                    <a:pt x="10219042" y="53667"/>
                  </a:lnTo>
                  <a:lnTo>
                    <a:pt x="10219897" y="57961"/>
                  </a:lnTo>
                  <a:lnTo>
                    <a:pt x="10220325" y="62297"/>
                  </a:lnTo>
                  <a:lnTo>
                    <a:pt x="10220325" y="66675"/>
                  </a:lnTo>
                  <a:lnTo>
                    <a:pt x="10220325" y="2028825"/>
                  </a:lnTo>
                  <a:lnTo>
                    <a:pt x="10220325" y="2033203"/>
                  </a:lnTo>
                  <a:lnTo>
                    <a:pt x="10219897" y="2037539"/>
                  </a:lnTo>
                  <a:lnTo>
                    <a:pt x="10219042" y="2041832"/>
                  </a:lnTo>
                  <a:lnTo>
                    <a:pt x="10218187" y="2046126"/>
                  </a:lnTo>
                  <a:lnTo>
                    <a:pt x="10216922" y="2050295"/>
                  </a:lnTo>
                  <a:lnTo>
                    <a:pt x="10215247" y="2054339"/>
                  </a:lnTo>
                  <a:lnTo>
                    <a:pt x="10213571" y="2058384"/>
                  </a:lnTo>
                  <a:lnTo>
                    <a:pt x="10190690" y="2084261"/>
                  </a:lnTo>
                  <a:lnTo>
                    <a:pt x="10187050" y="2086694"/>
                  </a:lnTo>
                  <a:lnTo>
                    <a:pt x="10183207" y="2088748"/>
                  </a:lnTo>
                  <a:lnTo>
                    <a:pt x="10179162" y="2090423"/>
                  </a:lnTo>
                  <a:lnTo>
                    <a:pt x="10175117" y="2092099"/>
                  </a:lnTo>
                  <a:lnTo>
                    <a:pt x="10153650" y="2095500"/>
                  </a:lnTo>
                  <a:lnTo>
                    <a:pt x="66675" y="2095500"/>
                  </a:lnTo>
                  <a:lnTo>
                    <a:pt x="41158" y="2090423"/>
                  </a:lnTo>
                  <a:lnTo>
                    <a:pt x="37113" y="2088748"/>
                  </a:lnTo>
                  <a:lnTo>
                    <a:pt x="33271" y="2086694"/>
                  </a:lnTo>
                  <a:lnTo>
                    <a:pt x="29631" y="2084261"/>
                  </a:lnTo>
                  <a:lnTo>
                    <a:pt x="25991" y="2081829"/>
                  </a:lnTo>
                  <a:lnTo>
                    <a:pt x="22624" y="2079066"/>
                  </a:lnTo>
                  <a:lnTo>
                    <a:pt x="19528" y="2075970"/>
                  </a:lnTo>
                  <a:lnTo>
                    <a:pt x="16432" y="2072875"/>
                  </a:lnTo>
                  <a:lnTo>
                    <a:pt x="1281" y="2041832"/>
                  </a:lnTo>
                  <a:lnTo>
                    <a:pt x="426" y="2037539"/>
                  </a:lnTo>
                  <a:lnTo>
                    <a:pt x="0" y="2033203"/>
                  </a:lnTo>
                  <a:lnTo>
                    <a:pt x="0" y="2028825"/>
                  </a:lnTo>
                  <a:close/>
                </a:path>
              </a:pathLst>
            </a:custGeom>
            <a:ln w="19050">
              <a:solidFill>
                <a:srgbClr val="BF83FB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7724762" y="3876674"/>
              <a:ext cx="9972675" cy="1504950"/>
            </a:xfrm>
            <a:custGeom>
              <a:avLst/>
              <a:gdLst/>
              <a:ahLst/>
              <a:cxnLst/>
              <a:rect l="l" t="t" r="r" b="b"/>
              <a:pathLst>
                <a:path w="9972675" h="1504950">
                  <a:moveTo>
                    <a:pt x="9972675" y="814108"/>
                  </a:moveTo>
                  <a:lnTo>
                    <a:pt x="9944494" y="782027"/>
                  </a:lnTo>
                  <a:lnTo>
                    <a:pt x="9939630" y="781050"/>
                  </a:lnTo>
                  <a:lnTo>
                    <a:pt x="33058" y="781050"/>
                  </a:lnTo>
                  <a:lnTo>
                    <a:pt x="977" y="809244"/>
                  </a:lnTo>
                  <a:lnTo>
                    <a:pt x="0" y="814108"/>
                  </a:lnTo>
                  <a:lnTo>
                    <a:pt x="12" y="1466850"/>
                  </a:lnTo>
                  <a:lnTo>
                    <a:pt x="0" y="1471904"/>
                  </a:lnTo>
                  <a:lnTo>
                    <a:pt x="28194" y="1503984"/>
                  </a:lnTo>
                  <a:lnTo>
                    <a:pt x="33058" y="1504950"/>
                  </a:lnTo>
                  <a:lnTo>
                    <a:pt x="9939630" y="1504950"/>
                  </a:lnTo>
                  <a:lnTo>
                    <a:pt x="9971710" y="1476768"/>
                  </a:lnTo>
                  <a:lnTo>
                    <a:pt x="9972675" y="1471904"/>
                  </a:lnTo>
                  <a:lnTo>
                    <a:pt x="9972675" y="814108"/>
                  </a:lnTo>
                  <a:close/>
                </a:path>
                <a:path w="9972675" h="1504950">
                  <a:moveTo>
                    <a:pt x="9972675" y="33058"/>
                  </a:moveTo>
                  <a:lnTo>
                    <a:pt x="9944494" y="977"/>
                  </a:lnTo>
                  <a:lnTo>
                    <a:pt x="9939630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58"/>
                  </a:lnTo>
                  <a:lnTo>
                    <a:pt x="12" y="685800"/>
                  </a:lnTo>
                  <a:lnTo>
                    <a:pt x="0" y="690854"/>
                  </a:lnTo>
                  <a:lnTo>
                    <a:pt x="28194" y="722934"/>
                  </a:lnTo>
                  <a:lnTo>
                    <a:pt x="33058" y="723900"/>
                  </a:lnTo>
                  <a:lnTo>
                    <a:pt x="9939630" y="723900"/>
                  </a:lnTo>
                  <a:lnTo>
                    <a:pt x="9971710" y="695718"/>
                  </a:lnTo>
                  <a:lnTo>
                    <a:pt x="9972675" y="690854"/>
                  </a:lnTo>
                  <a:lnTo>
                    <a:pt x="9972675" y="33058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710140" y="3517377"/>
            <a:ext cx="1470660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b="1" spc="-80" dirty="0">
                <a:solidFill>
                  <a:srgbClr val="D8B4FE"/>
                </a:solidFill>
                <a:latin typeface="Times New Roman"/>
                <a:cs typeface="Times New Roman"/>
              </a:rPr>
              <a:t>Processing</a:t>
            </a:r>
            <a:r>
              <a:rPr sz="1500" b="1" spc="-35" dirty="0">
                <a:solidFill>
                  <a:srgbClr val="D8B4FE"/>
                </a:solidFill>
                <a:latin typeface="Times New Roman"/>
                <a:cs typeface="Times New Roman"/>
              </a:rPr>
              <a:t> </a:t>
            </a:r>
            <a:r>
              <a:rPr sz="1500" b="1" spc="-55" dirty="0">
                <a:solidFill>
                  <a:srgbClr val="D8B4FE"/>
                </a:solidFill>
                <a:latin typeface="Times New Roman"/>
                <a:cs typeface="Times New Roman"/>
              </a:rPr>
              <a:t>Layer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822406" y="3983831"/>
            <a:ext cx="128905" cy="128905"/>
          </a:xfrm>
          <a:custGeom>
            <a:avLst/>
            <a:gdLst/>
            <a:ahLst/>
            <a:cxnLst/>
            <a:rect l="l" t="t" r="r" b="b"/>
            <a:pathLst>
              <a:path w="128904" h="128904">
                <a:moveTo>
                  <a:pt x="0" y="28575"/>
                </a:moveTo>
                <a:lnTo>
                  <a:pt x="0" y="14287"/>
                </a:lnTo>
                <a:lnTo>
                  <a:pt x="0" y="12392"/>
                </a:lnTo>
                <a:lnTo>
                  <a:pt x="362" y="10570"/>
                </a:lnTo>
                <a:lnTo>
                  <a:pt x="1087" y="8819"/>
                </a:lnTo>
                <a:lnTo>
                  <a:pt x="1812" y="7069"/>
                </a:lnTo>
                <a:lnTo>
                  <a:pt x="2844" y="5524"/>
                </a:lnTo>
                <a:lnTo>
                  <a:pt x="4184" y="4184"/>
                </a:lnTo>
                <a:lnTo>
                  <a:pt x="5524" y="2844"/>
                </a:lnTo>
                <a:lnTo>
                  <a:pt x="7069" y="1812"/>
                </a:lnTo>
                <a:lnTo>
                  <a:pt x="8819" y="1087"/>
                </a:lnTo>
                <a:lnTo>
                  <a:pt x="10570" y="362"/>
                </a:lnTo>
                <a:lnTo>
                  <a:pt x="12392" y="0"/>
                </a:lnTo>
                <a:lnTo>
                  <a:pt x="14287" y="0"/>
                </a:lnTo>
                <a:lnTo>
                  <a:pt x="28575" y="0"/>
                </a:lnTo>
              </a:path>
              <a:path w="128904" h="128904">
                <a:moveTo>
                  <a:pt x="100012" y="0"/>
                </a:moveTo>
                <a:lnTo>
                  <a:pt x="114300" y="0"/>
                </a:lnTo>
                <a:lnTo>
                  <a:pt x="116194" y="0"/>
                </a:lnTo>
                <a:lnTo>
                  <a:pt x="118017" y="362"/>
                </a:lnTo>
                <a:lnTo>
                  <a:pt x="128587" y="14287"/>
                </a:lnTo>
                <a:lnTo>
                  <a:pt x="128587" y="28575"/>
                </a:lnTo>
              </a:path>
              <a:path w="128904" h="128904">
                <a:moveTo>
                  <a:pt x="128587" y="100012"/>
                </a:moveTo>
                <a:lnTo>
                  <a:pt x="128587" y="114300"/>
                </a:lnTo>
                <a:lnTo>
                  <a:pt x="128587" y="116194"/>
                </a:lnTo>
                <a:lnTo>
                  <a:pt x="114300" y="128587"/>
                </a:lnTo>
                <a:lnTo>
                  <a:pt x="100012" y="128587"/>
                </a:lnTo>
              </a:path>
              <a:path w="128904" h="128904">
                <a:moveTo>
                  <a:pt x="28575" y="128587"/>
                </a:moveTo>
                <a:lnTo>
                  <a:pt x="14287" y="128587"/>
                </a:lnTo>
                <a:lnTo>
                  <a:pt x="12392" y="128587"/>
                </a:lnTo>
                <a:lnTo>
                  <a:pt x="0" y="116194"/>
                </a:lnTo>
                <a:lnTo>
                  <a:pt x="0" y="114300"/>
                </a:lnTo>
                <a:lnTo>
                  <a:pt x="0" y="100012"/>
                </a:lnTo>
              </a:path>
            </a:pathLst>
          </a:custGeom>
          <a:ln w="14287">
            <a:solidFill>
              <a:srgbClr val="BF83FB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24440" y="3912279"/>
            <a:ext cx="2796540" cy="60706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295"/>
              </a:spcBef>
            </a:pPr>
            <a:r>
              <a:rPr sz="115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YOLOv8</a:t>
            </a:r>
            <a:r>
              <a:rPr sz="115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Object</a:t>
            </a:r>
            <a:r>
              <a:rPr sz="115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050" dirty="0">
                <a:solidFill>
                  <a:srgbClr val="D8B4FE"/>
                </a:solidFill>
                <a:latin typeface="Times New Roman"/>
                <a:cs typeface="Times New Roman"/>
              </a:rPr>
              <a:t>PyTorch | CUDA | </a:t>
            </a:r>
            <a:r>
              <a:rPr sz="1050" spc="-10" dirty="0">
                <a:solidFill>
                  <a:srgbClr val="D8B4FE"/>
                </a:solidFill>
                <a:latin typeface="Times New Roman"/>
                <a:cs typeface="Times New Roman"/>
              </a:rPr>
              <a:t>OpenCV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150" spc="-10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r>
              <a:rPr sz="1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80" dirty="0">
                <a:solidFill>
                  <a:srgbClr val="FFFFFF"/>
                </a:solidFill>
                <a:latin typeface="Times New Roman"/>
                <a:cs typeface="Times New Roman"/>
              </a:rPr>
              <a:t>ID,</a:t>
            </a:r>
            <a:r>
              <a:rPr sz="115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FFFFFF"/>
                </a:solidFill>
                <a:latin typeface="Times New Roman"/>
                <a:cs typeface="Times New Roman"/>
              </a:rPr>
              <a:t>defect </a:t>
            </a:r>
            <a:r>
              <a:rPr sz="1150" spc="-20" dirty="0">
                <a:solidFill>
                  <a:srgbClr val="FFFFFF"/>
                </a:solidFill>
                <a:latin typeface="Times New Roman"/>
                <a:cs typeface="Times New Roman"/>
              </a:rPr>
              <a:t>detection,</a:t>
            </a:r>
            <a:r>
              <a:rPr sz="115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imes New Roman"/>
                <a:cs typeface="Times New Roman"/>
              </a:rPr>
              <a:t>measurements</a:t>
            </a:r>
            <a:endParaRPr sz="1150">
              <a:latin typeface="Times New Roman"/>
              <a:cs typeface="Times New Roman"/>
            </a:endParaRPr>
          </a:p>
        </p:txBody>
      </p:sp>
      <p:pic>
        <p:nvPicPr>
          <p:cNvPr id="60" name="object 6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08118" y="4750076"/>
            <a:ext cx="157280" cy="158125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7824440" y="4693329"/>
            <a:ext cx="2233930" cy="60706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R="386715" algn="ctr">
              <a:lnSpc>
                <a:spcPct val="100000"/>
              </a:lnSpc>
              <a:spcBef>
                <a:spcPts val="295"/>
              </a:spcBef>
            </a:pPr>
            <a:r>
              <a:rPr sz="115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11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Classification</a:t>
            </a:r>
            <a:endParaRPr sz="1150">
              <a:latin typeface="Times New Roman"/>
              <a:cs typeface="Times New Roman"/>
            </a:endParaRPr>
          </a:p>
          <a:p>
            <a:pPr marR="360045" algn="ctr">
              <a:lnSpc>
                <a:spcPct val="100000"/>
              </a:lnSpc>
              <a:spcBef>
                <a:spcPts val="145"/>
              </a:spcBef>
            </a:pPr>
            <a:r>
              <a:rPr sz="1050" dirty="0">
                <a:solidFill>
                  <a:srgbClr val="D8B4FE"/>
                </a:solidFill>
                <a:latin typeface="Times New Roman"/>
                <a:cs typeface="Times New Roman"/>
              </a:rPr>
              <a:t>CNN | Transfer </a:t>
            </a:r>
            <a:r>
              <a:rPr sz="1050" spc="-10" dirty="0">
                <a:solidFill>
                  <a:srgbClr val="D8B4FE"/>
                </a:solidFill>
                <a:latin typeface="Times New Roman"/>
                <a:cs typeface="Times New Roman"/>
              </a:rPr>
              <a:t>Learning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150" spc="-45" dirty="0">
                <a:solidFill>
                  <a:srgbClr val="FFFFFF"/>
                </a:solidFill>
                <a:latin typeface="Times New Roman"/>
                <a:cs typeface="Times New Roman"/>
              </a:rPr>
              <a:t>Color,</a:t>
            </a:r>
            <a:r>
              <a:rPr sz="115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imes New Roman"/>
                <a:cs typeface="Times New Roman"/>
              </a:rPr>
              <a:t>texture</a:t>
            </a:r>
            <a:r>
              <a:rPr sz="11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145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15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FFFFFF"/>
                </a:solidFill>
                <a:latin typeface="Times New Roman"/>
                <a:cs typeface="Times New Roman"/>
              </a:rPr>
              <a:t>pattern</a:t>
            </a:r>
            <a:r>
              <a:rPr sz="11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imes New Roman"/>
                <a:cs typeface="Times New Roman"/>
              </a:rPr>
              <a:t>recognition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2650787" y="5659437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2" y="0"/>
                </a:moveTo>
                <a:lnTo>
                  <a:pt x="55562" y="111125"/>
                </a:lnTo>
              </a:path>
              <a:path w="111125" h="111125">
                <a:moveTo>
                  <a:pt x="111125" y="55562"/>
                </a:moveTo>
                <a:lnTo>
                  <a:pt x="55562" y="111125"/>
                </a:lnTo>
                <a:lnTo>
                  <a:pt x="0" y="55562"/>
                </a:lnTo>
              </a:path>
            </a:pathLst>
          </a:custGeom>
          <a:ln w="15875">
            <a:solidFill>
              <a:srgbClr val="FA913C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7591425" y="5924550"/>
            <a:ext cx="10239375" cy="1409700"/>
            <a:chOff x="7591425" y="5924550"/>
            <a:chExt cx="10239375" cy="1409700"/>
          </a:xfrm>
        </p:grpSpPr>
        <p:sp>
          <p:nvSpPr>
            <p:cNvPr id="64" name="object 64"/>
            <p:cNvSpPr/>
            <p:nvPr/>
          </p:nvSpPr>
          <p:spPr>
            <a:xfrm>
              <a:off x="7600950" y="5934075"/>
              <a:ext cx="10220325" cy="1390650"/>
            </a:xfrm>
            <a:custGeom>
              <a:avLst/>
              <a:gdLst/>
              <a:ahLst/>
              <a:cxnLst/>
              <a:rect l="l" t="t" r="r" b="b"/>
              <a:pathLst>
                <a:path w="10220325" h="1390650">
                  <a:moveTo>
                    <a:pt x="10158027" y="1390650"/>
                  </a:moveTo>
                  <a:lnTo>
                    <a:pt x="62297" y="1390650"/>
                  </a:lnTo>
                  <a:lnTo>
                    <a:pt x="57961" y="1390222"/>
                  </a:lnTo>
                  <a:lnTo>
                    <a:pt x="22624" y="1374216"/>
                  </a:lnTo>
                  <a:lnTo>
                    <a:pt x="2134" y="1341275"/>
                  </a:lnTo>
                  <a:lnTo>
                    <a:pt x="0" y="1328352"/>
                  </a:lnTo>
                  <a:lnTo>
                    <a:pt x="0" y="1323975"/>
                  </a:lnTo>
                  <a:lnTo>
                    <a:pt x="0" y="62297"/>
                  </a:lnTo>
                  <a:lnTo>
                    <a:pt x="13667" y="25991"/>
                  </a:lnTo>
                  <a:lnTo>
                    <a:pt x="45202" y="3400"/>
                  </a:lnTo>
                  <a:lnTo>
                    <a:pt x="62297" y="0"/>
                  </a:lnTo>
                  <a:lnTo>
                    <a:pt x="10158027" y="0"/>
                  </a:lnTo>
                  <a:lnTo>
                    <a:pt x="10194329" y="13668"/>
                  </a:lnTo>
                  <a:lnTo>
                    <a:pt x="10216922" y="45204"/>
                  </a:lnTo>
                  <a:lnTo>
                    <a:pt x="10220325" y="62297"/>
                  </a:lnTo>
                  <a:lnTo>
                    <a:pt x="10220325" y="1328352"/>
                  </a:lnTo>
                  <a:lnTo>
                    <a:pt x="10206652" y="1364657"/>
                  </a:lnTo>
                  <a:lnTo>
                    <a:pt x="10175117" y="1387249"/>
                  </a:lnTo>
                  <a:lnTo>
                    <a:pt x="10162362" y="1390222"/>
                  </a:lnTo>
                  <a:lnTo>
                    <a:pt x="10158027" y="1390650"/>
                  </a:lnTo>
                  <a:close/>
                </a:path>
              </a:pathLst>
            </a:custGeom>
            <a:solidFill>
              <a:srgbClr val="124E4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7600950" y="5934075"/>
              <a:ext cx="10220325" cy="1390650"/>
            </a:xfrm>
            <a:custGeom>
              <a:avLst/>
              <a:gdLst/>
              <a:ahLst/>
              <a:cxnLst/>
              <a:rect l="l" t="t" r="r" b="b"/>
              <a:pathLst>
                <a:path w="10220325" h="1390650">
                  <a:moveTo>
                    <a:pt x="0" y="1323975"/>
                  </a:moveTo>
                  <a:lnTo>
                    <a:pt x="0" y="66675"/>
                  </a:lnTo>
                  <a:lnTo>
                    <a:pt x="0" y="62297"/>
                  </a:lnTo>
                  <a:lnTo>
                    <a:pt x="426" y="57961"/>
                  </a:lnTo>
                  <a:lnTo>
                    <a:pt x="1281" y="53667"/>
                  </a:lnTo>
                  <a:lnTo>
                    <a:pt x="2134" y="49373"/>
                  </a:lnTo>
                  <a:lnTo>
                    <a:pt x="3400" y="4520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0153650" y="0"/>
                  </a:lnTo>
                  <a:lnTo>
                    <a:pt x="10158027" y="0"/>
                  </a:lnTo>
                  <a:lnTo>
                    <a:pt x="10162362" y="427"/>
                  </a:lnTo>
                  <a:lnTo>
                    <a:pt x="10190688" y="11236"/>
                  </a:lnTo>
                  <a:lnTo>
                    <a:pt x="10194329" y="13668"/>
                  </a:lnTo>
                  <a:lnTo>
                    <a:pt x="10216922" y="45204"/>
                  </a:lnTo>
                  <a:lnTo>
                    <a:pt x="10220325" y="62297"/>
                  </a:lnTo>
                  <a:lnTo>
                    <a:pt x="10220325" y="66675"/>
                  </a:lnTo>
                  <a:lnTo>
                    <a:pt x="10220325" y="1323975"/>
                  </a:lnTo>
                  <a:lnTo>
                    <a:pt x="10220325" y="1328352"/>
                  </a:lnTo>
                  <a:lnTo>
                    <a:pt x="10219897" y="1332688"/>
                  </a:lnTo>
                  <a:lnTo>
                    <a:pt x="10219042" y="1336982"/>
                  </a:lnTo>
                  <a:lnTo>
                    <a:pt x="10218187" y="1341275"/>
                  </a:lnTo>
                  <a:lnTo>
                    <a:pt x="10216922" y="1345445"/>
                  </a:lnTo>
                  <a:lnTo>
                    <a:pt x="10215247" y="1349489"/>
                  </a:lnTo>
                  <a:lnTo>
                    <a:pt x="10213571" y="1353534"/>
                  </a:lnTo>
                  <a:lnTo>
                    <a:pt x="10187050" y="1381844"/>
                  </a:lnTo>
                  <a:lnTo>
                    <a:pt x="10158027" y="1390650"/>
                  </a:lnTo>
                  <a:lnTo>
                    <a:pt x="10153650" y="1390650"/>
                  </a:lnTo>
                  <a:lnTo>
                    <a:pt x="66675" y="1390650"/>
                  </a:lnTo>
                  <a:lnTo>
                    <a:pt x="62297" y="1390650"/>
                  </a:lnTo>
                  <a:lnTo>
                    <a:pt x="57961" y="1390222"/>
                  </a:lnTo>
                  <a:lnTo>
                    <a:pt x="53666" y="1389368"/>
                  </a:lnTo>
                  <a:lnTo>
                    <a:pt x="49372" y="1388514"/>
                  </a:lnTo>
                  <a:lnTo>
                    <a:pt x="45202" y="1387249"/>
                  </a:lnTo>
                  <a:lnTo>
                    <a:pt x="41158" y="1385574"/>
                  </a:lnTo>
                  <a:lnTo>
                    <a:pt x="37113" y="1383898"/>
                  </a:lnTo>
                  <a:lnTo>
                    <a:pt x="19528" y="1371120"/>
                  </a:lnTo>
                  <a:lnTo>
                    <a:pt x="16432" y="1368025"/>
                  </a:lnTo>
                  <a:lnTo>
                    <a:pt x="1281" y="1336982"/>
                  </a:lnTo>
                  <a:lnTo>
                    <a:pt x="426" y="1332688"/>
                  </a:lnTo>
                  <a:lnTo>
                    <a:pt x="0" y="1328352"/>
                  </a:lnTo>
                  <a:lnTo>
                    <a:pt x="0" y="1323975"/>
                  </a:lnTo>
                  <a:close/>
                </a:path>
              </a:pathLst>
            </a:custGeom>
            <a:ln w="19050">
              <a:solidFill>
                <a:srgbClr val="2DD4B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710140" y="6041502"/>
            <a:ext cx="1476375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b="1" spc="-65" dirty="0">
                <a:solidFill>
                  <a:srgbClr val="5DE9D4"/>
                </a:solidFill>
                <a:latin typeface="Times New Roman"/>
                <a:cs typeface="Times New Roman"/>
              </a:rPr>
              <a:t>AI</a:t>
            </a:r>
            <a:r>
              <a:rPr sz="1500" b="1" spc="-75" dirty="0">
                <a:solidFill>
                  <a:srgbClr val="5DE9D4"/>
                </a:solidFill>
                <a:latin typeface="Times New Roman"/>
                <a:cs typeface="Times New Roman"/>
              </a:rPr>
              <a:t> Decision </a:t>
            </a:r>
            <a:r>
              <a:rPr sz="1500" b="1" spc="-55" dirty="0">
                <a:solidFill>
                  <a:srgbClr val="5DE9D4"/>
                </a:solidFill>
                <a:latin typeface="Times New Roman"/>
                <a:cs typeface="Times New Roman"/>
              </a:rPr>
              <a:t>Layer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7724775" y="6400800"/>
            <a:ext cx="3276600" cy="800100"/>
            <a:chOff x="7724775" y="6400800"/>
            <a:chExt cx="3276600" cy="800100"/>
          </a:xfrm>
        </p:grpSpPr>
        <p:sp>
          <p:nvSpPr>
            <p:cNvPr id="68" name="object 68"/>
            <p:cNvSpPr/>
            <p:nvPr/>
          </p:nvSpPr>
          <p:spPr>
            <a:xfrm>
              <a:off x="7724775" y="6400800"/>
              <a:ext cx="3276600" cy="800100"/>
            </a:xfrm>
            <a:custGeom>
              <a:avLst/>
              <a:gdLst/>
              <a:ahLst/>
              <a:cxnLst/>
              <a:rect l="l" t="t" r="r" b="b"/>
              <a:pathLst>
                <a:path w="3276600" h="800100">
                  <a:moveTo>
                    <a:pt x="3243552" y="800099"/>
                  </a:moveTo>
                  <a:lnTo>
                    <a:pt x="33048" y="800099"/>
                  </a:lnTo>
                  <a:lnTo>
                    <a:pt x="28186" y="799132"/>
                  </a:lnTo>
                  <a:lnTo>
                    <a:pt x="966" y="771911"/>
                  </a:lnTo>
                  <a:lnTo>
                    <a:pt x="0" y="767051"/>
                  </a:lnTo>
                  <a:lnTo>
                    <a:pt x="0" y="762000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8" y="0"/>
                  </a:lnTo>
                  <a:lnTo>
                    <a:pt x="3243552" y="0"/>
                  </a:lnTo>
                  <a:lnTo>
                    <a:pt x="3275632" y="28187"/>
                  </a:lnTo>
                  <a:lnTo>
                    <a:pt x="3276599" y="33047"/>
                  </a:lnTo>
                  <a:lnTo>
                    <a:pt x="3276599" y="767051"/>
                  </a:lnTo>
                  <a:lnTo>
                    <a:pt x="3248411" y="799132"/>
                  </a:lnTo>
                  <a:lnTo>
                    <a:pt x="3243552" y="800099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69" name="object 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96400" y="6486525"/>
              <a:ext cx="133350" cy="210005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9054951" y="6679861"/>
            <a:ext cx="610235" cy="44132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35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Grading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50" spc="-10" dirty="0">
                <a:solidFill>
                  <a:srgbClr val="5DE9D4"/>
                </a:solidFill>
                <a:latin typeface="Times New Roman"/>
                <a:cs typeface="Times New Roman"/>
              </a:rPr>
              <a:t>A</a:t>
            </a:r>
            <a:r>
              <a:rPr sz="1200" spc="-10" dirty="0">
                <a:solidFill>
                  <a:srgbClr val="5DE9D4"/>
                </a:solidFill>
                <a:latin typeface="Times New Roman"/>
                <a:cs typeface="Times New Roman"/>
              </a:rPr>
              <a:t>/</a:t>
            </a:r>
            <a:r>
              <a:rPr sz="1150" spc="-10" dirty="0">
                <a:solidFill>
                  <a:srgbClr val="5DE9D4"/>
                </a:solidFill>
                <a:latin typeface="Times New Roman"/>
                <a:cs typeface="Times New Roman"/>
              </a:rPr>
              <a:t>B</a:t>
            </a:r>
            <a:r>
              <a:rPr sz="1200" spc="-10" dirty="0">
                <a:solidFill>
                  <a:srgbClr val="5DE9D4"/>
                </a:solidFill>
                <a:latin typeface="Times New Roman"/>
                <a:cs typeface="Times New Roman"/>
              </a:rPr>
              <a:t>/</a:t>
            </a:r>
            <a:r>
              <a:rPr sz="1150" spc="-10" dirty="0">
                <a:solidFill>
                  <a:srgbClr val="5DE9D4"/>
                </a:solidFill>
                <a:latin typeface="Times New Roman"/>
                <a:cs typeface="Times New Roman"/>
              </a:rPr>
              <a:t>C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1077574" y="6400800"/>
            <a:ext cx="3267075" cy="800100"/>
            <a:chOff x="11077574" y="6400800"/>
            <a:chExt cx="3267075" cy="800100"/>
          </a:xfrm>
        </p:grpSpPr>
        <p:sp>
          <p:nvSpPr>
            <p:cNvPr id="72" name="object 72"/>
            <p:cNvSpPr/>
            <p:nvPr/>
          </p:nvSpPr>
          <p:spPr>
            <a:xfrm>
              <a:off x="11077574" y="6400800"/>
              <a:ext cx="3267075" cy="800100"/>
            </a:xfrm>
            <a:custGeom>
              <a:avLst/>
              <a:gdLst/>
              <a:ahLst/>
              <a:cxnLst/>
              <a:rect l="l" t="t" r="r" b="b"/>
              <a:pathLst>
                <a:path w="3267075" h="800100">
                  <a:moveTo>
                    <a:pt x="3234028" y="800099"/>
                  </a:moveTo>
                  <a:lnTo>
                    <a:pt x="33047" y="800099"/>
                  </a:lnTo>
                  <a:lnTo>
                    <a:pt x="28187" y="799132"/>
                  </a:lnTo>
                  <a:lnTo>
                    <a:pt x="965" y="771911"/>
                  </a:lnTo>
                  <a:lnTo>
                    <a:pt x="0" y="767051"/>
                  </a:lnTo>
                  <a:lnTo>
                    <a:pt x="0" y="762000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234028" y="0"/>
                  </a:lnTo>
                  <a:lnTo>
                    <a:pt x="3266108" y="28187"/>
                  </a:lnTo>
                  <a:lnTo>
                    <a:pt x="3267075" y="33047"/>
                  </a:lnTo>
                  <a:lnTo>
                    <a:pt x="3267075" y="767051"/>
                  </a:lnTo>
                  <a:lnTo>
                    <a:pt x="3238886" y="799132"/>
                  </a:lnTo>
                  <a:lnTo>
                    <a:pt x="3234028" y="800099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620625" y="6486520"/>
              <a:ext cx="171450" cy="209802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12258923" y="6670056"/>
            <a:ext cx="902335" cy="4495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3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Compliance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sz="1150" spc="-20" dirty="0">
                <a:solidFill>
                  <a:srgbClr val="5DE9D4"/>
                </a:solidFill>
                <a:latin typeface="Times New Roman"/>
                <a:cs typeface="Times New Roman"/>
              </a:rPr>
              <a:t>Export</a:t>
            </a:r>
            <a:r>
              <a:rPr sz="1150" spc="-10" dirty="0">
                <a:solidFill>
                  <a:srgbClr val="5DE9D4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5DE9D4"/>
                </a:solidFill>
                <a:latin typeface="Times New Roman"/>
                <a:cs typeface="Times New Roman"/>
              </a:rPr>
              <a:t>OK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4420848" y="6400800"/>
            <a:ext cx="3276600" cy="800100"/>
            <a:chOff x="14420848" y="6400800"/>
            <a:chExt cx="3276600" cy="800100"/>
          </a:xfrm>
        </p:grpSpPr>
        <p:sp>
          <p:nvSpPr>
            <p:cNvPr id="76" name="object 76"/>
            <p:cNvSpPr/>
            <p:nvPr/>
          </p:nvSpPr>
          <p:spPr>
            <a:xfrm>
              <a:off x="14420848" y="6400800"/>
              <a:ext cx="3276600" cy="800100"/>
            </a:xfrm>
            <a:custGeom>
              <a:avLst/>
              <a:gdLst/>
              <a:ahLst/>
              <a:cxnLst/>
              <a:rect l="l" t="t" r="r" b="b"/>
              <a:pathLst>
                <a:path w="3276600" h="800100">
                  <a:moveTo>
                    <a:pt x="3243552" y="800099"/>
                  </a:moveTo>
                  <a:lnTo>
                    <a:pt x="33047" y="800099"/>
                  </a:lnTo>
                  <a:lnTo>
                    <a:pt x="28187" y="799132"/>
                  </a:lnTo>
                  <a:lnTo>
                    <a:pt x="965" y="771911"/>
                  </a:lnTo>
                  <a:lnTo>
                    <a:pt x="0" y="767051"/>
                  </a:lnTo>
                  <a:lnTo>
                    <a:pt x="0" y="762000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3243552" y="0"/>
                  </a:lnTo>
                  <a:lnTo>
                    <a:pt x="3275631" y="28187"/>
                  </a:lnTo>
                  <a:lnTo>
                    <a:pt x="3276599" y="33047"/>
                  </a:lnTo>
                  <a:lnTo>
                    <a:pt x="3276599" y="767051"/>
                  </a:lnTo>
                  <a:lnTo>
                    <a:pt x="3248410" y="799132"/>
                  </a:lnTo>
                  <a:lnTo>
                    <a:pt x="3243552" y="800099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77" name="object 7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973424" y="6486525"/>
              <a:ext cx="171450" cy="209550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15859968" y="6670056"/>
            <a:ext cx="401320" cy="4495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35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Docs</a:t>
            </a:r>
            <a:endParaRPr sz="135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55"/>
              </a:spcBef>
            </a:pPr>
            <a:r>
              <a:rPr sz="1150" spc="-10" dirty="0">
                <a:solidFill>
                  <a:srgbClr val="5DE9D4"/>
                </a:solidFill>
                <a:latin typeface="Times New Roman"/>
                <a:cs typeface="Times New Roman"/>
              </a:rPr>
              <a:t>Certs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2650787" y="747871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2" y="0"/>
                </a:moveTo>
                <a:lnTo>
                  <a:pt x="55562" y="111125"/>
                </a:lnTo>
              </a:path>
              <a:path w="111125" h="111125">
                <a:moveTo>
                  <a:pt x="111125" y="55562"/>
                </a:moveTo>
                <a:lnTo>
                  <a:pt x="55562" y="111125"/>
                </a:lnTo>
                <a:lnTo>
                  <a:pt x="0" y="55562"/>
                </a:lnTo>
              </a:path>
            </a:pathLst>
          </a:custGeom>
          <a:ln w="15875">
            <a:solidFill>
              <a:srgbClr val="FA913C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7591425" y="7734300"/>
            <a:ext cx="10239375" cy="1181100"/>
            <a:chOff x="7591425" y="7734300"/>
            <a:chExt cx="10239375" cy="1181100"/>
          </a:xfrm>
        </p:grpSpPr>
        <p:sp>
          <p:nvSpPr>
            <p:cNvPr id="81" name="object 81"/>
            <p:cNvSpPr/>
            <p:nvPr/>
          </p:nvSpPr>
          <p:spPr>
            <a:xfrm>
              <a:off x="7600950" y="7743825"/>
              <a:ext cx="10220325" cy="1162050"/>
            </a:xfrm>
            <a:custGeom>
              <a:avLst/>
              <a:gdLst/>
              <a:ahLst/>
              <a:cxnLst/>
              <a:rect l="l" t="t" r="r" b="b"/>
              <a:pathLst>
                <a:path w="10220325" h="1162050">
                  <a:moveTo>
                    <a:pt x="10158027" y="1162049"/>
                  </a:moveTo>
                  <a:lnTo>
                    <a:pt x="62297" y="1162049"/>
                  </a:lnTo>
                  <a:lnTo>
                    <a:pt x="57961" y="1161622"/>
                  </a:lnTo>
                  <a:lnTo>
                    <a:pt x="22624" y="1145615"/>
                  </a:lnTo>
                  <a:lnTo>
                    <a:pt x="2134" y="1112675"/>
                  </a:lnTo>
                  <a:lnTo>
                    <a:pt x="0" y="1099752"/>
                  </a:lnTo>
                  <a:lnTo>
                    <a:pt x="0" y="1095375"/>
                  </a:lnTo>
                  <a:lnTo>
                    <a:pt x="0" y="62297"/>
                  </a:lnTo>
                  <a:lnTo>
                    <a:pt x="13667" y="25991"/>
                  </a:lnTo>
                  <a:lnTo>
                    <a:pt x="45202" y="3400"/>
                  </a:lnTo>
                  <a:lnTo>
                    <a:pt x="62297" y="0"/>
                  </a:lnTo>
                  <a:lnTo>
                    <a:pt x="10158027" y="0"/>
                  </a:lnTo>
                  <a:lnTo>
                    <a:pt x="10194329" y="13668"/>
                  </a:lnTo>
                  <a:lnTo>
                    <a:pt x="10216922" y="45202"/>
                  </a:lnTo>
                  <a:lnTo>
                    <a:pt x="10220325" y="62297"/>
                  </a:lnTo>
                  <a:lnTo>
                    <a:pt x="10220325" y="1099752"/>
                  </a:lnTo>
                  <a:lnTo>
                    <a:pt x="10206652" y="1136056"/>
                  </a:lnTo>
                  <a:lnTo>
                    <a:pt x="10175117" y="1158649"/>
                  </a:lnTo>
                  <a:lnTo>
                    <a:pt x="10162362" y="1161622"/>
                  </a:lnTo>
                  <a:lnTo>
                    <a:pt x="10158027" y="1162049"/>
                  </a:lnTo>
                  <a:close/>
                </a:path>
              </a:pathLst>
            </a:custGeom>
            <a:solidFill>
              <a:srgbClr val="13532D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7600950" y="7743825"/>
              <a:ext cx="10220325" cy="1162050"/>
            </a:xfrm>
            <a:custGeom>
              <a:avLst/>
              <a:gdLst/>
              <a:ahLst/>
              <a:cxnLst/>
              <a:rect l="l" t="t" r="r" b="b"/>
              <a:pathLst>
                <a:path w="10220325" h="1162050">
                  <a:moveTo>
                    <a:pt x="0" y="1095375"/>
                  </a:moveTo>
                  <a:lnTo>
                    <a:pt x="0" y="66675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1" y="53665"/>
                  </a:lnTo>
                  <a:lnTo>
                    <a:pt x="2134" y="49371"/>
                  </a:lnTo>
                  <a:lnTo>
                    <a:pt x="3400" y="45202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41158" y="5074"/>
                  </a:lnTo>
                  <a:lnTo>
                    <a:pt x="45202" y="3400"/>
                  </a:lnTo>
                  <a:lnTo>
                    <a:pt x="49372" y="2135"/>
                  </a:lnTo>
                  <a:lnTo>
                    <a:pt x="53666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0153650" y="0"/>
                  </a:lnTo>
                  <a:lnTo>
                    <a:pt x="10158027" y="0"/>
                  </a:lnTo>
                  <a:lnTo>
                    <a:pt x="10162362" y="426"/>
                  </a:lnTo>
                  <a:lnTo>
                    <a:pt x="10166655" y="1281"/>
                  </a:lnTo>
                  <a:lnTo>
                    <a:pt x="10170949" y="2134"/>
                  </a:lnTo>
                  <a:lnTo>
                    <a:pt x="10175117" y="3400"/>
                  </a:lnTo>
                  <a:lnTo>
                    <a:pt x="10179161" y="5074"/>
                  </a:lnTo>
                  <a:lnTo>
                    <a:pt x="10183206" y="6749"/>
                  </a:lnTo>
                  <a:lnTo>
                    <a:pt x="10211517" y="33271"/>
                  </a:lnTo>
                  <a:lnTo>
                    <a:pt x="10220325" y="62297"/>
                  </a:lnTo>
                  <a:lnTo>
                    <a:pt x="10220325" y="66675"/>
                  </a:lnTo>
                  <a:lnTo>
                    <a:pt x="10220325" y="1095375"/>
                  </a:lnTo>
                  <a:lnTo>
                    <a:pt x="10220325" y="1099752"/>
                  </a:lnTo>
                  <a:lnTo>
                    <a:pt x="10219897" y="1104088"/>
                  </a:lnTo>
                  <a:lnTo>
                    <a:pt x="10203888" y="1139424"/>
                  </a:lnTo>
                  <a:lnTo>
                    <a:pt x="10170949" y="1159913"/>
                  </a:lnTo>
                  <a:lnTo>
                    <a:pt x="10166655" y="1160767"/>
                  </a:lnTo>
                  <a:lnTo>
                    <a:pt x="10162362" y="1161622"/>
                  </a:lnTo>
                  <a:lnTo>
                    <a:pt x="10158027" y="1162049"/>
                  </a:lnTo>
                  <a:lnTo>
                    <a:pt x="10153650" y="1162050"/>
                  </a:lnTo>
                  <a:lnTo>
                    <a:pt x="66675" y="1162050"/>
                  </a:lnTo>
                  <a:lnTo>
                    <a:pt x="62297" y="1162049"/>
                  </a:lnTo>
                  <a:lnTo>
                    <a:pt x="57961" y="1161622"/>
                  </a:lnTo>
                  <a:lnTo>
                    <a:pt x="53666" y="1160767"/>
                  </a:lnTo>
                  <a:lnTo>
                    <a:pt x="49372" y="1159914"/>
                  </a:lnTo>
                  <a:lnTo>
                    <a:pt x="16432" y="1139424"/>
                  </a:lnTo>
                  <a:lnTo>
                    <a:pt x="1281" y="1108382"/>
                  </a:lnTo>
                  <a:lnTo>
                    <a:pt x="426" y="1104088"/>
                  </a:lnTo>
                  <a:lnTo>
                    <a:pt x="0" y="1099752"/>
                  </a:lnTo>
                  <a:lnTo>
                    <a:pt x="0" y="1095375"/>
                  </a:lnTo>
                  <a:close/>
                </a:path>
              </a:pathLst>
            </a:custGeom>
            <a:ln w="19050">
              <a:solidFill>
                <a:srgbClr val="4ADE8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7710140" y="7857214"/>
            <a:ext cx="1111250" cy="2398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40" dirty="0">
                <a:solidFill>
                  <a:srgbClr val="86EFAB"/>
                </a:solidFill>
                <a:latin typeface="Times New Roman"/>
                <a:cs typeface="Times New Roman"/>
              </a:rPr>
              <a:t>Output</a:t>
            </a:r>
            <a:r>
              <a:rPr sz="1450" b="1" spc="-60" dirty="0">
                <a:solidFill>
                  <a:srgbClr val="86EFAB"/>
                </a:solidFill>
                <a:latin typeface="Times New Roman"/>
                <a:cs typeface="Times New Roman"/>
              </a:rPr>
              <a:t> </a:t>
            </a:r>
            <a:r>
              <a:rPr sz="1450" b="1" spc="-40" dirty="0">
                <a:solidFill>
                  <a:srgbClr val="86EFAB"/>
                </a:solidFill>
                <a:latin typeface="Times New Roman"/>
                <a:cs typeface="Times New Roman"/>
              </a:rPr>
              <a:t>Layer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7724775" y="8210550"/>
            <a:ext cx="4943475" cy="571500"/>
            <a:chOff x="7724775" y="8210550"/>
            <a:chExt cx="4943475" cy="571500"/>
          </a:xfrm>
        </p:grpSpPr>
        <p:sp>
          <p:nvSpPr>
            <p:cNvPr id="85" name="object 85"/>
            <p:cNvSpPr/>
            <p:nvPr/>
          </p:nvSpPr>
          <p:spPr>
            <a:xfrm>
              <a:off x="7724775" y="8210550"/>
              <a:ext cx="4943475" cy="571500"/>
            </a:xfrm>
            <a:custGeom>
              <a:avLst/>
              <a:gdLst/>
              <a:ahLst/>
              <a:cxnLst/>
              <a:rect l="l" t="t" r="r" b="b"/>
              <a:pathLst>
                <a:path w="4943475" h="571500">
                  <a:moveTo>
                    <a:pt x="4910427" y="571499"/>
                  </a:moveTo>
                  <a:lnTo>
                    <a:pt x="33048" y="571499"/>
                  </a:lnTo>
                  <a:lnTo>
                    <a:pt x="28186" y="570532"/>
                  </a:lnTo>
                  <a:lnTo>
                    <a:pt x="966" y="543310"/>
                  </a:lnTo>
                  <a:lnTo>
                    <a:pt x="0" y="538451"/>
                  </a:lnTo>
                  <a:lnTo>
                    <a:pt x="0" y="533400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8" y="0"/>
                  </a:lnTo>
                  <a:lnTo>
                    <a:pt x="4910427" y="0"/>
                  </a:lnTo>
                  <a:lnTo>
                    <a:pt x="4942506" y="28187"/>
                  </a:lnTo>
                  <a:lnTo>
                    <a:pt x="4943474" y="33047"/>
                  </a:lnTo>
                  <a:lnTo>
                    <a:pt x="4943474" y="538451"/>
                  </a:lnTo>
                  <a:lnTo>
                    <a:pt x="4915288" y="570532"/>
                  </a:lnTo>
                  <a:lnTo>
                    <a:pt x="4910427" y="571499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86" name="object 8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6850" y="8408987"/>
              <a:ext cx="158750" cy="174616"/>
            </a:xfrm>
            <a:prstGeom prst="rect">
              <a:avLst/>
            </a:prstGeom>
          </p:spPr>
        </p:pic>
      </p:grpSp>
      <p:sp>
        <p:nvSpPr>
          <p:cNvPr id="87" name="object 87"/>
          <p:cNvSpPr txBox="1"/>
          <p:nvPr/>
        </p:nvSpPr>
        <p:spPr>
          <a:xfrm>
            <a:off x="8053040" y="8254046"/>
            <a:ext cx="1308735" cy="44704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MongoDB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50" spc="-2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1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35" dirty="0">
                <a:solidFill>
                  <a:srgbClr val="FFFFFF"/>
                </a:solidFill>
                <a:latin typeface="Times New Roman"/>
                <a:cs typeface="Times New Roman"/>
              </a:rPr>
              <a:t>data,</a:t>
            </a:r>
            <a:r>
              <a:rPr sz="115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imes New Roman"/>
                <a:cs typeface="Times New Roman"/>
              </a:rPr>
              <a:t>reports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12744449" y="8210550"/>
            <a:ext cx="4953000" cy="571500"/>
            <a:chOff x="12744449" y="8210550"/>
            <a:chExt cx="4953000" cy="571500"/>
          </a:xfrm>
        </p:grpSpPr>
        <p:sp>
          <p:nvSpPr>
            <p:cNvPr id="89" name="object 89"/>
            <p:cNvSpPr/>
            <p:nvPr/>
          </p:nvSpPr>
          <p:spPr>
            <a:xfrm>
              <a:off x="12744449" y="8210550"/>
              <a:ext cx="4953000" cy="571500"/>
            </a:xfrm>
            <a:custGeom>
              <a:avLst/>
              <a:gdLst/>
              <a:ahLst/>
              <a:cxnLst/>
              <a:rect l="l" t="t" r="r" b="b"/>
              <a:pathLst>
                <a:path w="4953000" h="571500">
                  <a:moveTo>
                    <a:pt x="4919952" y="571499"/>
                  </a:moveTo>
                  <a:lnTo>
                    <a:pt x="33046" y="571499"/>
                  </a:lnTo>
                  <a:lnTo>
                    <a:pt x="28186" y="570532"/>
                  </a:lnTo>
                  <a:lnTo>
                    <a:pt x="965" y="543310"/>
                  </a:lnTo>
                  <a:lnTo>
                    <a:pt x="0" y="538451"/>
                  </a:lnTo>
                  <a:lnTo>
                    <a:pt x="0" y="533400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6" y="0"/>
                  </a:lnTo>
                  <a:lnTo>
                    <a:pt x="4919952" y="0"/>
                  </a:lnTo>
                  <a:lnTo>
                    <a:pt x="4952031" y="28187"/>
                  </a:lnTo>
                  <a:lnTo>
                    <a:pt x="4952999" y="33047"/>
                  </a:lnTo>
                  <a:lnTo>
                    <a:pt x="4952999" y="538451"/>
                  </a:lnTo>
                  <a:lnTo>
                    <a:pt x="4924810" y="570532"/>
                  </a:lnTo>
                  <a:lnTo>
                    <a:pt x="4919952" y="571499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90" name="object 9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835831" y="8408439"/>
              <a:ext cx="160138" cy="175721"/>
            </a:xfrm>
            <a:prstGeom prst="rect">
              <a:avLst/>
            </a:prstGeom>
          </p:spPr>
        </p:pic>
      </p:grpSp>
      <p:sp>
        <p:nvSpPr>
          <p:cNvPr id="91" name="object 91"/>
          <p:cNvSpPr txBox="1"/>
          <p:nvPr/>
        </p:nvSpPr>
        <p:spPr>
          <a:xfrm>
            <a:off x="13078370" y="8254046"/>
            <a:ext cx="613410" cy="44704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5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FastAPI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50" spc="-114" dirty="0">
                <a:solidFill>
                  <a:srgbClr val="FFFFFF"/>
                </a:solidFill>
                <a:latin typeface="Times New Roman"/>
                <a:cs typeface="Times New Roman"/>
              </a:rPr>
              <a:t>REST</a:t>
            </a:r>
            <a:r>
              <a:rPr sz="11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30" dirty="0">
                <a:solidFill>
                  <a:srgbClr val="FFFFFF"/>
                </a:solidFill>
                <a:latin typeface="Times New Roman"/>
                <a:cs typeface="Times New Roman"/>
              </a:rPr>
              <a:t>API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7591425" y="9020175"/>
            <a:ext cx="10239375" cy="323850"/>
            <a:chOff x="7591425" y="9020175"/>
            <a:chExt cx="10239375" cy="323850"/>
          </a:xfrm>
        </p:grpSpPr>
        <p:sp>
          <p:nvSpPr>
            <p:cNvPr id="93" name="object 93"/>
            <p:cNvSpPr/>
            <p:nvPr/>
          </p:nvSpPr>
          <p:spPr>
            <a:xfrm>
              <a:off x="7591425" y="9020175"/>
              <a:ext cx="10239375" cy="323850"/>
            </a:xfrm>
            <a:custGeom>
              <a:avLst/>
              <a:gdLst/>
              <a:ahLst/>
              <a:cxnLst/>
              <a:rect l="l" t="t" r="r" b="b"/>
              <a:pathLst>
                <a:path w="10239375" h="323850">
                  <a:moveTo>
                    <a:pt x="10163175" y="323850"/>
                  </a:moveTo>
                  <a:lnTo>
                    <a:pt x="76200" y="323850"/>
                  </a:lnTo>
                  <a:lnTo>
                    <a:pt x="68693" y="323487"/>
                  </a:lnTo>
                  <a:lnTo>
                    <a:pt x="27881" y="306582"/>
                  </a:lnTo>
                  <a:lnTo>
                    <a:pt x="3261" y="269736"/>
                  </a:lnTo>
                  <a:lnTo>
                    <a:pt x="0" y="247650"/>
                  </a:lnTo>
                  <a:lnTo>
                    <a:pt x="0" y="76200"/>
                  </a:lnTo>
                  <a:lnTo>
                    <a:pt x="12829" y="33856"/>
                  </a:lnTo>
                  <a:lnTo>
                    <a:pt x="47038" y="5800"/>
                  </a:lnTo>
                  <a:lnTo>
                    <a:pt x="76200" y="0"/>
                  </a:lnTo>
                  <a:lnTo>
                    <a:pt x="10163175" y="0"/>
                  </a:lnTo>
                  <a:lnTo>
                    <a:pt x="10205515" y="12829"/>
                  </a:lnTo>
                  <a:lnTo>
                    <a:pt x="10233571" y="47038"/>
                  </a:lnTo>
                  <a:lnTo>
                    <a:pt x="10239375" y="76200"/>
                  </a:lnTo>
                  <a:lnTo>
                    <a:pt x="10239375" y="247650"/>
                  </a:lnTo>
                  <a:lnTo>
                    <a:pt x="10226543" y="289991"/>
                  </a:lnTo>
                  <a:lnTo>
                    <a:pt x="10192332" y="318049"/>
                  </a:lnTo>
                  <a:lnTo>
                    <a:pt x="10163175" y="323850"/>
                  </a:lnTo>
                  <a:close/>
                </a:path>
              </a:pathLst>
            </a:custGeom>
            <a:solidFill>
              <a:srgbClr val="0D9487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7591425" y="9020175"/>
              <a:ext cx="10239375" cy="323850"/>
            </a:xfrm>
            <a:custGeom>
              <a:avLst/>
              <a:gdLst/>
              <a:ahLst/>
              <a:cxnLst/>
              <a:rect l="l" t="t" r="r" b="b"/>
              <a:pathLst>
                <a:path w="10239375" h="323850">
                  <a:moveTo>
                    <a:pt x="10163174" y="323849"/>
                  </a:moveTo>
                  <a:lnTo>
                    <a:pt x="76199" y="323849"/>
                  </a:lnTo>
                  <a:lnTo>
                    <a:pt x="68693" y="323487"/>
                  </a:lnTo>
                  <a:lnTo>
                    <a:pt x="27881" y="306582"/>
                  </a:lnTo>
                  <a:lnTo>
                    <a:pt x="3261" y="269736"/>
                  </a:lnTo>
                  <a:lnTo>
                    <a:pt x="0" y="24764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10163174" y="0"/>
                  </a:lnTo>
                  <a:lnTo>
                    <a:pt x="10199993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252028"/>
                  </a:lnTo>
                  <a:lnTo>
                    <a:pt x="23194" y="288332"/>
                  </a:lnTo>
                  <a:lnTo>
                    <a:pt x="54729" y="310925"/>
                  </a:lnTo>
                  <a:lnTo>
                    <a:pt x="71822" y="314325"/>
                  </a:lnTo>
                  <a:lnTo>
                    <a:pt x="10199990" y="314325"/>
                  </a:lnTo>
                  <a:lnTo>
                    <a:pt x="10199128" y="314841"/>
                  </a:lnTo>
                  <a:lnTo>
                    <a:pt x="10192331" y="318049"/>
                  </a:lnTo>
                  <a:lnTo>
                    <a:pt x="10185258" y="320586"/>
                  </a:lnTo>
                  <a:lnTo>
                    <a:pt x="10178040" y="322399"/>
                  </a:lnTo>
                  <a:lnTo>
                    <a:pt x="10170679" y="323487"/>
                  </a:lnTo>
                  <a:lnTo>
                    <a:pt x="10163174" y="323849"/>
                  </a:lnTo>
                  <a:close/>
                </a:path>
                <a:path w="10239375" h="323850">
                  <a:moveTo>
                    <a:pt x="10199990" y="314325"/>
                  </a:moveTo>
                  <a:lnTo>
                    <a:pt x="10167553" y="314325"/>
                  </a:lnTo>
                  <a:lnTo>
                    <a:pt x="10171889" y="313898"/>
                  </a:lnTo>
                  <a:lnTo>
                    <a:pt x="10180475" y="312189"/>
                  </a:lnTo>
                  <a:lnTo>
                    <a:pt x="10213415" y="291700"/>
                  </a:lnTo>
                  <a:lnTo>
                    <a:pt x="10229422" y="256364"/>
                  </a:lnTo>
                  <a:lnTo>
                    <a:pt x="10229849" y="252028"/>
                  </a:lnTo>
                  <a:lnTo>
                    <a:pt x="10229849" y="71822"/>
                  </a:lnTo>
                  <a:lnTo>
                    <a:pt x="10216179" y="35517"/>
                  </a:lnTo>
                  <a:lnTo>
                    <a:pt x="10184329" y="12829"/>
                  </a:lnTo>
                  <a:lnTo>
                    <a:pt x="10167553" y="9525"/>
                  </a:lnTo>
                  <a:lnTo>
                    <a:pt x="10199993" y="9525"/>
                  </a:lnTo>
                  <a:lnTo>
                    <a:pt x="10230363" y="40242"/>
                  </a:lnTo>
                  <a:lnTo>
                    <a:pt x="10239374" y="76199"/>
                  </a:lnTo>
                  <a:lnTo>
                    <a:pt x="10239374" y="247649"/>
                  </a:lnTo>
                  <a:lnTo>
                    <a:pt x="10226542" y="289991"/>
                  </a:lnTo>
                  <a:lnTo>
                    <a:pt x="10205641" y="310925"/>
                  </a:lnTo>
                  <a:lnTo>
                    <a:pt x="10199990" y="314325"/>
                  </a:lnTo>
                  <a:close/>
                </a:path>
              </a:pathLst>
            </a:custGeom>
            <a:solidFill>
              <a:srgbClr val="2DD4BE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10896848" y="9074150"/>
            <a:ext cx="362648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5DE9D4"/>
                </a:solidFill>
                <a:latin typeface="Times New Roman"/>
                <a:cs typeface="Times New Roman"/>
              </a:rPr>
              <a:t>YOLOv8 | PyTorch | OpenCV | FastAPI | </a:t>
            </a:r>
            <a:r>
              <a:rPr sz="1050" spc="-10" dirty="0">
                <a:solidFill>
                  <a:srgbClr val="5DE9D4"/>
                </a:solidFill>
                <a:latin typeface="Times New Roman"/>
                <a:cs typeface="Times New Roman"/>
              </a:rPr>
              <a:t>MongoDB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6481921" y="9933047"/>
            <a:ext cx="1362075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0" dirty="0">
                <a:solidFill>
                  <a:srgbClr val="FFFFFF"/>
                </a:solidFill>
                <a:latin typeface="Times New Roman"/>
                <a:cs typeface="Times New Roman"/>
              </a:rPr>
              <a:t>05</a:t>
            </a:r>
            <a:r>
              <a:rPr sz="13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13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Core</a:t>
            </a:r>
            <a:r>
              <a:rPr sz="13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0" y="0"/>
            <a:ext cx="18288000" cy="838200"/>
            <a:chOff x="0" y="0"/>
            <a:chExt cx="18288000" cy="838200"/>
          </a:xfrm>
        </p:grpSpPr>
        <p:sp>
          <p:nvSpPr>
            <p:cNvPr id="98" name="object 98"/>
            <p:cNvSpPr/>
            <p:nvPr/>
          </p:nvSpPr>
          <p:spPr>
            <a:xfrm>
              <a:off x="0" y="0"/>
              <a:ext cx="18288000" cy="838200"/>
            </a:xfrm>
            <a:custGeom>
              <a:avLst/>
              <a:gdLst/>
              <a:ahLst/>
              <a:cxnLst/>
              <a:rect l="l" t="t" r="r" b="b"/>
              <a:pathLst>
                <a:path w="18288000" h="838200">
                  <a:moveTo>
                    <a:pt x="1828800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83820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494840" y="285761"/>
              <a:ext cx="382270" cy="266700"/>
            </a:xfrm>
            <a:custGeom>
              <a:avLst/>
              <a:gdLst/>
              <a:ahLst/>
              <a:cxnLst/>
              <a:rect l="l" t="t" r="r" b="b"/>
              <a:pathLst>
                <a:path w="382269" h="266700">
                  <a:moveTo>
                    <a:pt x="1640" y="139967"/>
                  </a:moveTo>
                  <a:lnTo>
                    <a:pt x="0" y="135548"/>
                  </a:lnTo>
                  <a:lnTo>
                    <a:pt x="0" y="131128"/>
                  </a:lnTo>
                  <a:lnTo>
                    <a:pt x="19159" y="93329"/>
                  </a:lnTo>
                  <a:lnTo>
                    <a:pt x="47789" y="58362"/>
                  </a:lnTo>
                  <a:lnTo>
                    <a:pt x="83408" y="30514"/>
                  </a:lnTo>
                  <a:lnTo>
                    <a:pt x="124251" y="11168"/>
                  </a:lnTo>
                  <a:lnTo>
                    <a:pt x="168363" y="1250"/>
                  </a:lnTo>
                  <a:lnTo>
                    <a:pt x="190959" y="0"/>
                  </a:lnTo>
                  <a:lnTo>
                    <a:pt x="198512" y="138"/>
                  </a:lnTo>
                  <a:lnTo>
                    <a:pt x="243214" y="6778"/>
                  </a:lnTo>
                  <a:lnTo>
                    <a:pt x="285389" y="23070"/>
                  </a:lnTo>
                  <a:lnTo>
                    <a:pt x="322947" y="48207"/>
                  </a:lnTo>
                  <a:lnTo>
                    <a:pt x="354088" y="80985"/>
                  </a:lnTo>
                  <a:lnTo>
                    <a:pt x="377270" y="119779"/>
                  </a:lnTo>
                  <a:lnTo>
                    <a:pt x="381918" y="131128"/>
                  </a:lnTo>
                  <a:lnTo>
                    <a:pt x="381918" y="135548"/>
                  </a:lnTo>
                  <a:lnTo>
                    <a:pt x="362759" y="173347"/>
                  </a:lnTo>
                  <a:lnTo>
                    <a:pt x="334129" y="208314"/>
                  </a:lnTo>
                  <a:lnTo>
                    <a:pt x="298509" y="236161"/>
                  </a:lnTo>
                  <a:lnTo>
                    <a:pt x="257667" y="255507"/>
                  </a:lnTo>
                  <a:lnTo>
                    <a:pt x="213555" y="265426"/>
                  </a:lnTo>
                  <a:lnTo>
                    <a:pt x="190959" y="266676"/>
                  </a:lnTo>
                  <a:lnTo>
                    <a:pt x="183406" y="266537"/>
                  </a:lnTo>
                  <a:lnTo>
                    <a:pt x="138704" y="259897"/>
                  </a:lnTo>
                  <a:lnTo>
                    <a:pt x="96528" y="243605"/>
                  </a:lnTo>
                  <a:lnTo>
                    <a:pt x="58971" y="218469"/>
                  </a:lnTo>
                  <a:lnTo>
                    <a:pt x="27830" y="185690"/>
                  </a:lnTo>
                  <a:lnTo>
                    <a:pt x="4648" y="146896"/>
                  </a:lnTo>
                  <a:lnTo>
                    <a:pt x="1640" y="139967"/>
                  </a:lnTo>
                </a:path>
              </a:pathLst>
            </a:custGeom>
            <a:ln w="38100">
              <a:solidFill>
                <a:srgbClr val="2DD4B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100" name="object 10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9600" y="342900"/>
              <a:ext cx="152400" cy="152400"/>
            </a:xfrm>
            <a:prstGeom prst="rect">
              <a:avLst/>
            </a:prstGeom>
          </p:spPr>
        </p:pic>
      </p:grpSp>
      <p:sp>
        <p:nvSpPr>
          <p:cNvPr id="101" name="object 101"/>
          <p:cNvSpPr txBox="1">
            <a:spLocks noGrp="1"/>
          </p:cNvSpPr>
          <p:nvPr>
            <p:ph type="title"/>
          </p:nvPr>
        </p:nvSpPr>
        <p:spPr>
          <a:xfrm>
            <a:off x="977900" y="-12326"/>
            <a:ext cx="14570710" cy="702681"/>
          </a:xfrm>
          <a:prstGeom prst="rect">
            <a:avLst/>
          </a:prstGeom>
        </p:spPr>
        <p:txBody>
          <a:bodyPr vert="horz" wrap="square" lIns="0" tIns="786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z="4050" spc="-195" dirty="0">
                <a:latin typeface="Times New Roman"/>
                <a:cs typeface="Times New Roman"/>
              </a:rPr>
              <a:t>Feature</a:t>
            </a:r>
            <a:r>
              <a:rPr sz="4050" spc="-245" dirty="0">
                <a:latin typeface="Times New Roman"/>
                <a:cs typeface="Times New Roman"/>
              </a:rPr>
              <a:t> </a:t>
            </a:r>
            <a:r>
              <a:rPr sz="3950" spc="-30" dirty="0">
                <a:latin typeface="Times New Roman"/>
                <a:cs typeface="Times New Roman"/>
              </a:rPr>
              <a:t>2:</a:t>
            </a:r>
            <a:r>
              <a:rPr sz="3950" spc="-210" dirty="0">
                <a:latin typeface="Times New Roman"/>
                <a:cs typeface="Times New Roman"/>
              </a:rPr>
              <a:t> </a:t>
            </a:r>
            <a:r>
              <a:rPr sz="4050" spc="-210" dirty="0">
                <a:latin typeface="Times New Roman"/>
                <a:cs typeface="Times New Roman"/>
              </a:rPr>
              <a:t>Computer</a:t>
            </a:r>
            <a:r>
              <a:rPr sz="4050" spc="-240" dirty="0">
                <a:latin typeface="Times New Roman"/>
                <a:cs typeface="Times New Roman"/>
              </a:rPr>
              <a:t> </a:t>
            </a:r>
            <a:r>
              <a:rPr sz="4050" spc="-190" dirty="0">
                <a:latin typeface="Times New Roman"/>
                <a:cs typeface="Times New Roman"/>
              </a:rPr>
              <a:t>Vision</a:t>
            </a:r>
            <a:r>
              <a:rPr sz="4050" spc="-240" dirty="0">
                <a:latin typeface="Times New Roman"/>
                <a:cs typeface="Times New Roman"/>
              </a:rPr>
              <a:t> </a:t>
            </a:r>
            <a:r>
              <a:rPr sz="4050" spc="-175" dirty="0">
                <a:latin typeface="Times New Roman"/>
                <a:cs typeface="Times New Roman"/>
              </a:rPr>
              <a:t>Quality</a:t>
            </a:r>
            <a:r>
              <a:rPr sz="4050" spc="-245" dirty="0">
                <a:latin typeface="Times New Roman"/>
                <a:cs typeface="Times New Roman"/>
              </a:rPr>
              <a:t> Grading</a:t>
            </a:r>
            <a:r>
              <a:rPr sz="4050" spc="-235" dirty="0">
                <a:latin typeface="Times New Roman"/>
                <a:cs typeface="Times New Roman"/>
              </a:rPr>
              <a:t> </a:t>
            </a:r>
            <a:r>
              <a:rPr sz="3950" spc="-459" dirty="0">
                <a:latin typeface="Times New Roman"/>
                <a:cs typeface="Times New Roman"/>
              </a:rPr>
              <a:t>&amp;</a:t>
            </a:r>
            <a:r>
              <a:rPr sz="3950" spc="-215" dirty="0">
                <a:latin typeface="Times New Roman"/>
                <a:cs typeface="Times New Roman"/>
              </a:rPr>
              <a:t> </a:t>
            </a:r>
            <a:r>
              <a:rPr sz="4050" spc="-225" dirty="0">
                <a:latin typeface="Times New Roman"/>
                <a:cs typeface="Times New Roman"/>
              </a:rPr>
              <a:t>Export</a:t>
            </a:r>
            <a:r>
              <a:rPr sz="4050" spc="-240" dirty="0">
                <a:latin typeface="Times New Roman"/>
                <a:cs typeface="Times New Roman"/>
              </a:rPr>
              <a:t> </a:t>
            </a:r>
            <a:r>
              <a:rPr sz="4050" spc="-145" dirty="0">
                <a:latin typeface="Times New Roman"/>
                <a:cs typeface="Times New Roman"/>
              </a:rPr>
              <a:t>Compliance</a:t>
            </a:r>
            <a:endParaRPr sz="4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900" y="1551529"/>
            <a:ext cx="10691495" cy="1293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b="1" spc="-160" dirty="0">
                <a:solidFill>
                  <a:srgbClr val="128708"/>
                </a:solidFill>
                <a:latin typeface="Times New Roman"/>
                <a:cs typeface="Times New Roman"/>
              </a:rPr>
              <a:t>Smart</a:t>
            </a:r>
            <a:r>
              <a:rPr sz="3050" b="1" spc="-180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3050" b="1" spc="-170" dirty="0">
                <a:solidFill>
                  <a:srgbClr val="128708"/>
                </a:solidFill>
                <a:latin typeface="Times New Roman"/>
                <a:cs typeface="Times New Roman"/>
              </a:rPr>
              <a:t>Consolidation</a:t>
            </a:r>
            <a:r>
              <a:rPr sz="3050" b="1" spc="-175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3050" b="1" spc="-114" dirty="0">
                <a:solidFill>
                  <a:srgbClr val="128708"/>
                </a:solidFill>
                <a:latin typeface="Times New Roman"/>
                <a:cs typeface="Times New Roman"/>
              </a:rPr>
              <a:t>for</a:t>
            </a:r>
            <a:r>
              <a:rPr sz="3050" b="1" spc="-175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3050" b="1" spc="-170" dirty="0">
                <a:solidFill>
                  <a:srgbClr val="128708"/>
                </a:solidFill>
                <a:latin typeface="Times New Roman"/>
                <a:cs typeface="Times New Roman"/>
              </a:rPr>
              <a:t>Cost</a:t>
            </a:r>
            <a:r>
              <a:rPr sz="3050" b="1" spc="-175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3050" b="1" spc="-10" dirty="0">
                <a:solidFill>
                  <a:srgbClr val="128708"/>
                </a:solidFill>
                <a:latin typeface="Times New Roman"/>
                <a:cs typeface="Times New Roman"/>
              </a:rPr>
              <a:t>Efficiency</a:t>
            </a: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pools</a:t>
            </a:r>
            <a:r>
              <a:rPr sz="20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shipments</a:t>
            </a:r>
            <a:r>
              <a:rPr sz="20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artisans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2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spc="-95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r>
              <a:rPr sz="2000" spc="-95" dirty="0">
                <a:solidFill>
                  <a:srgbClr val="FFFFFF"/>
                </a:solidFill>
                <a:latin typeface="Times New Roman"/>
                <a:cs typeface="Times New Roman"/>
              </a:rPr>
              <a:t>km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r>
              <a:rPr sz="1950" spc="-5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95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coordinating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pickups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consolidating 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items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export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shipments</a:t>
            </a:r>
            <a:r>
              <a:rPr sz="2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slash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costs</a:t>
            </a:r>
            <a:r>
              <a:rPr sz="195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9600" y="3086099"/>
            <a:ext cx="3590925" cy="1352550"/>
            <a:chOff x="609600" y="3086099"/>
            <a:chExt cx="3590925" cy="1352550"/>
          </a:xfrm>
        </p:grpSpPr>
        <p:sp>
          <p:nvSpPr>
            <p:cNvPr id="4" name="object 4"/>
            <p:cNvSpPr/>
            <p:nvPr/>
          </p:nvSpPr>
          <p:spPr>
            <a:xfrm>
              <a:off x="609600" y="3086099"/>
              <a:ext cx="3590925" cy="1352550"/>
            </a:xfrm>
            <a:custGeom>
              <a:avLst/>
              <a:gdLst/>
              <a:ahLst/>
              <a:cxnLst/>
              <a:rect l="l" t="t" r="r" b="b"/>
              <a:pathLst>
                <a:path w="3590925" h="1352550">
                  <a:moveTo>
                    <a:pt x="3514725" y="1352550"/>
                  </a:moveTo>
                  <a:lnTo>
                    <a:pt x="76200" y="1352550"/>
                  </a:lnTo>
                  <a:lnTo>
                    <a:pt x="68693" y="1352187"/>
                  </a:lnTo>
                  <a:lnTo>
                    <a:pt x="27882" y="1335282"/>
                  </a:lnTo>
                  <a:lnTo>
                    <a:pt x="3262" y="1298436"/>
                  </a:lnTo>
                  <a:lnTo>
                    <a:pt x="0" y="12763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3514725" y="0"/>
                  </a:lnTo>
                  <a:lnTo>
                    <a:pt x="3557066" y="12829"/>
                  </a:lnTo>
                  <a:lnTo>
                    <a:pt x="3585123" y="47039"/>
                  </a:lnTo>
                  <a:lnTo>
                    <a:pt x="3590925" y="76200"/>
                  </a:lnTo>
                  <a:lnTo>
                    <a:pt x="3590925" y="1276350"/>
                  </a:lnTo>
                  <a:lnTo>
                    <a:pt x="3578094" y="1318691"/>
                  </a:lnTo>
                  <a:lnTo>
                    <a:pt x="3543884" y="1346749"/>
                  </a:lnTo>
                  <a:lnTo>
                    <a:pt x="3514725" y="1352550"/>
                  </a:lnTo>
                  <a:close/>
                </a:path>
              </a:pathLst>
            </a:custGeom>
            <a:solidFill>
              <a:srgbClr val="16A24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09600" y="3086100"/>
              <a:ext cx="3590925" cy="1352550"/>
            </a:xfrm>
            <a:custGeom>
              <a:avLst/>
              <a:gdLst/>
              <a:ahLst/>
              <a:cxnLst/>
              <a:rect l="l" t="t" r="r" b="b"/>
              <a:pathLst>
                <a:path w="3590925" h="1352550">
                  <a:moveTo>
                    <a:pt x="3514724" y="1352549"/>
                  </a:moveTo>
                  <a:lnTo>
                    <a:pt x="76199" y="1352549"/>
                  </a:lnTo>
                  <a:lnTo>
                    <a:pt x="68693" y="1352187"/>
                  </a:lnTo>
                  <a:lnTo>
                    <a:pt x="27882" y="1335282"/>
                  </a:lnTo>
                  <a:lnTo>
                    <a:pt x="3262" y="1298436"/>
                  </a:lnTo>
                  <a:lnTo>
                    <a:pt x="0" y="76199"/>
                  </a:lnTo>
                  <a:lnTo>
                    <a:pt x="362" y="68693"/>
                  </a:lnTo>
                  <a:lnTo>
                    <a:pt x="17266" y="27882"/>
                  </a:lnTo>
                  <a:lnTo>
                    <a:pt x="54113" y="3262"/>
                  </a:lnTo>
                  <a:lnTo>
                    <a:pt x="76199" y="0"/>
                  </a:lnTo>
                  <a:lnTo>
                    <a:pt x="3514724" y="0"/>
                  </a:lnTo>
                  <a:lnTo>
                    <a:pt x="3551545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280727"/>
                  </a:lnTo>
                  <a:lnTo>
                    <a:pt x="23194" y="1317032"/>
                  </a:lnTo>
                  <a:lnTo>
                    <a:pt x="54729" y="1339624"/>
                  </a:lnTo>
                  <a:lnTo>
                    <a:pt x="71822" y="1343025"/>
                  </a:lnTo>
                  <a:lnTo>
                    <a:pt x="3551543" y="1343025"/>
                  </a:lnTo>
                  <a:lnTo>
                    <a:pt x="3550681" y="1343541"/>
                  </a:lnTo>
                  <a:lnTo>
                    <a:pt x="3543884" y="1346749"/>
                  </a:lnTo>
                  <a:lnTo>
                    <a:pt x="3536811" y="1349286"/>
                  </a:lnTo>
                  <a:lnTo>
                    <a:pt x="3529593" y="1351099"/>
                  </a:lnTo>
                  <a:lnTo>
                    <a:pt x="3522231" y="1352187"/>
                  </a:lnTo>
                  <a:lnTo>
                    <a:pt x="3514724" y="1352549"/>
                  </a:lnTo>
                  <a:close/>
                </a:path>
                <a:path w="3590925" h="1352550">
                  <a:moveTo>
                    <a:pt x="3551543" y="1343025"/>
                  </a:moveTo>
                  <a:lnTo>
                    <a:pt x="3519102" y="1343025"/>
                  </a:lnTo>
                  <a:lnTo>
                    <a:pt x="3523438" y="1342598"/>
                  </a:lnTo>
                  <a:lnTo>
                    <a:pt x="3532025" y="1340889"/>
                  </a:lnTo>
                  <a:lnTo>
                    <a:pt x="3564966" y="1320400"/>
                  </a:lnTo>
                  <a:lnTo>
                    <a:pt x="3580972" y="1285063"/>
                  </a:lnTo>
                  <a:lnTo>
                    <a:pt x="3581399" y="1280727"/>
                  </a:lnTo>
                  <a:lnTo>
                    <a:pt x="3581399" y="71822"/>
                  </a:lnTo>
                  <a:lnTo>
                    <a:pt x="3567730" y="35517"/>
                  </a:lnTo>
                  <a:lnTo>
                    <a:pt x="3535880" y="12829"/>
                  </a:lnTo>
                  <a:lnTo>
                    <a:pt x="3519102" y="9525"/>
                  </a:lnTo>
                  <a:lnTo>
                    <a:pt x="3551545" y="9525"/>
                  </a:lnTo>
                  <a:lnTo>
                    <a:pt x="3581916" y="40242"/>
                  </a:lnTo>
                  <a:lnTo>
                    <a:pt x="3590924" y="76199"/>
                  </a:lnTo>
                  <a:lnTo>
                    <a:pt x="3590924" y="1276349"/>
                  </a:lnTo>
                  <a:lnTo>
                    <a:pt x="3578093" y="1318691"/>
                  </a:lnTo>
                  <a:lnTo>
                    <a:pt x="3557193" y="1339624"/>
                  </a:lnTo>
                  <a:lnTo>
                    <a:pt x="3551543" y="1343025"/>
                  </a:lnTo>
                  <a:close/>
                </a:path>
              </a:pathLst>
            </a:custGeom>
            <a:solidFill>
              <a:srgbClr val="4ADE8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273300" y="3336925"/>
              <a:ext cx="254000" cy="127000"/>
            </a:xfrm>
            <a:custGeom>
              <a:avLst/>
              <a:gdLst/>
              <a:ahLst/>
              <a:cxnLst/>
              <a:rect l="l" t="t" r="r" b="b"/>
              <a:pathLst>
                <a:path w="254000" h="127000">
                  <a:moveTo>
                    <a:pt x="254000" y="127000"/>
                  </a:moveTo>
                  <a:lnTo>
                    <a:pt x="146050" y="19050"/>
                  </a:lnTo>
                  <a:lnTo>
                    <a:pt x="82550" y="82550"/>
                  </a:lnTo>
                  <a:lnTo>
                    <a:pt x="0" y="0"/>
                  </a:lnTo>
                </a:path>
                <a:path w="254000" h="127000">
                  <a:moveTo>
                    <a:pt x="177800" y="127000"/>
                  </a:moveTo>
                  <a:lnTo>
                    <a:pt x="254000" y="127000"/>
                  </a:lnTo>
                  <a:lnTo>
                    <a:pt x="254000" y="50800"/>
                  </a:lnTo>
                </a:path>
              </a:pathLst>
            </a:custGeom>
            <a:ln w="25400">
              <a:solidFill>
                <a:srgbClr val="4ADE8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0480" y="3484593"/>
            <a:ext cx="2048510" cy="7816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295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60-</a:t>
            </a:r>
            <a:r>
              <a:rPr sz="29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75%</a:t>
            </a:r>
            <a:endParaRPr sz="2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Reduction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3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Shipping</a:t>
            </a:r>
            <a:r>
              <a:rPr sz="13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Costs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52924" y="3086099"/>
            <a:ext cx="3590925" cy="1352550"/>
            <a:chOff x="4352924" y="3086099"/>
            <a:chExt cx="3590925" cy="1352550"/>
          </a:xfrm>
        </p:grpSpPr>
        <p:sp>
          <p:nvSpPr>
            <p:cNvPr id="9" name="object 9"/>
            <p:cNvSpPr/>
            <p:nvPr/>
          </p:nvSpPr>
          <p:spPr>
            <a:xfrm>
              <a:off x="4352924" y="3086099"/>
              <a:ext cx="3590925" cy="1352550"/>
            </a:xfrm>
            <a:custGeom>
              <a:avLst/>
              <a:gdLst/>
              <a:ahLst/>
              <a:cxnLst/>
              <a:rect l="l" t="t" r="r" b="b"/>
              <a:pathLst>
                <a:path w="3590925" h="1352550">
                  <a:moveTo>
                    <a:pt x="3514725" y="1352550"/>
                  </a:moveTo>
                  <a:lnTo>
                    <a:pt x="76200" y="1352550"/>
                  </a:lnTo>
                  <a:lnTo>
                    <a:pt x="68693" y="1352187"/>
                  </a:lnTo>
                  <a:lnTo>
                    <a:pt x="27882" y="1335282"/>
                  </a:lnTo>
                  <a:lnTo>
                    <a:pt x="3262" y="1298436"/>
                  </a:lnTo>
                  <a:lnTo>
                    <a:pt x="0" y="12763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3514725" y="0"/>
                  </a:lnTo>
                  <a:lnTo>
                    <a:pt x="3557066" y="12829"/>
                  </a:lnTo>
                  <a:lnTo>
                    <a:pt x="3585124" y="47039"/>
                  </a:lnTo>
                  <a:lnTo>
                    <a:pt x="3590925" y="76200"/>
                  </a:lnTo>
                  <a:lnTo>
                    <a:pt x="3590925" y="1276350"/>
                  </a:lnTo>
                  <a:lnTo>
                    <a:pt x="3578094" y="1318691"/>
                  </a:lnTo>
                  <a:lnTo>
                    <a:pt x="3543885" y="1346749"/>
                  </a:lnTo>
                  <a:lnTo>
                    <a:pt x="3514725" y="1352550"/>
                  </a:lnTo>
                  <a:close/>
                </a:path>
              </a:pathLst>
            </a:custGeom>
            <a:solidFill>
              <a:srgbClr val="16A24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352924" y="3086100"/>
              <a:ext cx="3590925" cy="1352550"/>
            </a:xfrm>
            <a:custGeom>
              <a:avLst/>
              <a:gdLst/>
              <a:ahLst/>
              <a:cxnLst/>
              <a:rect l="l" t="t" r="r" b="b"/>
              <a:pathLst>
                <a:path w="3590925" h="1352550">
                  <a:moveTo>
                    <a:pt x="3514724" y="1352549"/>
                  </a:moveTo>
                  <a:lnTo>
                    <a:pt x="76199" y="1352549"/>
                  </a:lnTo>
                  <a:lnTo>
                    <a:pt x="68693" y="1352187"/>
                  </a:lnTo>
                  <a:lnTo>
                    <a:pt x="27882" y="1335282"/>
                  </a:lnTo>
                  <a:lnTo>
                    <a:pt x="3262" y="1298436"/>
                  </a:lnTo>
                  <a:lnTo>
                    <a:pt x="0" y="12763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3514724" y="0"/>
                  </a:lnTo>
                  <a:lnTo>
                    <a:pt x="3551545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280727"/>
                  </a:lnTo>
                  <a:lnTo>
                    <a:pt x="23194" y="1317032"/>
                  </a:lnTo>
                  <a:lnTo>
                    <a:pt x="54729" y="1339624"/>
                  </a:lnTo>
                  <a:lnTo>
                    <a:pt x="71822" y="1343025"/>
                  </a:lnTo>
                  <a:lnTo>
                    <a:pt x="3551543" y="1343025"/>
                  </a:lnTo>
                  <a:lnTo>
                    <a:pt x="3550681" y="1343541"/>
                  </a:lnTo>
                  <a:lnTo>
                    <a:pt x="3543885" y="1346749"/>
                  </a:lnTo>
                  <a:lnTo>
                    <a:pt x="3536811" y="1349286"/>
                  </a:lnTo>
                  <a:lnTo>
                    <a:pt x="3529593" y="1351099"/>
                  </a:lnTo>
                  <a:lnTo>
                    <a:pt x="3522231" y="1352187"/>
                  </a:lnTo>
                  <a:lnTo>
                    <a:pt x="3514724" y="1352549"/>
                  </a:lnTo>
                  <a:close/>
                </a:path>
                <a:path w="3590925" h="1352550">
                  <a:moveTo>
                    <a:pt x="3551543" y="1343025"/>
                  </a:moveTo>
                  <a:lnTo>
                    <a:pt x="3519102" y="1343025"/>
                  </a:lnTo>
                  <a:lnTo>
                    <a:pt x="3523438" y="1342598"/>
                  </a:lnTo>
                  <a:lnTo>
                    <a:pt x="3532026" y="1340889"/>
                  </a:lnTo>
                  <a:lnTo>
                    <a:pt x="3564966" y="1320400"/>
                  </a:lnTo>
                  <a:lnTo>
                    <a:pt x="3580972" y="1285063"/>
                  </a:lnTo>
                  <a:lnTo>
                    <a:pt x="3581399" y="1280727"/>
                  </a:lnTo>
                  <a:lnTo>
                    <a:pt x="3581399" y="71822"/>
                  </a:lnTo>
                  <a:lnTo>
                    <a:pt x="3567730" y="35517"/>
                  </a:lnTo>
                  <a:lnTo>
                    <a:pt x="3535880" y="12829"/>
                  </a:lnTo>
                  <a:lnTo>
                    <a:pt x="3519102" y="9525"/>
                  </a:lnTo>
                  <a:lnTo>
                    <a:pt x="3551545" y="9525"/>
                  </a:lnTo>
                  <a:lnTo>
                    <a:pt x="3581916" y="40242"/>
                  </a:lnTo>
                  <a:lnTo>
                    <a:pt x="3590924" y="76199"/>
                  </a:lnTo>
                  <a:lnTo>
                    <a:pt x="3590924" y="1276349"/>
                  </a:lnTo>
                  <a:lnTo>
                    <a:pt x="3578094" y="1318691"/>
                  </a:lnTo>
                  <a:lnTo>
                    <a:pt x="3557193" y="1339624"/>
                  </a:lnTo>
                  <a:lnTo>
                    <a:pt x="3551543" y="1343025"/>
                  </a:lnTo>
                  <a:close/>
                </a:path>
              </a:pathLst>
            </a:custGeom>
            <a:solidFill>
              <a:srgbClr val="4ADE8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042025" y="3273425"/>
              <a:ext cx="203200" cy="254000"/>
            </a:xfrm>
            <a:custGeom>
              <a:avLst/>
              <a:gdLst/>
              <a:ahLst/>
              <a:cxnLst/>
              <a:rect l="l" t="t" r="r" b="b"/>
              <a:pathLst>
                <a:path w="203200" h="254000">
                  <a:moveTo>
                    <a:pt x="203200" y="101600"/>
                  </a:moveTo>
                  <a:lnTo>
                    <a:pt x="191839" y="148897"/>
                  </a:lnTo>
                  <a:lnTo>
                    <a:pt x="165074" y="192654"/>
                  </a:lnTo>
                  <a:lnTo>
                    <a:pt x="133880" y="228346"/>
                  </a:lnTo>
                  <a:lnTo>
                    <a:pt x="104428" y="253996"/>
                  </a:lnTo>
                  <a:lnTo>
                    <a:pt x="101600" y="253996"/>
                  </a:lnTo>
                  <a:lnTo>
                    <a:pt x="98771" y="253996"/>
                  </a:lnTo>
                  <a:lnTo>
                    <a:pt x="69319" y="228346"/>
                  </a:lnTo>
                  <a:lnTo>
                    <a:pt x="38125" y="192654"/>
                  </a:lnTo>
                  <a:lnTo>
                    <a:pt x="11360" y="148897"/>
                  </a:lnTo>
                  <a:lnTo>
                    <a:pt x="0" y="101600"/>
                  </a:lnTo>
                  <a:lnTo>
                    <a:pt x="0" y="94928"/>
                  </a:lnTo>
                  <a:lnTo>
                    <a:pt x="650" y="88321"/>
                  </a:lnTo>
                  <a:lnTo>
                    <a:pt x="1952" y="81778"/>
                  </a:lnTo>
                  <a:lnTo>
                    <a:pt x="3253" y="75235"/>
                  </a:lnTo>
                  <a:lnTo>
                    <a:pt x="5180" y="68882"/>
                  </a:lnTo>
                  <a:lnTo>
                    <a:pt x="7733" y="62719"/>
                  </a:lnTo>
                  <a:lnTo>
                    <a:pt x="10286" y="56556"/>
                  </a:lnTo>
                  <a:lnTo>
                    <a:pt x="29757" y="29757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8" y="0"/>
                  </a:lnTo>
                  <a:lnTo>
                    <a:pt x="101600" y="0"/>
                  </a:lnTo>
                  <a:lnTo>
                    <a:pt x="108271" y="0"/>
                  </a:lnTo>
                  <a:lnTo>
                    <a:pt x="146643" y="10286"/>
                  </a:lnTo>
                  <a:lnTo>
                    <a:pt x="178159" y="34475"/>
                  </a:lnTo>
                  <a:lnTo>
                    <a:pt x="198019" y="68882"/>
                  </a:lnTo>
                  <a:lnTo>
                    <a:pt x="201247" y="81778"/>
                  </a:lnTo>
                  <a:lnTo>
                    <a:pt x="202549" y="88321"/>
                  </a:lnTo>
                  <a:lnTo>
                    <a:pt x="203200" y="94928"/>
                  </a:lnTo>
                  <a:lnTo>
                    <a:pt x="203200" y="101600"/>
                  </a:lnTo>
                </a:path>
              </a:pathLst>
            </a:custGeom>
            <a:ln w="25400">
              <a:solidFill>
                <a:srgbClr val="4ADE8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2825" y="3324225"/>
              <a:ext cx="101600" cy="1016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614045" y="3484593"/>
            <a:ext cx="1065530" cy="7816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660"/>
              </a:spcBef>
            </a:pPr>
            <a:r>
              <a:rPr sz="29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r>
              <a:rPr sz="29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km</a:t>
            </a: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13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96249" y="3086099"/>
            <a:ext cx="3590925" cy="1352550"/>
            <a:chOff x="8096249" y="3086099"/>
            <a:chExt cx="3590925" cy="1352550"/>
          </a:xfrm>
        </p:grpSpPr>
        <p:sp>
          <p:nvSpPr>
            <p:cNvPr id="15" name="object 15"/>
            <p:cNvSpPr/>
            <p:nvPr/>
          </p:nvSpPr>
          <p:spPr>
            <a:xfrm>
              <a:off x="8096249" y="3086099"/>
              <a:ext cx="3590925" cy="1352550"/>
            </a:xfrm>
            <a:custGeom>
              <a:avLst/>
              <a:gdLst/>
              <a:ahLst/>
              <a:cxnLst/>
              <a:rect l="l" t="t" r="r" b="b"/>
              <a:pathLst>
                <a:path w="3590925" h="1352550">
                  <a:moveTo>
                    <a:pt x="3514725" y="1352550"/>
                  </a:moveTo>
                  <a:lnTo>
                    <a:pt x="76200" y="1352550"/>
                  </a:lnTo>
                  <a:lnTo>
                    <a:pt x="68693" y="1352187"/>
                  </a:lnTo>
                  <a:lnTo>
                    <a:pt x="27882" y="1335282"/>
                  </a:lnTo>
                  <a:lnTo>
                    <a:pt x="3261" y="1298436"/>
                  </a:lnTo>
                  <a:lnTo>
                    <a:pt x="0" y="12763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200" y="0"/>
                  </a:lnTo>
                  <a:lnTo>
                    <a:pt x="3514725" y="0"/>
                  </a:lnTo>
                  <a:lnTo>
                    <a:pt x="3557066" y="12829"/>
                  </a:lnTo>
                  <a:lnTo>
                    <a:pt x="3585124" y="47039"/>
                  </a:lnTo>
                  <a:lnTo>
                    <a:pt x="3590925" y="76200"/>
                  </a:lnTo>
                  <a:lnTo>
                    <a:pt x="3590925" y="1276350"/>
                  </a:lnTo>
                  <a:lnTo>
                    <a:pt x="3578094" y="1318691"/>
                  </a:lnTo>
                  <a:lnTo>
                    <a:pt x="3543884" y="1346749"/>
                  </a:lnTo>
                  <a:lnTo>
                    <a:pt x="3514725" y="1352550"/>
                  </a:lnTo>
                  <a:close/>
                </a:path>
              </a:pathLst>
            </a:custGeom>
            <a:solidFill>
              <a:srgbClr val="16A24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8096249" y="3086100"/>
              <a:ext cx="3590925" cy="1352550"/>
            </a:xfrm>
            <a:custGeom>
              <a:avLst/>
              <a:gdLst/>
              <a:ahLst/>
              <a:cxnLst/>
              <a:rect l="l" t="t" r="r" b="b"/>
              <a:pathLst>
                <a:path w="3590925" h="1352550">
                  <a:moveTo>
                    <a:pt x="3514724" y="1352549"/>
                  </a:moveTo>
                  <a:lnTo>
                    <a:pt x="76199" y="1352549"/>
                  </a:lnTo>
                  <a:lnTo>
                    <a:pt x="68693" y="1352187"/>
                  </a:lnTo>
                  <a:lnTo>
                    <a:pt x="27882" y="1335282"/>
                  </a:lnTo>
                  <a:lnTo>
                    <a:pt x="3261" y="1298436"/>
                  </a:lnTo>
                  <a:lnTo>
                    <a:pt x="0" y="12763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3514724" y="0"/>
                  </a:lnTo>
                  <a:lnTo>
                    <a:pt x="3551545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280727"/>
                  </a:lnTo>
                  <a:lnTo>
                    <a:pt x="23194" y="1317032"/>
                  </a:lnTo>
                  <a:lnTo>
                    <a:pt x="54729" y="1339624"/>
                  </a:lnTo>
                  <a:lnTo>
                    <a:pt x="71822" y="1343025"/>
                  </a:lnTo>
                  <a:lnTo>
                    <a:pt x="3551543" y="1343025"/>
                  </a:lnTo>
                  <a:lnTo>
                    <a:pt x="3550680" y="1343541"/>
                  </a:lnTo>
                  <a:lnTo>
                    <a:pt x="3543884" y="1346749"/>
                  </a:lnTo>
                  <a:lnTo>
                    <a:pt x="3536810" y="1349286"/>
                  </a:lnTo>
                  <a:lnTo>
                    <a:pt x="3529592" y="1351099"/>
                  </a:lnTo>
                  <a:lnTo>
                    <a:pt x="3522230" y="1352187"/>
                  </a:lnTo>
                  <a:lnTo>
                    <a:pt x="3514724" y="1352549"/>
                  </a:lnTo>
                  <a:close/>
                </a:path>
                <a:path w="3590925" h="1352550">
                  <a:moveTo>
                    <a:pt x="3551543" y="1343025"/>
                  </a:moveTo>
                  <a:lnTo>
                    <a:pt x="3519102" y="1343025"/>
                  </a:lnTo>
                  <a:lnTo>
                    <a:pt x="3523438" y="1342598"/>
                  </a:lnTo>
                  <a:lnTo>
                    <a:pt x="3532026" y="1340889"/>
                  </a:lnTo>
                  <a:lnTo>
                    <a:pt x="3564966" y="1320400"/>
                  </a:lnTo>
                  <a:lnTo>
                    <a:pt x="3580973" y="1285063"/>
                  </a:lnTo>
                  <a:lnTo>
                    <a:pt x="3581400" y="1280727"/>
                  </a:lnTo>
                  <a:lnTo>
                    <a:pt x="3581400" y="71822"/>
                  </a:lnTo>
                  <a:lnTo>
                    <a:pt x="3567730" y="35517"/>
                  </a:lnTo>
                  <a:lnTo>
                    <a:pt x="3535880" y="12829"/>
                  </a:lnTo>
                  <a:lnTo>
                    <a:pt x="3519102" y="9525"/>
                  </a:lnTo>
                  <a:lnTo>
                    <a:pt x="3551545" y="9525"/>
                  </a:lnTo>
                  <a:lnTo>
                    <a:pt x="3581916" y="40242"/>
                  </a:lnTo>
                  <a:lnTo>
                    <a:pt x="3590924" y="76199"/>
                  </a:lnTo>
                  <a:lnTo>
                    <a:pt x="3590924" y="1276349"/>
                  </a:lnTo>
                  <a:lnTo>
                    <a:pt x="3578094" y="1318691"/>
                  </a:lnTo>
                  <a:lnTo>
                    <a:pt x="3557193" y="1339624"/>
                  </a:lnTo>
                  <a:lnTo>
                    <a:pt x="3551543" y="1343025"/>
                  </a:lnTo>
                  <a:close/>
                </a:path>
              </a:pathLst>
            </a:custGeom>
            <a:solidFill>
              <a:srgbClr val="4ADE8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759949" y="3286125"/>
              <a:ext cx="254000" cy="228600"/>
            </a:xfrm>
            <a:custGeom>
              <a:avLst/>
              <a:gdLst/>
              <a:ahLst/>
              <a:cxnLst/>
              <a:rect l="l" t="t" r="r" b="b"/>
              <a:pathLst>
                <a:path w="254000" h="228600">
                  <a:moveTo>
                    <a:pt x="177800" y="228600"/>
                  </a:moveTo>
                  <a:lnTo>
                    <a:pt x="177800" y="203200"/>
                  </a:lnTo>
                  <a:lnTo>
                    <a:pt x="177800" y="199864"/>
                  </a:lnTo>
                  <a:lnTo>
                    <a:pt x="177474" y="196560"/>
                  </a:lnTo>
                  <a:lnTo>
                    <a:pt x="176823" y="193289"/>
                  </a:lnTo>
                  <a:lnTo>
                    <a:pt x="176173" y="190017"/>
                  </a:lnTo>
                  <a:lnTo>
                    <a:pt x="155222" y="160961"/>
                  </a:lnTo>
                  <a:lnTo>
                    <a:pt x="152449" y="159108"/>
                  </a:lnTo>
                  <a:lnTo>
                    <a:pt x="130335" y="152400"/>
                  </a:lnTo>
                  <a:lnTo>
                    <a:pt x="127000" y="152400"/>
                  </a:lnTo>
                  <a:lnTo>
                    <a:pt x="50800" y="152400"/>
                  </a:lnTo>
                  <a:lnTo>
                    <a:pt x="47464" y="152400"/>
                  </a:lnTo>
                  <a:lnTo>
                    <a:pt x="44160" y="152725"/>
                  </a:lnTo>
                  <a:lnTo>
                    <a:pt x="14878" y="167279"/>
                  </a:lnTo>
                  <a:lnTo>
                    <a:pt x="12520" y="169637"/>
                  </a:lnTo>
                  <a:lnTo>
                    <a:pt x="3866" y="183759"/>
                  </a:lnTo>
                  <a:lnTo>
                    <a:pt x="2590" y="186841"/>
                  </a:lnTo>
                  <a:lnTo>
                    <a:pt x="1626" y="190017"/>
                  </a:lnTo>
                  <a:lnTo>
                    <a:pt x="976" y="193289"/>
                  </a:lnTo>
                  <a:lnTo>
                    <a:pt x="325" y="196560"/>
                  </a:lnTo>
                  <a:lnTo>
                    <a:pt x="0" y="199864"/>
                  </a:lnTo>
                  <a:lnTo>
                    <a:pt x="0" y="203200"/>
                  </a:lnTo>
                  <a:lnTo>
                    <a:pt x="0" y="228600"/>
                  </a:lnTo>
                </a:path>
                <a:path w="254000" h="228600">
                  <a:moveTo>
                    <a:pt x="139700" y="50800"/>
                  </a:moveTo>
                  <a:lnTo>
                    <a:pt x="131138" y="79022"/>
                  </a:lnTo>
                  <a:lnTo>
                    <a:pt x="129285" y="81796"/>
                  </a:lnTo>
                  <a:lnTo>
                    <a:pt x="127179" y="84362"/>
                  </a:lnTo>
                  <a:lnTo>
                    <a:pt x="124821" y="86721"/>
                  </a:lnTo>
                  <a:lnTo>
                    <a:pt x="122462" y="89079"/>
                  </a:lnTo>
                  <a:lnTo>
                    <a:pt x="88900" y="101600"/>
                  </a:lnTo>
                  <a:lnTo>
                    <a:pt x="85564" y="101599"/>
                  </a:lnTo>
                  <a:lnTo>
                    <a:pt x="52978" y="86721"/>
                  </a:lnTo>
                  <a:lnTo>
                    <a:pt x="50620" y="84362"/>
                  </a:lnTo>
                  <a:lnTo>
                    <a:pt x="48514" y="81796"/>
                  </a:lnTo>
                  <a:lnTo>
                    <a:pt x="46661" y="79022"/>
                  </a:lnTo>
                  <a:lnTo>
                    <a:pt x="44808" y="76249"/>
                  </a:lnTo>
                  <a:lnTo>
                    <a:pt x="39076" y="60710"/>
                  </a:lnTo>
                  <a:lnTo>
                    <a:pt x="38425" y="57439"/>
                  </a:lnTo>
                  <a:lnTo>
                    <a:pt x="38100" y="54135"/>
                  </a:lnTo>
                  <a:lnTo>
                    <a:pt x="38100" y="50800"/>
                  </a:lnTo>
                  <a:lnTo>
                    <a:pt x="38100" y="47464"/>
                  </a:lnTo>
                  <a:lnTo>
                    <a:pt x="38425" y="44160"/>
                  </a:lnTo>
                  <a:lnTo>
                    <a:pt x="39076" y="40889"/>
                  </a:lnTo>
                  <a:lnTo>
                    <a:pt x="39726" y="37617"/>
                  </a:lnTo>
                  <a:lnTo>
                    <a:pt x="52978" y="14878"/>
                  </a:lnTo>
                  <a:lnTo>
                    <a:pt x="55337" y="12520"/>
                  </a:lnTo>
                  <a:lnTo>
                    <a:pt x="78989" y="976"/>
                  </a:lnTo>
                  <a:lnTo>
                    <a:pt x="82260" y="325"/>
                  </a:lnTo>
                  <a:lnTo>
                    <a:pt x="85564" y="0"/>
                  </a:lnTo>
                  <a:lnTo>
                    <a:pt x="88900" y="0"/>
                  </a:lnTo>
                  <a:lnTo>
                    <a:pt x="92235" y="0"/>
                  </a:lnTo>
                  <a:lnTo>
                    <a:pt x="108340" y="3866"/>
                  </a:lnTo>
                  <a:lnTo>
                    <a:pt x="111421" y="5143"/>
                  </a:lnTo>
                  <a:lnTo>
                    <a:pt x="124821" y="14878"/>
                  </a:lnTo>
                  <a:lnTo>
                    <a:pt x="127179" y="17237"/>
                  </a:lnTo>
                  <a:lnTo>
                    <a:pt x="139700" y="47464"/>
                  </a:lnTo>
                  <a:lnTo>
                    <a:pt x="139700" y="50800"/>
                  </a:lnTo>
                  <a:close/>
                </a:path>
                <a:path w="254000" h="228600">
                  <a:moveTo>
                    <a:pt x="254000" y="228600"/>
                  </a:moveTo>
                  <a:lnTo>
                    <a:pt x="254000" y="203200"/>
                  </a:lnTo>
                  <a:lnTo>
                    <a:pt x="253995" y="197572"/>
                  </a:lnTo>
                  <a:lnTo>
                    <a:pt x="253081" y="192096"/>
                  </a:lnTo>
                  <a:lnTo>
                    <a:pt x="251257" y="186772"/>
                  </a:lnTo>
                  <a:lnTo>
                    <a:pt x="249433" y="181448"/>
                  </a:lnTo>
                  <a:lnTo>
                    <a:pt x="221349" y="155457"/>
                  </a:lnTo>
                  <a:lnTo>
                    <a:pt x="215900" y="154051"/>
                  </a:lnTo>
                </a:path>
                <a:path w="254000" h="228600">
                  <a:moveTo>
                    <a:pt x="177800" y="1651"/>
                  </a:moveTo>
                  <a:lnTo>
                    <a:pt x="183263" y="3049"/>
                  </a:lnTo>
                  <a:lnTo>
                    <a:pt x="188353" y="5296"/>
                  </a:lnTo>
                  <a:lnTo>
                    <a:pt x="193068" y="8390"/>
                  </a:lnTo>
                  <a:lnTo>
                    <a:pt x="197784" y="11484"/>
                  </a:lnTo>
                  <a:lnTo>
                    <a:pt x="201870" y="15259"/>
                  </a:lnTo>
                  <a:lnTo>
                    <a:pt x="205329" y="19714"/>
                  </a:lnTo>
                  <a:lnTo>
                    <a:pt x="208787" y="24169"/>
                  </a:lnTo>
                  <a:lnTo>
                    <a:pt x="215999" y="50863"/>
                  </a:lnTo>
                  <a:lnTo>
                    <a:pt x="215999" y="56503"/>
                  </a:lnTo>
                  <a:lnTo>
                    <a:pt x="205329" y="82012"/>
                  </a:lnTo>
                  <a:lnTo>
                    <a:pt x="201870" y="86467"/>
                  </a:lnTo>
                  <a:lnTo>
                    <a:pt x="197784" y="90242"/>
                  </a:lnTo>
                  <a:lnTo>
                    <a:pt x="193068" y="93336"/>
                  </a:lnTo>
                  <a:lnTo>
                    <a:pt x="188353" y="96430"/>
                  </a:lnTo>
                  <a:lnTo>
                    <a:pt x="183263" y="98677"/>
                  </a:lnTo>
                  <a:lnTo>
                    <a:pt x="177800" y="100076"/>
                  </a:lnTo>
                </a:path>
              </a:pathLst>
            </a:custGeom>
            <a:ln w="25400">
              <a:solidFill>
                <a:srgbClr val="4ADE8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163000" y="3484593"/>
            <a:ext cx="1452245" cy="7816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29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10-</a:t>
            </a:r>
            <a:r>
              <a:rPr sz="295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2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Artisans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144374" y="1638299"/>
            <a:ext cx="5534025" cy="3886200"/>
            <a:chOff x="12144374" y="1638299"/>
            <a:chExt cx="5534025" cy="3886200"/>
          </a:xfrm>
        </p:grpSpPr>
        <p:sp>
          <p:nvSpPr>
            <p:cNvPr id="20" name="object 20"/>
            <p:cNvSpPr/>
            <p:nvPr/>
          </p:nvSpPr>
          <p:spPr>
            <a:xfrm>
              <a:off x="12144374" y="1638299"/>
              <a:ext cx="5534025" cy="3886200"/>
            </a:xfrm>
            <a:custGeom>
              <a:avLst/>
              <a:gdLst/>
              <a:ahLst/>
              <a:cxnLst/>
              <a:rect l="l" t="t" r="r" b="b"/>
              <a:pathLst>
                <a:path w="5534025" h="3886200">
                  <a:moveTo>
                    <a:pt x="5419725" y="3886200"/>
                  </a:moveTo>
                  <a:lnTo>
                    <a:pt x="114300" y="3886200"/>
                  </a:lnTo>
                  <a:lnTo>
                    <a:pt x="103039" y="3885655"/>
                  </a:lnTo>
                  <a:lnTo>
                    <a:pt x="60363" y="3872687"/>
                  </a:lnTo>
                  <a:lnTo>
                    <a:pt x="25899" y="3844375"/>
                  </a:lnTo>
                  <a:lnTo>
                    <a:pt x="4893" y="3805029"/>
                  </a:lnTo>
                  <a:lnTo>
                    <a:pt x="0" y="3771900"/>
                  </a:lnTo>
                  <a:lnTo>
                    <a:pt x="0" y="114300"/>
                  </a:lnTo>
                  <a:lnTo>
                    <a:pt x="8699" y="70559"/>
                  </a:lnTo>
                  <a:lnTo>
                    <a:pt x="33476" y="33477"/>
                  </a:lnTo>
                  <a:lnTo>
                    <a:pt x="70557" y="8700"/>
                  </a:lnTo>
                  <a:lnTo>
                    <a:pt x="114300" y="0"/>
                  </a:lnTo>
                  <a:lnTo>
                    <a:pt x="5419725" y="0"/>
                  </a:lnTo>
                  <a:lnTo>
                    <a:pt x="5463463" y="8700"/>
                  </a:lnTo>
                  <a:lnTo>
                    <a:pt x="5500545" y="33477"/>
                  </a:lnTo>
                  <a:lnTo>
                    <a:pt x="5525322" y="70559"/>
                  </a:lnTo>
                  <a:lnTo>
                    <a:pt x="5534025" y="114300"/>
                  </a:lnTo>
                  <a:lnTo>
                    <a:pt x="5534025" y="3771900"/>
                  </a:lnTo>
                  <a:lnTo>
                    <a:pt x="5525322" y="3815640"/>
                  </a:lnTo>
                  <a:lnTo>
                    <a:pt x="5500545" y="3852721"/>
                  </a:lnTo>
                  <a:lnTo>
                    <a:pt x="5463463" y="3877498"/>
                  </a:lnTo>
                  <a:lnTo>
                    <a:pt x="5419725" y="388620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2144374" y="1638300"/>
              <a:ext cx="5534025" cy="3886200"/>
            </a:xfrm>
            <a:custGeom>
              <a:avLst/>
              <a:gdLst/>
              <a:ahLst/>
              <a:cxnLst/>
              <a:rect l="l" t="t" r="r" b="b"/>
              <a:pathLst>
                <a:path w="5534025" h="3886200">
                  <a:moveTo>
                    <a:pt x="5419724" y="3886199"/>
                  </a:moveTo>
                  <a:lnTo>
                    <a:pt x="114299" y="3886199"/>
                  </a:lnTo>
                  <a:lnTo>
                    <a:pt x="103039" y="3885655"/>
                  </a:lnTo>
                  <a:lnTo>
                    <a:pt x="60363" y="3872687"/>
                  </a:lnTo>
                  <a:lnTo>
                    <a:pt x="25899" y="3844374"/>
                  </a:lnTo>
                  <a:lnTo>
                    <a:pt x="4893" y="3805029"/>
                  </a:lnTo>
                  <a:lnTo>
                    <a:pt x="0" y="3771899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6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5419724" y="0"/>
                  </a:lnTo>
                  <a:lnTo>
                    <a:pt x="5463463" y="8700"/>
                  </a:lnTo>
                  <a:lnTo>
                    <a:pt x="5465210" y="9525"/>
                  </a:lnTo>
                  <a:lnTo>
                    <a:pt x="107420" y="9525"/>
                  </a:lnTo>
                  <a:lnTo>
                    <a:pt x="100607" y="10196"/>
                  </a:lnTo>
                  <a:lnTo>
                    <a:pt x="61810" y="23360"/>
                  </a:lnTo>
                  <a:lnTo>
                    <a:pt x="31005" y="50369"/>
                  </a:lnTo>
                  <a:lnTo>
                    <a:pt x="12880" y="87111"/>
                  </a:lnTo>
                  <a:lnTo>
                    <a:pt x="9525" y="107420"/>
                  </a:lnTo>
                  <a:lnTo>
                    <a:pt x="9525" y="3778779"/>
                  </a:lnTo>
                  <a:lnTo>
                    <a:pt x="20133" y="3818351"/>
                  </a:lnTo>
                  <a:lnTo>
                    <a:pt x="45077" y="3850851"/>
                  </a:lnTo>
                  <a:lnTo>
                    <a:pt x="80560" y="3871331"/>
                  </a:lnTo>
                  <a:lnTo>
                    <a:pt x="107420" y="3876674"/>
                  </a:lnTo>
                  <a:lnTo>
                    <a:pt x="5465207" y="3876674"/>
                  </a:lnTo>
                  <a:lnTo>
                    <a:pt x="5463463" y="3877498"/>
                  </a:lnTo>
                  <a:lnTo>
                    <a:pt x="5452852" y="3881305"/>
                  </a:lnTo>
                  <a:lnTo>
                    <a:pt x="5442025" y="3884024"/>
                  </a:lnTo>
                  <a:lnTo>
                    <a:pt x="5430983" y="3885655"/>
                  </a:lnTo>
                  <a:lnTo>
                    <a:pt x="5419724" y="3886199"/>
                  </a:lnTo>
                  <a:close/>
                </a:path>
                <a:path w="5534025" h="3886200">
                  <a:moveTo>
                    <a:pt x="5465207" y="3876674"/>
                  </a:moveTo>
                  <a:lnTo>
                    <a:pt x="5426604" y="3876674"/>
                  </a:lnTo>
                  <a:lnTo>
                    <a:pt x="5433417" y="3876003"/>
                  </a:lnTo>
                  <a:lnTo>
                    <a:pt x="5446912" y="3873319"/>
                  </a:lnTo>
                  <a:lnTo>
                    <a:pt x="5483654" y="3855194"/>
                  </a:lnTo>
                  <a:lnTo>
                    <a:pt x="5510664" y="3824388"/>
                  </a:lnTo>
                  <a:lnTo>
                    <a:pt x="5523828" y="3785592"/>
                  </a:lnTo>
                  <a:lnTo>
                    <a:pt x="5524499" y="3778779"/>
                  </a:lnTo>
                  <a:lnTo>
                    <a:pt x="5524499" y="107420"/>
                  </a:lnTo>
                  <a:lnTo>
                    <a:pt x="5513890" y="67848"/>
                  </a:lnTo>
                  <a:lnTo>
                    <a:pt x="5488947" y="35348"/>
                  </a:lnTo>
                  <a:lnTo>
                    <a:pt x="5453464" y="14867"/>
                  </a:lnTo>
                  <a:lnTo>
                    <a:pt x="5426604" y="9525"/>
                  </a:lnTo>
                  <a:lnTo>
                    <a:pt x="5465210" y="9525"/>
                  </a:lnTo>
                  <a:lnTo>
                    <a:pt x="5500544" y="33477"/>
                  </a:lnTo>
                  <a:lnTo>
                    <a:pt x="5525321" y="70559"/>
                  </a:lnTo>
                  <a:lnTo>
                    <a:pt x="5534024" y="114299"/>
                  </a:lnTo>
                  <a:lnTo>
                    <a:pt x="5534024" y="3771899"/>
                  </a:lnTo>
                  <a:lnTo>
                    <a:pt x="5525321" y="3815639"/>
                  </a:lnTo>
                  <a:lnTo>
                    <a:pt x="5500544" y="3852721"/>
                  </a:lnTo>
                  <a:lnTo>
                    <a:pt x="5473657" y="3872687"/>
                  </a:lnTo>
                  <a:lnTo>
                    <a:pt x="5465207" y="3876674"/>
                  </a:lnTo>
                  <a:close/>
                </a:path>
              </a:pathLst>
            </a:custGeom>
            <a:solidFill>
              <a:srgbClr val="4ADE8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2499" y="1876424"/>
              <a:ext cx="5057774" cy="340994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301458" y="5769161"/>
            <a:ext cx="3685540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b="1" spc="-175" dirty="0">
                <a:solidFill>
                  <a:srgbClr val="FFFFFF"/>
                </a:solidFill>
                <a:latin typeface="Times New Roman"/>
                <a:cs typeface="Times New Roman"/>
              </a:rPr>
              <a:t>Pooling</a:t>
            </a:r>
            <a:r>
              <a:rPr sz="2550" b="1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2550" b="1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Workflow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285999" y="6438899"/>
            <a:ext cx="2286000" cy="1733550"/>
            <a:chOff x="2285999" y="6438899"/>
            <a:chExt cx="2286000" cy="173355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6000" y="6438899"/>
              <a:ext cx="2286000" cy="173355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285999" y="6438899"/>
              <a:ext cx="2286000" cy="1733550"/>
            </a:xfrm>
            <a:custGeom>
              <a:avLst/>
              <a:gdLst/>
              <a:ahLst/>
              <a:cxnLst/>
              <a:rect l="l" t="t" r="r" b="b"/>
              <a:pathLst>
                <a:path w="2286000" h="1733550">
                  <a:moveTo>
                    <a:pt x="2209799" y="1733549"/>
                  </a:moveTo>
                  <a:lnTo>
                    <a:pt x="76199" y="1733549"/>
                  </a:lnTo>
                  <a:lnTo>
                    <a:pt x="68693" y="1733187"/>
                  </a:lnTo>
                  <a:lnTo>
                    <a:pt x="27882" y="1716282"/>
                  </a:lnTo>
                  <a:lnTo>
                    <a:pt x="3262" y="1679436"/>
                  </a:lnTo>
                  <a:lnTo>
                    <a:pt x="0" y="76199"/>
                  </a:lnTo>
                  <a:lnTo>
                    <a:pt x="362" y="68693"/>
                  </a:lnTo>
                  <a:lnTo>
                    <a:pt x="17266" y="27882"/>
                  </a:lnTo>
                  <a:lnTo>
                    <a:pt x="54113" y="3262"/>
                  </a:lnTo>
                  <a:lnTo>
                    <a:pt x="76199" y="0"/>
                  </a:lnTo>
                  <a:lnTo>
                    <a:pt x="2209799" y="0"/>
                  </a:lnTo>
                  <a:lnTo>
                    <a:pt x="22466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661728"/>
                  </a:lnTo>
                  <a:lnTo>
                    <a:pt x="9833" y="1664856"/>
                  </a:lnTo>
                  <a:lnTo>
                    <a:pt x="9952" y="1666063"/>
                  </a:lnTo>
                  <a:lnTo>
                    <a:pt x="25958" y="1701400"/>
                  </a:lnTo>
                  <a:lnTo>
                    <a:pt x="58898" y="1721889"/>
                  </a:lnTo>
                  <a:lnTo>
                    <a:pt x="71822" y="1724025"/>
                  </a:lnTo>
                  <a:lnTo>
                    <a:pt x="2246618" y="1724025"/>
                  </a:lnTo>
                  <a:lnTo>
                    <a:pt x="2245756" y="1724541"/>
                  </a:lnTo>
                  <a:lnTo>
                    <a:pt x="2238959" y="1727748"/>
                  </a:lnTo>
                  <a:lnTo>
                    <a:pt x="2231886" y="1730286"/>
                  </a:lnTo>
                  <a:lnTo>
                    <a:pt x="2224668" y="1732099"/>
                  </a:lnTo>
                  <a:lnTo>
                    <a:pt x="2217306" y="1733187"/>
                  </a:lnTo>
                  <a:lnTo>
                    <a:pt x="2209799" y="1733549"/>
                  </a:lnTo>
                  <a:close/>
                </a:path>
                <a:path w="2286000" h="1733550">
                  <a:moveTo>
                    <a:pt x="2246618" y="1724025"/>
                  </a:moveTo>
                  <a:lnTo>
                    <a:pt x="2214178" y="1724025"/>
                  </a:lnTo>
                  <a:lnTo>
                    <a:pt x="2218513" y="1723598"/>
                  </a:lnTo>
                  <a:lnTo>
                    <a:pt x="2227101" y="1721889"/>
                  </a:lnTo>
                  <a:lnTo>
                    <a:pt x="2260041" y="1701400"/>
                  </a:lnTo>
                  <a:lnTo>
                    <a:pt x="2276047" y="1666063"/>
                  </a:lnTo>
                  <a:lnTo>
                    <a:pt x="2276474" y="1661728"/>
                  </a:lnTo>
                  <a:lnTo>
                    <a:pt x="2276474" y="71822"/>
                  </a:lnTo>
                  <a:lnTo>
                    <a:pt x="2262805" y="35517"/>
                  </a:lnTo>
                  <a:lnTo>
                    <a:pt x="2230956" y="12829"/>
                  </a:lnTo>
                  <a:lnTo>
                    <a:pt x="2214178" y="9525"/>
                  </a:lnTo>
                  <a:lnTo>
                    <a:pt x="2246620" y="9525"/>
                  </a:lnTo>
                  <a:lnTo>
                    <a:pt x="2276991" y="40242"/>
                  </a:lnTo>
                  <a:lnTo>
                    <a:pt x="2285999" y="76199"/>
                  </a:lnTo>
                  <a:lnTo>
                    <a:pt x="2285999" y="1657349"/>
                  </a:lnTo>
                  <a:lnTo>
                    <a:pt x="2273169" y="1699691"/>
                  </a:lnTo>
                  <a:lnTo>
                    <a:pt x="2252268" y="1720625"/>
                  </a:lnTo>
                  <a:lnTo>
                    <a:pt x="2246618" y="1724025"/>
                  </a:lnTo>
                  <a:close/>
                </a:path>
              </a:pathLst>
            </a:custGeom>
            <a:solidFill>
              <a:srgbClr val="2DD4BE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9480" y="6759748"/>
              <a:ext cx="215552" cy="215552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2435225" y="6572374"/>
            <a:ext cx="1897380" cy="10852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5445" marR="626110">
              <a:lnSpc>
                <a:spcPct val="102899"/>
              </a:lnSpc>
              <a:spcBef>
                <a:spcPts val="40"/>
              </a:spcBef>
            </a:pPr>
            <a:r>
              <a:rPr sz="1650" b="1" spc="-120" dirty="0">
                <a:solidFill>
                  <a:srgbClr val="FFFFFF"/>
                </a:solidFill>
                <a:latin typeface="Times New Roman"/>
                <a:cs typeface="Times New Roman"/>
              </a:rPr>
              <a:t>1.</a:t>
            </a:r>
            <a:r>
              <a:rPr sz="1650" b="1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Order </a:t>
            </a:r>
            <a:r>
              <a:rPr sz="17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Matching</a:t>
            </a: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ct val="115399"/>
              </a:lnSpc>
              <a:spcBef>
                <a:spcPts val="595"/>
              </a:spcBef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identifies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orders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13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13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region.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35225" y="7807325"/>
            <a:ext cx="114617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5DE9D4"/>
                </a:solidFill>
                <a:latin typeface="Times New Roman"/>
                <a:cs typeface="Times New Roman"/>
              </a:rPr>
              <a:t>Neo4j Graph </a:t>
            </a:r>
            <a:r>
              <a:rPr sz="1050" spc="-25" dirty="0">
                <a:solidFill>
                  <a:srgbClr val="5DE9D4"/>
                </a:solidFill>
                <a:latin typeface="Times New Roman"/>
                <a:cs typeface="Times New Roman"/>
              </a:rPr>
              <a:t>DB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45653" y="7182670"/>
            <a:ext cx="224193" cy="246010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5143500" y="6324599"/>
            <a:ext cx="2286000" cy="1962150"/>
            <a:chOff x="5143500" y="6324599"/>
            <a:chExt cx="2286000" cy="1962150"/>
          </a:xfrm>
        </p:grpSpPr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3500" y="6324599"/>
              <a:ext cx="2286000" cy="19621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143500" y="6324599"/>
              <a:ext cx="2286000" cy="1962150"/>
            </a:xfrm>
            <a:custGeom>
              <a:avLst/>
              <a:gdLst/>
              <a:ahLst/>
              <a:cxnLst/>
              <a:rect l="l" t="t" r="r" b="b"/>
              <a:pathLst>
                <a:path w="2286000" h="1962150">
                  <a:moveTo>
                    <a:pt x="2209799" y="1962149"/>
                  </a:moveTo>
                  <a:lnTo>
                    <a:pt x="76199" y="1962149"/>
                  </a:lnTo>
                  <a:lnTo>
                    <a:pt x="68693" y="1961786"/>
                  </a:lnTo>
                  <a:lnTo>
                    <a:pt x="27882" y="1944881"/>
                  </a:lnTo>
                  <a:lnTo>
                    <a:pt x="3262" y="1908035"/>
                  </a:lnTo>
                  <a:lnTo>
                    <a:pt x="0" y="18859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209799" y="0"/>
                  </a:lnTo>
                  <a:lnTo>
                    <a:pt x="22466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890327"/>
                  </a:lnTo>
                  <a:lnTo>
                    <a:pt x="9833" y="1893456"/>
                  </a:lnTo>
                  <a:lnTo>
                    <a:pt x="9952" y="1894663"/>
                  </a:lnTo>
                  <a:lnTo>
                    <a:pt x="25958" y="1930000"/>
                  </a:lnTo>
                  <a:lnTo>
                    <a:pt x="58898" y="1950489"/>
                  </a:lnTo>
                  <a:lnTo>
                    <a:pt x="71822" y="1952625"/>
                  </a:lnTo>
                  <a:lnTo>
                    <a:pt x="2246617" y="1952625"/>
                  </a:lnTo>
                  <a:lnTo>
                    <a:pt x="2245756" y="1953140"/>
                  </a:lnTo>
                  <a:lnTo>
                    <a:pt x="2238960" y="1956348"/>
                  </a:lnTo>
                  <a:lnTo>
                    <a:pt x="2231886" y="1958886"/>
                  </a:lnTo>
                  <a:lnTo>
                    <a:pt x="2224668" y="1960699"/>
                  </a:lnTo>
                  <a:lnTo>
                    <a:pt x="2217306" y="1961786"/>
                  </a:lnTo>
                  <a:lnTo>
                    <a:pt x="2209799" y="1962149"/>
                  </a:lnTo>
                  <a:close/>
                </a:path>
                <a:path w="2286000" h="1962150">
                  <a:moveTo>
                    <a:pt x="2246617" y="1952625"/>
                  </a:moveTo>
                  <a:lnTo>
                    <a:pt x="2214178" y="1952625"/>
                  </a:lnTo>
                  <a:lnTo>
                    <a:pt x="2218513" y="1952198"/>
                  </a:lnTo>
                  <a:lnTo>
                    <a:pt x="2227101" y="1950489"/>
                  </a:lnTo>
                  <a:lnTo>
                    <a:pt x="2260042" y="1930000"/>
                  </a:lnTo>
                  <a:lnTo>
                    <a:pt x="2276047" y="1894663"/>
                  </a:lnTo>
                  <a:lnTo>
                    <a:pt x="2276474" y="1890327"/>
                  </a:lnTo>
                  <a:lnTo>
                    <a:pt x="2276474" y="71822"/>
                  </a:lnTo>
                  <a:lnTo>
                    <a:pt x="2262805" y="35517"/>
                  </a:lnTo>
                  <a:lnTo>
                    <a:pt x="2230956" y="12829"/>
                  </a:lnTo>
                  <a:lnTo>
                    <a:pt x="2214178" y="9525"/>
                  </a:lnTo>
                  <a:lnTo>
                    <a:pt x="2246620" y="9525"/>
                  </a:lnTo>
                  <a:lnTo>
                    <a:pt x="2276991" y="40242"/>
                  </a:lnTo>
                  <a:lnTo>
                    <a:pt x="2285999" y="76199"/>
                  </a:lnTo>
                  <a:lnTo>
                    <a:pt x="2285999" y="1885949"/>
                  </a:lnTo>
                  <a:lnTo>
                    <a:pt x="2273169" y="1928290"/>
                  </a:lnTo>
                  <a:lnTo>
                    <a:pt x="2252267" y="1949225"/>
                  </a:lnTo>
                  <a:lnTo>
                    <a:pt x="2246617" y="1952625"/>
                  </a:lnTo>
                  <a:close/>
                </a:path>
              </a:pathLst>
            </a:custGeom>
            <a:solidFill>
              <a:srgbClr val="2DD4BE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23210" y="6655407"/>
              <a:ext cx="177849" cy="19568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292725" y="6458074"/>
            <a:ext cx="1679575" cy="13138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40360" marR="236854">
              <a:lnSpc>
                <a:spcPct val="102899"/>
              </a:lnSpc>
              <a:spcBef>
                <a:spcPts val="40"/>
              </a:spcBef>
            </a:pPr>
            <a:r>
              <a:rPr sz="1650" b="1" dirty="0">
                <a:solidFill>
                  <a:srgbClr val="FFFFFF"/>
                </a:solidFill>
                <a:latin typeface="Times New Roman"/>
                <a:cs typeface="Times New Roman"/>
              </a:rPr>
              <a:t>2.</a:t>
            </a:r>
            <a:r>
              <a:rPr sz="165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Artisan </a:t>
            </a:r>
            <a:r>
              <a:rPr sz="17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Notification</a:t>
            </a: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ct val="115399"/>
              </a:lnSpc>
              <a:spcBef>
                <a:spcPts val="595"/>
              </a:spcBef>
            </a:pPr>
            <a:r>
              <a:rPr sz="1300" spc="-70" dirty="0">
                <a:solidFill>
                  <a:srgbClr val="FFFFFF"/>
                </a:solidFill>
                <a:latin typeface="Times New Roman"/>
                <a:cs typeface="Times New Roman"/>
              </a:rPr>
              <a:t>SMS/App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alerts</a:t>
            </a:r>
            <a:r>
              <a:rPr sz="13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sent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3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members</a:t>
            </a:r>
            <a:r>
              <a:rPr sz="1300" spc="-25" dirty="0">
                <a:solidFill>
                  <a:srgbClr val="FFFFFF"/>
                </a:solidFill>
                <a:latin typeface="Times New Roman"/>
                <a:cs typeface="Times New Roman"/>
              </a:rPr>
              <a:t> for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pickup.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92725" y="7921625"/>
            <a:ext cx="162623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5DE9D4"/>
                </a:solidFill>
                <a:latin typeface="Times New Roman"/>
                <a:cs typeface="Times New Roman"/>
              </a:rPr>
              <a:t>Notification </a:t>
            </a:r>
            <a:r>
              <a:rPr sz="1050" spc="-10" dirty="0">
                <a:solidFill>
                  <a:srgbClr val="5DE9D4"/>
                </a:solidFill>
                <a:latin typeface="Times New Roman"/>
                <a:cs typeface="Times New Roman"/>
              </a:rPr>
              <a:t>Service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03152" y="7182670"/>
            <a:ext cx="224193" cy="246010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8000999" y="6438899"/>
            <a:ext cx="2286000" cy="1733550"/>
            <a:chOff x="8000999" y="6438899"/>
            <a:chExt cx="2286000" cy="1733550"/>
          </a:xfrm>
        </p:grpSpPr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00999" y="6438899"/>
              <a:ext cx="2286000" cy="173355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000999" y="6438899"/>
              <a:ext cx="2286000" cy="1733550"/>
            </a:xfrm>
            <a:custGeom>
              <a:avLst/>
              <a:gdLst/>
              <a:ahLst/>
              <a:cxnLst/>
              <a:rect l="l" t="t" r="r" b="b"/>
              <a:pathLst>
                <a:path w="2286000" h="1733550">
                  <a:moveTo>
                    <a:pt x="2209799" y="1733549"/>
                  </a:moveTo>
                  <a:lnTo>
                    <a:pt x="76199" y="1733549"/>
                  </a:lnTo>
                  <a:lnTo>
                    <a:pt x="68693" y="1733187"/>
                  </a:lnTo>
                  <a:lnTo>
                    <a:pt x="27882" y="1716282"/>
                  </a:lnTo>
                  <a:lnTo>
                    <a:pt x="3261" y="1679436"/>
                  </a:lnTo>
                  <a:lnTo>
                    <a:pt x="0" y="76199"/>
                  </a:lnTo>
                  <a:lnTo>
                    <a:pt x="362" y="68693"/>
                  </a:lnTo>
                  <a:lnTo>
                    <a:pt x="17266" y="27882"/>
                  </a:lnTo>
                  <a:lnTo>
                    <a:pt x="54113" y="3262"/>
                  </a:lnTo>
                  <a:lnTo>
                    <a:pt x="76199" y="0"/>
                  </a:lnTo>
                  <a:lnTo>
                    <a:pt x="2209799" y="0"/>
                  </a:lnTo>
                  <a:lnTo>
                    <a:pt x="22466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661728"/>
                  </a:lnTo>
                  <a:lnTo>
                    <a:pt x="9833" y="1664856"/>
                  </a:lnTo>
                  <a:lnTo>
                    <a:pt x="9952" y="1666063"/>
                  </a:lnTo>
                  <a:lnTo>
                    <a:pt x="25958" y="1701400"/>
                  </a:lnTo>
                  <a:lnTo>
                    <a:pt x="58898" y="1721889"/>
                  </a:lnTo>
                  <a:lnTo>
                    <a:pt x="71822" y="1724025"/>
                  </a:lnTo>
                  <a:lnTo>
                    <a:pt x="2246618" y="1724025"/>
                  </a:lnTo>
                  <a:lnTo>
                    <a:pt x="2245756" y="1724541"/>
                  </a:lnTo>
                  <a:lnTo>
                    <a:pt x="2238960" y="1727748"/>
                  </a:lnTo>
                  <a:lnTo>
                    <a:pt x="2231886" y="1730286"/>
                  </a:lnTo>
                  <a:lnTo>
                    <a:pt x="2224668" y="1732099"/>
                  </a:lnTo>
                  <a:lnTo>
                    <a:pt x="2217306" y="1733187"/>
                  </a:lnTo>
                  <a:lnTo>
                    <a:pt x="2209799" y="1733549"/>
                  </a:lnTo>
                  <a:close/>
                </a:path>
                <a:path w="2286000" h="1733550">
                  <a:moveTo>
                    <a:pt x="2246618" y="1724025"/>
                  </a:moveTo>
                  <a:lnTo>
                    <a:pt x="2214178" y="1724025"/>
                  </a:lnTo>
                  <a:lnTo>
                    <a:pt x="2218513" y="1723598"/>
                  </a:lnTo>
                  <a:lnTo>
                    <a:pt x="2227101" y="1721889"/>
                  </a:lnTo>
                  <a:lnTo>
                    <a:pt x="2260041" y="1701400"/>
                  </a:lnTo>
                  <a:lnTo>
                    <a:pt x="2276047" y="1666063"/>
                  </a:lnTo>
                  <a:lnTo>
                    <a:pt x="2276474" y="1661728"/>
                  </a:lnTo>
                  <a:lnTo>
                    <a:pt x="2276474" y="71822"/>
                  </a:lnTo>
                  <a:lnTo>
                    <a:pt x="2262805" y="35517"/>
                  </a:lnTo>
                  <a:lnTo>
                    <a:pt x="2230956" y="12829"/>
                  </a:lnTo>
                  <a:lnTo>
                    <a:pt x="2214178" y="9525"/>
                  </a:lnTo>
                  <a:lnTo>
                    <a:pt x="2246620" y="9525"/>
                  </a:lnTo>
                  <a:lnTo>
                    <a:pt x="2276991" y="40242"/>
                  </a:lnTo>
                  <a:lnTo>
                    <a:pt x="2285999" y="76199"/>
                  </a:lnTo>
                  <a:lnTo>
                    <a:pt x="2285999" y="1657349"/>
                  </a:lnTo>
                  <a:lnTo>
                    <a:pt x="2273169" y="1699691"/>
                  </a:lnTo>
                  <a:lnTo>
                    <a:pt x="2252268" y="1720625"/>
                  </a:lnTo>
                  <a:lnTo>
                    <a:pt x="2246618" y="1724025"/>
                  </a:lnTo>
                  <a:close/>
                </a:path>
              </a:pathLst>
            </a:custGeom>
            <a:solidFill>
              <a:srgbClr val="2DD4BE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71463" y="6790673"/>
              <a:ext cx="187858" cy="153702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8150225" y="6572374"/>
            <a:ext cx="1802130" cy="10852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31470" marR="5080">
              <a:lnSpc>
                <a:spcPct val="102899"/>
              </a:lnSpc>
              <a:spcBef>
                <a:spcPts val="40"/>
              </a:spcBef>
            </a:pPr>
            <a:r>
              <a:rPr sz="1650" b="1" dirty="0">
                <a:solidFill>
                  <a:srgbClr val="FFFFFF"/>
                </a:solidFill>
                <a:latin typeface="Times New Roman"/>
                <a:cs typeface="Times New Roman"/>
              </a:rPr>
              <a:t>3.</a:t>
            </a:r>
            <a:r>
              <a:rPr sz="165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Consolidated </a:t>
            </a:r>
            <a:r>
              <a:rPr sz="17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Pickup</a:t>
            </a:r>
            <a:endParaRPr sz="1700">
              <a:latin typeface="Times New Roman"/>
              <a:cs typeface="Times New Roman"/>
            </a:endParaRPr>
          </a:p>
          <a:p>
            <a:pPr marL="12700" marR="52705">
              <a:lnSpc>
                <a:spcPct val="115399"/>
              </a:lnSpc>
              <a:spcBef>
                <a:spcPts val="595"/>
              </a:spcBef>
            </a:pP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3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13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vehicle</a:t>
            </a:r>
            <a:r>
              <a:rPr sz="13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collects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items</a:t>
            </a:r>
            <a:r>
              <a:rPr sz="13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3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13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artisans.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150225" y="7807325"/>
            <a:ext cx="170624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5DE9D4"/>
                </a:solidFill>
                <a:latin typeface="Times New Roman"/>
                <a:cs typeface="Times New Roman"/>
              </a:rPr>
              <a:t>Route Optimization </a:t>
            </a:r>
            <a:r>
              <a:rPr sz="1050" spc="-25" dirty="0">
                <a:solidFill>
                  <a:srgbClr val="5DE9D4"/>
                </a:solidFill>
                <a:latin typeface="Times New Roman"/>
                <a:cs typeface="Times New Roman"/>
              </a:rPr>
              <a:t>AI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60652" y="7182670"/>
            <a:ext cx="224193" cy="246010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10858499" y="6438899"/>
            <a:ext cx="2286000" cy="1733550"/>
            <a:chOff x="10858499" y="6438899"/>
            <a:chExt cx="2286000" cy="1733550"/>
          </a:xfrm>
        </p:grpSpPr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58500" y="6438899"/>
              <a:ext cx="2286000" cy="173355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0858499" y="6438899"/>
              <a:ext cx="2286000" cy="1733550"/>
            </a:xfrm>
            <a:custGeom>
              <a:avLst/>
              <a:gdLst/>
              <a:ahLst/>
              <a:cxnLst/>
              <a:rect l="l" t="t" r="r" b="b"/>
              <a:pathLst>
                <a:path w="2286000" h="1733550">
                  <a:moveTo>
                    <a:pt x="2209799" y="1733549"/>
                  </a:moveTo>
                  <a:lnTo>
                    <a:pt x="76199" y="1733549"/>
                  </a:lnTo>
                  <a:lnTo>
                    <a:pt x="68693" y="1733187"/>
                  </a:lnTo>
                  <a:lnTo>
                    <a:pt x="27881" y="1716282"/>
                  </a:lnTo>
                  <a:lnTo>
                    <a:pt x="3261" y="1679436"/>
                  </a:lnTo>
                  <a:lnTo>
                    <a:pt x="0" y="1657349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2209799" y="0"/>
                  </a:lnTo>
                  <a:lnTo>
                    <a:pt x="2246619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661728"/>
                  </a:lnTo>
                  <a:lnTo>
                    <a:pt x="9833" y="1664856"/>
                  </a:lnTo>
                  <a:lnTo>
                    <a:pt x="9952" y="1666063"/>
                  </a:lnTo>
                  <a:lnTo>
                    <a:pt x="25958" y="1701400"/>
                  </a:lnTo>
                  <a:lnTo>
                    <a:pt x="58898" y="1721889"/>
                  </a:lnTo>
                  <a:lnTo>
                    <a:pt x="71822" y="1724025"/>
                  </a:lnTo>
                  <a:lnTo>
                    <a:pt x="2246617" y="1724025"/>
                  </a:lnTo>
                  <a:lnTo>
                    <a:pt x="2245755" y="1724541"/>
                  </a:lnTo>
                  <a:lnTo>
                    <a:pt x="2238958" y="1727748"/>
                  </a:lnTo>
                  <a:lnTo>
                    <a:pt x="2231885" y="1730286"/>
                  </a:lnTo>
                  <a:lnTo>
                    <a:pt x="2224667" y="1732099"/>
                  </a:lnTo>
                  <a:lnTo>
                    <a:pt x="2217305" y="1733187"/>
                  </a:lnTo>
                  <a:lnTo>
                    <a:pt x="2209799" y="1733549"/>
                  </a:lnTo>
                  <a:close/>
                </a:path>
                <a:path w="2286000" h="1733550">
                  <a:moveTo>
                    <a:pt x="2246617" y="1724025"/>
                  </a:moveTo>
                  <a:lnTo>
                    <a:pt x="2214178" y="1724025"/>
                  </a:lnTo>
                  <a:lnTo>
                    <a:pt x="2218513" y="1723598"/>
                  </a:lnTo>
                  <a:lnTo>
                    <a:pt x="2227101" y="1721889"/>
                  </a:lnTo>
                  <a:lnTo>
                    <a:pt x="2260042" y="1701400"/>
                  </a:lnTo>
                  <a:lnTo>
                    <a:pt x="2276047" y="1666063"/>
                  </a:lnTo>
                  <a:lnTo>
                    <a:pt x="2276475" y="1661728"/>
                  </a:lnTo>
                  <a:lnTo>
                    <a:pt x="2276475" y="71822"/>
                  </a:lnTo>
                  <a:lnTo>
                    <a:pt x="2262806" y="35517"/>
                  </a:lnTo>
                  <a:lnTo>
                    <a:pt x="2230956" y="12829"/>
                  </a:lnTo>
                  <a:lnTo>
                    <a:pt x="2214178" y="9525"/>
                  </a:lnTo>
                  <a:lnTo>
                    <a:pt x="2246619" y="9525"/>
                  </a:lnTo>
                  <a:lnTo>
                    <a:pt x="2276990" y="40242"/>
                  </a:lnTo>
                  <a:lnTo>
                    <a:pt x="2285999" y="76199"/>
                  </a:lnTo>
                  <a:lnTo>
                    <a:pt x="2285999" y="1657349"/>
                  </a:lnTo>
                  <a:lnTo>
                    <a:pt x="2273168" y="1699691"/>
                  </a:lnTo>
                  <a:lnTo>
                    <a:pt x="2252267" y="1720625"/>
                  </a:lnTo>
                  <a:lnTo>
                    <a:pt x="2246617" y="1724025"/>
                  </a:lnTo>
                  <a:close/>
                </a:path>
              </a:pathLst>
            </a:custGeom>
            <a:solidFill>
              <a:srgbClr val="2DD4BE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51846" y="6752313"/>
              <a:ext cx="188528" cy="230423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1007725" y="6572374"/>
            <a:ext cx="1740535" cy="10852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77825" marR="85725">
              <a:lnSpc>
                <a:spcPct val="102899"/>
              </a:lnSpc>
              <a:spcBef>
                <a:spcPts val="40"/>
              </a:spcBef>
            </a:pPr>
            <a:r>
              <a:rPr sz="1650" b="1" dirty="0">
                <a:solidFill>
                  <a:srgbClr val="FFFFFF"/>
                </a:solidFill>
                <a:latin typeface="Times New Roman"/>
                <a:cs typeface="Times New Roman"/>
              </a:rPr>
              <a:t>4.</a:t>
            </a:r>
            <a:r>
              <a:rPr sz="165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Processing </a:t>
            </a:r>
            <a:r>
              <a:rPr sz="17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Hub</a:t>
            </a: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ct val="115399"/>
              </a:lnSpc>
              <a:spcBef>
                <a:spcPts val="595"/>
              </a:spcBef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Items</a:t>
            </a:r>
            <a:r>
              <a:rPr sz="13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3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professionally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packaged for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export.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1007725" y="7807325"/>
            <a:ext cx="114617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5DE9D4"/>
                </a:solidFill>
                <a:latin typeface="Times New Roman"/>
                <a:cs typeface="Times New Roman"/>
              </a:rPr>
              <a:t>Hub </a:t>
            </a:r>
            <a:r>
              <a:rPr sz="1050" spc="-10" dirty="0">
                <a:solidFill>
                  <a:srgbClr val="5DE9D4"/>
                </a:solidFill>
                <a:latin typeface="Times New Roman"/>
                <a:cs typeface="Times New Roman"/>
              </a:rPr>
              <a:t>Management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51" name="object 5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318152" y="7182670"/>
            <a:ext cx="224193" cy="246010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13716000" y="6438899"/>
            <a:ext cx="2286000" cy="1733550"/>
            <a:chOff x="13716000" y="6438899"/>
            <a:chExt cx="2286000" cy="1733550"/>
          </a:xfrm>
        </p:grpSpPr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16000" y="6438899"/>
              <a:ext cx="2286000" cy="173355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3716000" y="6438899"/>
              <a:ext cx="2286000" cy="1733550"/>
            </a:xfrm>
            <a:custGeom>
              <a:avLst/>
              <a:gdLst/>
              <a:ahLst/>
              <a:cxnLst/>
              <a:rect l="l" t="t" r="r" b="b"/>
              <a:pathLst>
                <a:path w="2286000" h="1733550">
                  <a:moveTo>
                    <a:pt x="2209799" y="1733549"/>
                  </a:moveTo>
                  <a:lnTo>
                    <a:pt x="76199" y="1733549"/>
                  </a:lnTo>
                  <a:lnTo>
                    <a:pt x="68693" y="1733187"/>
                  </a:lnTo>
                  <a:lnTo>
                    <a:pt x="27882" y="1716282"/>
                  </a:lnTo>
                  <a:lnTo>
                    <a:pt x="3262" y="1679436"/>
                  </a:lnTo>
                  <a:lnTo>
                    <a:pt x="0" y="1657349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209799" y="0"/>
                  </a:lnTo>
                  <a:lnTo>
                    <a:pt x="2246619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661728"/>
                  </a:lnTo>
                  <a:lnTo>
                    <a:pt x="9833" y="1664856"/>
                  </a:lnTo>
                  <a:lnTo>
                    <a:pt x="9952" y="1666063"/>
                  </a:lnTo>
                  <a:lnTo>
                    <a:pt x="25958" y="1701400"/>
                  </a:lnTo>
                  <a:lnTo>
                    <a:pt x="58898" y="1721889"/>
                  </a:lnTo>
                  <a:lnTo>
                    <a:pt x="71822" y="1724025"/>
                  </a:lnTo>
                  <a:lnTo>
                    <a:pt x="2246617" y="1724025"/>
                  </a:lnTo>
                  <a:lnTo>
                    <a:pt x="2245755" y="1724541"/>
                  </a:lnTo>
                  <a:lnTo>
                    <a:pt x="2238958" y="1727748"/>
                  </a:lnTo>
                  <a:lnTo>
                    <a:pt x="2231885" y="1730286"/>
                  </a:lnTo>
                  <a:lnTo>
                    <a:pt x="2224667" y="1732099"/>
                  </a:lnTo>
                  <a:lnTo>
                    <a:pt x="2217305" y="1733187"/>
                  </a:lnTo>
                  <a:lnTo>
                    <a:pt x="2209799" y="1733549"/>
                  </a:lnTo>
                  <a:close/>
                </a:path>
                <a:path w="2286000" h="1733550">
                  <a:moveTo>
                    <a:pt x="2246617" y="1724025"/>
                  </a:moveTo>
                  <a:lnTo>
                    <a:pt x="2214178" y="1724025"/>
                  </a:lnTo>
                  <a:lnTo>
                    <a:pt x="2218513" y="1723598"/>
                  </a:lnTo>
                  <a:lnTo>
                    <a:pt x="2227101" y="1721889"/>
                  </a:lnTo>
                  <a:lnTo>
                    <a:pt x="2260041" y="1701400"/>
                  </a:lnTo>
                  <a:lnTo>
                    <a:pt x="2276047" y="1666063"/>
                  </a:lnTo>
                  <a:lnTo>
                    <a:pt x="2276475" y="1661728"/>
                  </a:lnTo>
                  <a:lnTo>
                    <a:pt x="2276475" y="71822"/>
                  </a:lnTo>
                  <a:lnTo>
                    <a:pt x="2262805" y="35517"/>
                  </a:lnTo>
                  <a:lnTo>
                    <a:pt x="2230956" y="12829"/>
                  </a:lnTo>
                  <a:lnTo>
                    <a:pt x="2214178" y="9525"/>
                  </a:lnTo>
                  <a:lnTo>
                    <a:pt x="2246619" y="9525"/>
                  </a:lnTo>
                  <a:lnTo>
                    <a:pt x="2276990" y="40242"/>
                  </a:lnTo>
                  <a:lnTo>
                    <a:pt x="2285999" y="76199"/>
                  </a:lnTo>
                  <a:lnTo>
                    <a:pt x="2285999" y="1657349"/>
                  </a:lnTo>
                  <a:lnTo>
                    <a:pt x="2273168" y="1699691"/>
                  </a:lnTo>
                  <a:lnTo>
                    <a:pt x="2252267" y="1720625"/>
                  </a:lnTo>
                  <a:lnTo>
                    <a:pt x="2246617" y="1724025"/>
                  </a:lnTo>
                  <a:close/>
                </a:path>
              </a:pathLst>
            </a:custGeom>
            <a:solidFill>
              <a:srgbClr val="2DD4BE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898116" y="6764677"/>
              <a:ext cx="203803" cy="203803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13865225" y="6572374"/>
            <a:ext cx="1734185" cy="10852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68935" marR="466090">
              <a:lnSpc>
                <a:spcPct val="102899"/>
              </a:lnSpc>
              <a:spcBef>
                <a:spcPts val="40"/>
              </a:spcBef>
            </a:pPr>
            <a:r>
              <a:rPr sz="1650" b="1" dirty="0">
                <a:solidFill>
                  <a:srgbClr val="FFFFFF"/>
                </a:solidFill>
                <a:latin typeface="Times New Roman"/>
                <a:cs typeface="Times New Roman"/>
              </a:rPr>
              <a:t>5.</a:t>
            </a:r>
            <a:r>
              <a:rPr sz="165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Export </a:t>
            </a:r>
            <a:r>
              <a:rPr sz="17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Shipment</a:t>
            </a: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ct val="115399"/>
              </a:lnSpc>
              <a:spcBef>
                <a:spcPts val="595"/>
              </a:spcBef>
            </a:pP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3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13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international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shipment</a:t>
            </a:r>
            <a:r>
              <a:rPr sz="13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3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dispatched.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3865225" y="7807325"/>
            <a:ext cx="146621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5DE9D4"/>
                </a:solidFill>
                <a:latin typeface="Times New Roman"/>
                <a:cs typeface="Times New Roman"/>
              </a:rPr>
              <a:t>Logistics </a:t>
            </a:r>
            <a:r>
              <a:rPr sz="1050" spc="-10" dirty="0">
                <a:solidFill>
                  <a:srgbClr val="5DE9D4"/>
                </a:solidFill>
                <a:latin typeface="Times New Roman"/>
                <a:cs typeface="Times New Roman"/>
              </a:rPr>
              <a:t>Partners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09600" y="8591550"/>
            <a:ext cx="17068800" cy="552450"/>
            <a:chOff x="609600" y="8591550"/>
            <a:chExt cx="17068800" cy="552450"/>
          </a:xfrm>
        </p:grpSpPr>
        <p:sp>
          <p:nvSpPr>
            <p:cNvPr id="59" name="object 59"/>
            <p:cNvSpPr/>
            <p:nvPr/>
          </p:nvSpPr>
          <p:spPr>
            <a:xfrm>
              <a:off x="609600" y="8591550"/>
              <a:ext cx="17068800" cy="552450"/>
            </a:xfrm>
            <a:custGeom>
              <a:avLst/>
              <a:gdLst/>
              <a:ahLst/>
              <a:cxnLst/>
              <a:rect l="l" t="t" r="r" b="b"/>
              <a:pathLst>
                <a:path w="17068800" h="552450">
                  <a:moveTo>
                    <a:pt x="16992600" y="552450"/>
                  </a:moveTo>
                  <a:lnTo>
                    <a:pt x="76200" y="552450"/>
                  </a:lnTo>
                  <a:lnTo>
                    <a:pt x="68693" y="552087"/>
                  </a:lnTo>
                  <a:lnTo>
                    <a:pt x="27882" y="535182"/>
                  </a:lnTo>
                  <a:lnTo>
                    <a:pt x="3262" y="498335"/>
                  </a:lnTo>
                  <a:lnTo>
                    <a:pt x="0" y="4762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16992600" y="0"/>
                  </a:lnTo>
                  <a:lnTo>
                    <a:pt x="17034939" y="12829"/>
                  </a:lnTo>
                  <a:lnTo>
                    <a:pt x="17062996" y="47038"/>
                  </a:lnTo>
                  <a:lnTo>
                    <a:pt x="17068800" y="76200"/>
                  </a:lnTo>
                  <a:lnTo>
                    <a:pt x="17068800" y="476250"/>
                  </a:lnTo>
                  <a:lnTo>
                    <a:pt x="17055966" y="518591"/>
                  </a:lnTo>
                  <a:lnTo>
                    <a:pt x="17021754" y="546649"/>
                  </a:lnTo>
                  <a:lnTo>
                    <a:pt x="16992600" y="552450"/>
                  </a:lnTo>
                  <a:close/>
                </a:path>
              </a:pathLst>
            </a:custGeom>
            <a:solidFill>
              <a:srgbClr val="128708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609600" y="8591550"/>
              <a:ext cx="17068800" cy="552450"/>
            </a:xfrm>
            <a:custGeom>
              <a:avLst/>
              <a:gdLst/>
              <a:ahLst/>
              <a:cxnLst/>
              <a:rect l="l" t="t" r="r" b="b"/>
              <a:pathLst>
                <a:path w="17068800" h="552450">
                  <a:moveTo>
                    <a:pt x="16992599" y="552449"/>
                  </a:moveTo>
                  <a:lnTo>
                    <a:pt x="76199" y="552449"/>
                  </a:lnTo>
                  <a:lnTo>
                    <a:pt x="68693" y="552087"/>
                  </a:lnTo>
                  <a:lnTo>
                    <a:pt x="27882" y="535182"/>
                  </a:lnTo>
                  <a:lnTo>
                    <a:pt x="3262" y="498335"/>
                  </a:lnTo>
                  <a:lnTo>
                    <a:pt x="0" y="76199"/>
                  </a:lnTo>
                  <a:lnTo>
                    <a:pt x="362" y="68693"/>
                  </a:lnTo>
                  <a:lnTo>
                    <a:pt x="17266" y="27882"/>
                  </a:lnTo>
                  <a:lnTo>
                    <a:pt x="54113" y="3262"/>
                  </a:lnTo>
                  <a:lnTo>
                    <a:pt x="76199" y="0"/>
                  </a:lnTo>
                  <a:lnTo>
                    <a:pt x="16992599" y="0"/>
                  </a:lnTo>
                  <a:lnTo>
                    <a:pt x="17029417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480628"/>
                  </a:lnTo>
                  <a:lnTo>
                    <a:pt x="23194" y="516932"/>
                  </a:lnTo>
                  <a:lnTo>
                    <a:pt x="54729" y="539525"/>
                  </a:lnTo>
                  <a:lnTo>
                    <a:pt x="71822" y="542925"/>
                  </a:lnTo>
                  <a:lnTo>
                    <a:pt x="17029414" y="542925"/>
                  </a:lnTo>
                  <a:lnTo>
                    <a:pt x="17028552" y="543441"/>
                  </a:lnTo>
                  <a:lnTo>
                    <a:pt x="17021754" y="546649"/>
                  </a:lnTo>
                  <a:lnTo>
                    <a:pt x="17014680" y="549186"/>
                  </a:lnTo>
                  <a:lnTo>
                    <a:pt x="17007463" y="550999"/>
                  </a:lnTo>
                  <a:lnTo>
                    <a:pt x="17000102" y="552087"/>
                  </a:lnTo>
                  <a:lnTo>
                    <a:pt x="16992599" y="552449"/>
                  </a:lnTo>
                  <a:close/>
                </a:path>
                <a:path w="17068800" h="552450">
                  <a:moveTo>
                    <a:pt x="17029414" y="542925"/>
                  </a:moveTo>
                  <a:lnTo>
                    <a:pt x="16996976" y="542925"/>
                  </a:lnTo>
                  <a:lnTo>
                    <a:pt x="17001313" y="542498"/>
                  </a:lnTo>
                  <a:lnTo>
                    <a:pt x="17009899" y="540789"/>
                  </a:lnTo>
                  <a:lnTo>
                    <a:pt x="17042839" y="520300"/>
                  </a:lnTo>
                  <a:lnTo>
                    <a:pt x="17058846" y="484963"/>
                  </a:lnTo>
                  <a:lnTo>
                    <a:pt x="17059273" y="480628"/>
                  </a:lnTo>
                  <a:lnTo>
                    <a:pt x="17059273" y="71822"/>
                  </a:lnTo>
                  <a:lnTo>
                    <a:pt x="17045603" y="35517"/>
                  </a:lnTo>
                  <a:lnTo>
                    <a:pt x="17013754" y="12829"/>
                  </a:lnTo>
                  <a:lnTo>
                    <a:pt x="16996976" y="9525"/>
                  </a:lnTo>
                  <a:lnTo>
                    <a:pt x="17029417" y="9525"/>
                  </a:lnTo>
                  <a:lnTo>
                    <a:pt x="17059788" y="40242"/>
                  </a:lnTo>
                  <a:lnTo>
                    <a:pt x="17068799" y="76199"/>
                  </a:lnTo>
                  <a:lnTo>
                    <a:pt x="17068799" y="476249"/>
                  </a:lnTo>
                  <a:lnTo>
                    <a:pt x="17055966" y="518591"/>
                  </a:lnTo>
                  <a:lnTo>
                    <a:pt x="17035065" y="539525"/>
                  </a:lnTo>
                  <a:lnTo>
                    <a:pt x="17029414" y="542925"/>
                  </a:lnTo>
                  <a:close/>
                </a:path>
              </a:pathLst>
            </a:custGeom>
            <a:solidFill>
              <a:srgbClr val="4ADE8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791644" y="8657097"/>
            <a:ext cx="10704830" cy="354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Result</a:t>
            </a:r>
            <a:r>
              <a:rPr sz="195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95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b="1" spc="110" dirty="0">
                <a:solidFill>
                  <a:srgbClr val="FFFFFF"/>
                </a:solidFill>
                <a:latin typeface="Times New Roman"/>
                <a:cs typeface="Times New Roman"/>
              </a:rPr>
              <a:t>60-</a:t>
            </a:r>
            <a:r>
              <a:rPr sz="1950" b="1" dirty="0">
                <a:solidFill>
                  <a:srgbClr val="FFFFFF"/>
                </a:solidFill>
                <a:latin typeface="Times New Roman"/>
                <a:cs typeface="Times New Roman"/>
              </a:rPr>
              <a:t>75%</a:t>
            </a:r>
            <a:r>
              <a:rPr sz="195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6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215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reduction</a:t>
            </a:r>
            <a:r>
              <a:rPr sz="215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200" dirty="0">
                <a:solidFill>
                  <a:srgbClr val="FFFFFF"/>
                </a:solidFill>
                <a:latin typeface="Times New Roman"/>
                <a:cs typeface="Times New Roman"/>
              </a:rPr>
              <a:t>makes</a:t>
            </a:r>
            <a:r>
              <a:rPr sz="215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60" dirty="0">
                <a:solidFill>
                  <a:srgbClr val="FFFFFF"/>
                </a:solidFill>
                <a:latin typeface="Times New Roman"/>
                <a:cs typeface="Times New Roman"/>
              </a:rPr>
              <a:t>exports</a:t>
            </a:r>
            <a:r>
              <a:rPr sz="2150" b="1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profitable </a:t>
            </a:r>
            <a:r>
              <a:rPr sz="215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15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50" dirty="0">
                <a:solidFill>
                  <a:srgbClr val="FFFFFF"/>
                </a:solidFill>
                <a:latin typeface="Times New Roman"/>
                <a:cs typeface="Times New Roman"/>
              </a:rPr>
              <a:t>artisans</a:t>
            </a:r>
            <a:r>
              <a:rPr sz="215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4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15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70" dirty="0">
                <a:solidFill>
                  <a:srgbClr val="FFFFFF"/>
                </a:solidFill>
                <a:latin typeface="Times New Roman"/>
                <a:cs typeface="Times New Roman"/>
              </a:rPr>
              <a:t>orders</a:t>
            </a:r>
            <a:r>
              <a:rPr sz="215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8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15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8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15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8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150" b="1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$</a:t>
            </a:r>
            <a:r>
              <a:rPr sz="19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6325353" y="9894947"/>
            <a:ext cx="1365885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85" dirty="0">
                <a:solidFill>
                  <a:srgbClr val="FFFFFF"/>
                </a:solidFill>
                <a:latin typeface="Times New Roman"/>
                <a:cs typeface="Times New Roman"/>
              </a:rPr>
              <a:t>06</a:t>
            </a:r>
            <a:r>
              <a:rPr sz="13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13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Core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0" y="0"/>
            <a:ext cx="18288000" cy="1028700"/>
            <a:chOff x="0" y="0"/>
            <a:chExt cx="18288000" cy="1028700"/>
          </a:xfrm>
        </p:grpSpPr>
        <p:sp>
          <p:nvSpPr>
            <p:cNvPr id="64" name="object 64"/>
            <p:cNvSpPr/>
            <p:nvPr/>
          </p:nvSpPr>
          <p:spPr>
            <a:xfrm>
              <a:off x="0" y="0"/>
              <a:ext cx="18288000" cy="1028700"/>
            </a:xfrm>
            <a:custGeom>
              <a:avLst/>
              <a:gdLst/>
              <a:ahLst/>
              <a:cxnLst/>
              <a:rect l="l" t="t" r="r" b="b"/>
              <a:pathLst>
                <a:path w="18288000" h="1028700">
                  <a:moveTo>
                    <a:pt x="18288000" y="1028700"/>
                  </a:moveTo>
                  <a:lnTo>
                    <a:pt x="0" y="1028700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02870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676275" y="292145"/>
              <a:ext cx="400050" cy="444500"/>
            </a:xfrm>
            <a:custGeom>
              <a:avLst/>
              <a:gdLst/>
              <a:ahLst/>
              <a:cxnLst/>
              <a:rect l="l" t="t" r="r" b="b"/>
              <a:pathLst>
                <a:path w="400050" h="444500">
                  <a:moveTo>
                    <a:pt x="100012" y="50405"/>
                  </a:moveTo>
                  <a:lnTo>
                    <a:pt x="300037" y="164863"/>
                  </a:lnTo>
                </a:path>
                <a:path w="400050" h="444500">
                  <a:moveTo>
                    <a:pt x="400050" y="133304"/>
                  </a:moveTo>
                  <a:lnTo>
                    <a:pt x="377825" y="94855"/>
                  </a:lnTo>
                  <a:lnTo>
                    <a:pt x="222250" y="5955"/>
                  </a:lnTo>
                  <a:lnTo>
                    <a:pt x="215373" y="1985"/>
                  </a:lnTo>
                  <a:lnTo>
                    <a:pt x="207965" y="0"/>
                  </a:lnTo>
                  <a:lnTo>
                    <a:pt x="200024" y="0"/>
                  </a:lnTo>
                  <a:lnTo>
                    <a:pt x="192084" y="0"/>
                  </a:lnTo>
                  <a:lnTo>
                    <a:pt x="184676" y="1985"/>
                  </a:lnTo>
                  <a:lnTo>
                    <a:pt x="177800" y="5955"/>
                  </a:lnTo>
                  <a:lnTo>
                    <a:pt x="22225" y="94855"/>
                  </a:lnTo>
                  <a:lnTo>
                    <a:pt x="15355" y="98821"/>
                  </a:lnTo>
                  <a:lnTo>
                    <a:pt x="9936" y="104237"/>
                  </a:lnTo>
                  <a:lnTo>
                    <a:pt x="5966" y="111105"/>
                  </a:lnTo>
                  <a:lnTo>
                    <a:pt x="1996" y="117972"/>
                  </a:lnTo>
                  <a:lnTo>
                    <a:pt x="8" y="125372"/>
                  </a:lnTo>
                  <a:lnTo>
                    <a:pt x="0" y="133304"/>
                  </a:lnTo>
                  <a:lnTo>
                    <a:pt x="0" y="311104"/>
                  </a:lnTo>
                  <a:lnTo>
                    <a:pt x="22225" y="349553"/>
                  </a:lnTo>
                  <a:lnTo>
                    <a:pt x="177800" y="438453"/>
                  </a:lnTo>
                  <a:lnTo>
                    <a:pt x="184676" y="442423"/>
                  </a:lnTo>
                  <a:lnTo>
                    <a:pt x="192084" y="444408"/>
                  </a:lnTo>
                  <a:lnTo>
                    <a:pt x="200024" y="444408"/>
                  </a:lnTo>
                  <a:lnTo>
                    <a:pt x="207965" y="444408"/>
                  </a:lnTo>
                  <a:lnTo>
                    <a:pt x="215373" y="442423"/>
                  </a:lnTo>
                  <a:lnTo>
                    <a:pt x="222250" y="438453"/>
                  </a:lnTo>
                  <a:lnTo>
                    <a:pt x="377825" y="349553"/>
                  </a:lnTo>
                  <a:lnTo>
                    <a:pt x="400050" y="311104"/>
                  </a:lnTo>
                  <a:lnTo>
                    <a:pt x="400050" y="133304"/>
                  </a:lnTo>
                  <a:close/>
                </a:path>
                <a:path w="400050" h="444500">
                  <a:moveTo>
                    <a:pt x="6667" y="111079"/>
                  </a:moveTo>
                  <a:lnTo>
                    <a:pt x="200025" y="222204"/>
                  </a:lnTo>
                  <a:lnTo>
                    <a:pt x="393382" y="111079"/>
                  </a:lnTo>
                </a:path>
                <a:path w="400050" h="444500">
                  <a:moveTo>
                    <a:pt x="200025" y="444454"/>
                  </a:moveTo>
                  <a:lnTo>
                    <a:pt x="200025" y="222204"/>
                  </a:lnTo>
                </a:path>
              </a:pathLst>
            </a:custGeom>
            <a:ln w="44450">
              <a:solidFill>
                <a:srgbClr val="12870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66" name="object 66"/>
          <p:cNvSpPr txBox="1">
            <a:spLocks noGrp="1"/>
          </p:cNvSpPr>
          <p:nvPr>
            <p:ph type="title"/>
          </p:nvPr>
        </p:nvSpPr>
        <p:spPr>
          <a:xfrm>
            <a:off x="977900" y="-12326"/>
            <a:ext cx="14570710" cy="873957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95"/>
              </a:spcBef>
            </a:pPr>
            <a:r>
              <a:rPr spc="-265" dirty="0">
                <a:latin typeface="Times New Roman"/>
                <a:cs typeface="Times New Roman"/>
              </a:rPr>
              <a:t>Feature</a:t>
            </a:r>
            <a:r>
              <a:rPr spc="-33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3:</a:t>
            </a:r>
            <a:r>
              <a:rPr sz="4950" spc="-290" dirty="0">
                <a:latin typeface="Times New Roman"/>
                <a:cs typeface="Times New Roman"/>
              </a:rPr>
              <a:t> </a:t>
            </a:r>
            <a:r>
              <a:rPr spc="-250" dirty="0">
                <a:latin typeface="Times New Roman"/>
                <a:cs typeface="Times New Roman"/>
              </a:rPr>
              <a:t>Cluster</a:t>
            </a:r>
            <a:r>
              <a:rPr spc="-335" dirty="0">
                <a:latin typeface="Times New Roman"/>
                <a:cs typeface="Times New Roman"/>
              </a:rPr>
              <a:t> </a:t>
            </a:r>
            <a:r>
              <a:rPr spc="-290" dirty="0">
                <a:latin typeface="Times New Roman"/>
                <a:cs typeface="Times New Roman"/>
              </a:rPr>
              <a:t>Logistics</a:t>
            </a:r>
            <a:r>
              <a:rPr spc="-335" dirty="0">
                <a:latin typeface="Times New Roman"/>
                <a:cs typeface="Times New Roman"/>
              </a:rPr>
              <a:t> </a:t>
            </a:r>
            <a:r>
              <a:rPr spc="-345" dirty="0">
                <a:latin typeface="Times New Roman"/>
                <a:cs typeface="Times New Roman"/>
              </a:rPr>
              <a:t>Pooling</a:t>
            </a:r>
            <a:endParaRPr sz="4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9224" y="958725"/>
            <a:ext cx="6089650" cy="7448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2550" b="1" spc="-130" dirty="0">
                <a:solidFill>
                  <a:srgbClr val="FF9933"/>
                </a:solidFill>
                <a:latin typeface="Times New Roman"/>
                <a:cs typeface="Times New Roman"/>
              </a:rPr>
              <a:t>Scalable</a:t>
            </a:r>
            <a:r>
              <a:rPr sz="2600" b="1" spc="-130" dirty="0">
                <a:solidFill>
                  <a:srgbClr val="FF9933"/>
                </a:solidFill>
                <a:latin typeface="Times New Roman"/>
                <a:cs typeface="Times New Roman"/>
              </a:rPr>
              <a:t>,</a:t>
            </a:r>
            <a:r>
              <a:rPr sz="2600" b="1" spc="-114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2550" b="1" spc="-140" dirty="0">
                <a:solidFill>
                  <a:srgbClr val="FF9933"/>
                </a:solidFill>
                <a:latin typeface="Times New Roman"/>
                <a:cs typeface="Times New Roman"/>
              </a:rPr>
              <a:t>AI</a:t>
            </a:r>
            <a:r>
              <a:rPr sz="2600" b="1" spc="-140" dirty="0">
                <a:solidFill>
                  <a:srgbClr val="FF9933"/>
                </a:solidFill>
                <a:latin typeface="Times New Roman"/>
                <a:cs typeface="Times New Roman"/>
              </a:rPr>
              <a:t>-</a:t>
            </a:r>
            <a:r>
              <a:rPr sz="2550" b="1" spc="-140" dirty="0">
                <a:solidFill>
                  <a:srgbClr val="FF9933"/>
                </a:solidFill>
                <a:latin typeface="Times New Roman"/>
                <a:cs typeface="Times New Roman"/>
              </a:rPr>
              <a:t>First</a:t>
            </a:r>
            <a:r>
              <a:rPr sz="2600" b="1" spc="-140" dirty="0">
                <a:solidFill>
                  <a:srgbClr val="FF9933"/>
                </a:solidFill>
                <a:latin typeface="Times New Roman"/>
                <a:cs typeface="Times New Roman"/>
              </a:rPr>
              <a:t>,</a:t>
            </a:r>
            <a:r>
              <a:rPr sz="2600" b="1" spc="-114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2550" b="1" spc="-114" dirty="0">
                <a:solidFill>
                  <a:srgbClr val="FF9933"/>
                </a:solidFill>
                <a:latin typeface="Times New Roman"/>
                <a:cs typeface="Times New Roman"/>
              </a:rPr>
              <a:t>Decentralized</a:t>
            </a:r>
            <a:r>
              <a:rPr sz="2550" b="1" spc="-9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2550" b="1" spc="-10" dirty="0">
                <a:solidFill>
                  <a:srgbClr val="FF9933"/>
                </a:solidFill>
                <a:latin typeface="Times New Roman"/>
                <a:cs typeface="Times New Roman"/>
              </a:rPr>
              <a:t>Platform</a:t>
            </a:r>
            <a:endParaRPr sz="2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microservices</a:t>
            </a:r>
            <a:r>
              <a:rPr sz="16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30" dirty="0">
                <a:solidFill>
                  <a:srgbClr val="FFFFFF"/>
                </a:solidFill>
                <a:latin typeface="Times New Roman"/>
                <a:cs typeface="Times New Roman"/>
              </a:rPr>
              <a:t>performance,</a:t>
            </a:r>
            <a:r>
              <a:rPr sz="165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30" dirty="0">
                <a:solidFill>
                  <a:srgbClr val="FFFFFF"/>
                </a:solidFill>
                <a:latin typeface="Times New Roman"/>
                <a:cs typeface="Times New Roman"/>
              </a:rPr>
              <a:t>scalability,</a:t>
            </a:r>
            <a:r>
              <a:rPr sz="165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trust.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4800" y="1866900"/>
            <a:ext cx="8724900" cy="2314575"/>
            <a:chOff x="304800" y="1866900"/>
            <a:chExt cx="8724900" cy="2314575"/>
          </a:xfrm>
        </p:grpSpPr>
        <p:sp>
          <p:nvSpPr>
            <p:cNvPr id="4" name="object 4"/>
            <p:cNvSpPr/>
            <p:nvPr/>
          </p:nvSpPr>
          <p:spPr>
            <a:xfrm>
              <a:off x="314325" y="1876425"/>
              <a:ext cx="8705850" cy="2295525"/>
            </a:xfrm>
            <a:custGeom>
              <a:avLst/>
              <a:gdLst/>
              <a:ahLst/>
              <a:cxnLst/>
              <a:rect l="l" t="t" r="r" b="b"/>
              <a:pathLst>
                <a:path w="8705850" h="2295525">
                  <a:moveTo>
                    <a:pt x="8643552" y="2295524"/>
                  </a:moveTo>
                  <a:lnTo>
                    <a:pt x="62297" y="2295524"/>
                  </a:lnTo>
                  <a:lnTo>
                    <a:pt x="57961" y="2295097"/>
                  </a:lnTo>
                  <a:lnTo>
                    <a:pt x="22624" y="2279091"/>
                  </a:lnTo>
                  <a:lnTo>
                    <a:pt x="2135" y="2246151"/>
                  </a:lnTo>
                  <a:lnTo>
                    <a:pt x="0" y="2233228"/>
                  </a:lnTo>
                  <a:lnTo>
                    <a:pt x="0" y="2228850"/>
                  </a:lnTo>
                  <a:lnTo>
                    <a:pt x="0" y="62296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8643552" y="0"/>
                  </a:lnTo>
                  <a:lnTo>
                    <a:pt x="8679857" y="13668"/>
                  </a:lnTo>
                  <a:lnTo>
                    <a:pt x="8702449" y="45203"/>
                  </a:lnTo>
                  <a:lnTo>
                    <a:pt x="8705849" y="62296"/>
                  </a:lnTo>
                  <a:lnTo>
                    <a:pt x="8705849" y="2233228"/>
                  </a:lnTo>
                  <a:lnTo>
                    <a:pt x="8692179" y="2269532"/>
                  </a:lnTo>
                  <a:lnTo>
                    <a:pt x="8660644" y="2292124"/>
                  </a:lnTo>
                  <a:lnTo>
                    <a:pt x="8647888" y="2295097"/>
                  </a:lnTo>
                  <a:lnTo>
                    <a:pt x="8643552" y="2295524"/>
                  </a:lnTo>
                  <a:close/>
                </a:path>
              </a:pathLst>
            </a:custGeom>
            <a:solidFill>
              <a:srgbClr val="3B81F5">
                <a:alpha val="82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14325" y="1876425"/>
              <a:ext cx="8705850" cy="2295525"/>
            </a:xfrm>
            <a:custGeom>
              <a:avLst/>
              <a:gdLst/>
              <a:ahLst/>
              <a:cxnLst/>
              <a:rect l="l" t="t" r="r" b="b"/>
              <a:pathLst>
                <a:path w="8705850" h="2295525">
                  <a:moveTo>
                    <a:pt x="0" y="2228850"/>
                  </a:moveTo>
                  <a:lnTo>
                    <a:pt x="0" y="66675"/>
                  </a:lnTo>
                  <a:lnTo>
                    <a:pt x="0" y="62296"/>
                  </a:lnTo>
                  <a:lnTo>
                    <a:pt x="427" y="57961"/>
                  </a:lnTo>
                  <a:lnTo>
                    <a:pt x="16433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4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8639175" y="0"/>
                  </a:lnTo>
                  <a:lnTo>
                    <a:pt x="8643552" y="0"/>
                  </a:lnTo>
                  <a:lnTo>
                    <a:pt x="8647888" y="427"/>
                  </a:lnTo>
                  <a:lnTo>
                    <a:pt x="8652182" y="1281"/>
                  </a:lnTo>
                  <a:lnTo>
                    <a:pt x="8656475" y="2135"/>
                  </a:lnTo>
                  <a:lnTo>
                    <a:pt x="8676216" y="11236"/>
                  </a:lnTo>
                  <a:lnTo>
                    <a:pt x="8679857" y="13668"/>
                  </a:lnTo>
                  <a:lnTo>
                    <a:pt x="8683225" y="16432"/>
                  </a:lnTo>
                  <a:lnTo>
                    <a:pt x="8686320" y="19528"/>
                  </a:lnTo>
                  <a:lnTo>
                    <a:pt x="8689416" y="22624"/>
                  </a:lnTo>
                  <a:lnTo>
                    <a:pt x="8692179" y="25992"/>
                  </a:lnTo>
                  <a:lnTo>
                    <a:pt x="8694611" y="29632"/>
                  </a:lnTo>
                  <a:lnTo>
                    <a:pt x="8697044" y="33272"/>
                  </a:lnTo>
                  <a:lnTo>
                    <a:pt x="8704567" y="53667"/>
                  </a:lnTo>
                  <a:lnTo>
                    <a:pt x="8705422" y="57961"/>
                  </a:lnTo>
                  <a:lnTo>
                    <a:pt x="8705849" y="62296"/>
                  </a:lnTo>
                  <a:lnTo>
                    <a:pt x="8705850" y="66675"/>
                  </a:lnTo>
                  <a:lnTo>
                    <a:pt x="8705850" y="2228850"/>
                  </a:lnTo>
                  <a:lnTo>
                    <a:pt x="8705849" y="2233228"/>
                  </a:lnTo>
                  <a:lnTo>
                    <a:pt x="8705422" y="2237563"/>
                  </a:lnTo>
                  <a:lnTo>
                    <a:pt x="8704567" y="2241857"/>
                  </a:lnTo>
                  <a:lnTo>
                    <a:pt x="8703714" y="2246151"/>
                  </a:lnTo>
                  <a:lnTo>
                    <a:pt x="8694611" y="2265892"/>
                  </a:lnTo>
                  <a:lnTo>
                    <a:pt x="8692179" y="2269532"/>
                  </a:lnTo>
                  <a:lnTo>
                    <a:pt x="8676216" y="2284287"/>
                  </a:lnTo>
                  <a:lnTo>
                    <a:pt x="8672576" y="2286719"/>
                  </a:lnTo>
                  <a:lnTo>
                    <a:pt x="8639175" y="2295525"/>
                  </a:lnTo>
                  <a:lnTo>
                    <a:pt x="66675" y="2295525"/>
                  </a:lnTo>
                  <a:lnTo>
                    <a:pt x="62297" y="2295524"/>
                  </a:lnTo>
                  <a:lnTo>
                    <a:pt x="57961" y="2295097"/>
                  </a:lnTo>
                  <a:lnTo>
                    <a:pt x="53667" y="2294243"/>
                  </a:lnTo>
                  <a:lnTo>
                    <a:pt x="49373" y="2293389"/>
                  </a:lnTo>
                  <a:lnTo>
                    <a:pt x="45204" y="2292124"/>
                  </a:lnTo>
                  <a:lnTo>
                    <a:pt x="41159" y="2290448"/>
                  </a:lnTo>
                  <a:lnTo>
                    <a:pt x="37114" y="2288773"/>
                  </a:lnTo>
                  <a:lnTo>
                    <a:pt x="33272" y="2286719"/>
                  </a:lnTo>
                  <a:lnTo>
                    <a:pt x="29632" y="2284287"/>
                  </a:lnTo>
                  <a:lnTo>
                    <a:pt x="25992" y="2281855"/>
                  </a:lnTo>
                  <a:lnTo>
                    <a:pt x="3399" y="2250320"/>
                  </a:lnTo>
                  <a:lnTo>
                    <a:pt x="0" y="2233228"/>
                  </a:lnTo>
                  <a:lnTo>
                    <a:pt x="0" y="2228850"/>
                  </a:lnTo>
                  <a:close/>
                </a:path>
              </a:pathLst>
            </a:custGeom>
            <a:ln w="19050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5450" y="1967737"/>
            <a:ext cx="1704339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80" dirty="0">
                <a:solidFill>
                  <a:srgbClr val="3B81F5"/>
                </a:solidFill>
                <a:latin typeface="Times New Roman"/>
                <a:cs typeface="Times New Roman"/>
              </a:rPr>
              <a:t>Frontend</a:t>
            </a:r>
            <a:r>
              <a:rPr sz="1950" b="1" spc="-75" dirty="0">
                <a:solidFill>
                  <a:srgbClr val="3B81F5"/>
                </a:solidFill>
                <a:latin typeface="Times New Roman"/>
                <a:cs typeface="Times New Roman"/>
              </a:rPr>
              <a:t> </a:t>
            </a:r>
            <a:r>
              <a:rPr sz="1950" b="1" spc="-50" dirty="0">
                <a:solidFill>
                  <a:srgbClr val="3B81F5"/>
                </a:solidFill>
                <a:latin typeface="Times New Roman"/>
                <a:cs typeface="Times New Roman"/>
              </a:rPr>
              <a:t>Layer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8149" y="2381249"/>
            <a:ext cx="4171950" cy="1666875"/>
            <a:chOff x="438149" y="2381249"/>
            <a:chExt cx="4171950" cy="1666875"/>
          </a:xfrm>
        </p:grpSpPr>
        <p:sp>
          <p:nvSpPr>
            <p:cNvPr id="8" name="object 8"/>
            <p:cNvSpPr/>
            <p:nvPr/>
          </p:nvSpPr>
          <p:spPr>
            <a:xfrm>
              <a:off x="438149" y="2381249"/>
              <a:ext cx="4171950" cy="1666875"/>
            </a:xfrm>
            <a:custGeom>
              <a:avLst/>
              <a:gdLst/>
              <a:ahLst/>
              <a:cxnLst/>
              <a:rect l="l" t="t" r="r" b="b"/>
              <a:pathLst>
                <a:path w="4171950" h="1666875">
                  <a:moveTo>
                    <a:pt x="4095750" y="1666875"/>
                  </a:moveTo>
                  <a:lnTo>
                    <a:pt x="76200" y="1666875"/>
                  </a:lnTo>
                  <a:lnTo>
                    <a:pt x="68693" y="1666512"/>
                  </a:lnTo>
                  <a:lnTo>
                    <a:pt x="27882" y="1649607"/>
                  </a:lnTo>
                  <a:lnTo>
                    <a:pt x="3262" y="1612761"/>
                  </a:lnTo>
                  <a:lnTo>
                    <a:pt x="0" y="1590675"/>
                  </a:lnTo>
                  <a:lnTo>
                    <a:pt x="0" y="76200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4095750" y="0"/>
                  </a:lnTo>
                  <a:lnTo>
                    <a:pt x="4138092" y="12830"/>
                  </a:lnTo>
                  <a:lnTo>
                    <a:pt x="4166149" y="47039"/>
                  </a:lnTo>
                  <a:lnTo>
                    <a:pt x="4171950" y="76200"/>
                  </a:lnTo>
                  <a:lnTo>
                    <a:pt x="4171950" y="1590675"/>
                  </a:lnTo>
                  <a:lnTo>
                    <a:pt x="4159119" y="1633017"/>
                  </a:lnTo>
                  <a:lnTo>
                    <a:pt x="4124910" y="1661074"/>
                  </a:lnTo>
                  <a:lnTo>
                    <a:pt x="4095750" y="1666875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38149" y="2381250"/>
              <a:ext cx="4171950" cy="1666875"/>
            </a:xfrm>
            <a:custGeom>
              <a:avLst/>
              <a:gdLst/>
              <a:ahLst/>
              <a:cxnLst/>
              <a:rect l="l" t="t" r="r" b="b"/>
              <a:pathLst>
                <a:path w="4171950" h="1666875">
                  <a:moveTo>
                    <a:pt x="4095749" y="1666874"/>
                  </a:moveTo>
                  <a:lnTo>
                    <a:pt x="76199" y="1666874"/>
                  </a:lnTo>
                  <a:lnTo>
                    <a:pt x="68693" y="1666512"/>
                  </a:lnTo>
                  <a:lnTo>
                    <a:pt x="27882" y="1649607"/>
                  </a:lnTo>
                  <a:lnTo>
                    <a:pt x="3262" y="1612761"/>
                  </a:lnTo>
                  <a:lnTo>
                    <a:pt x="0" y="159067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4095749" y="0"/>
                  </a:lnTo>
                  <a:lnTo>
                    <a:pt x="413257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595053"/>
                  </a:lnTo>
                  <a:lnTo>
                    <a:pt x="9833" y="1598181"/>
                  </a:lnTo>
                  <a:lnTo>
                    <a:pt x="9952" y="1599388"/>
                  </a:lnTo>
                  <a:lnTo>
                    <a:pt x="25957" y="1634725"/>
                  </a:lnTo>
                  <a:lnTo>
                    <a:pt x="58898" y="1655214"/>
                  </a:lnTo>
                  <a:lnTo>
                    <a:pt x="71822" y="1657349"/>
                  </a:lnTo>
                  <a:lnTo>
                    <a:pt x="4132569" y="1657349"/>
                  </a:lnTo>
                  <a:lnTo>
                    <a:pt x="4131706" y="1657866"/>
                  </a:lnTo>
                  <a:lnTo>
                    <a:pt x="4124910" y="1661073"/>
                  </a:lnTo>
                  <a:lnTo>
                    <a:pt x="4117836" y="1663611"/>
                  </a:lnTo>
                  <a:lnTo>
                    <a:pt x="4110618" y="1665424"/>
                  </a:lnTo>
                  <a:lnTo>
                    <a:pt x="4103256" y="1666512"/>
                  </a:lnTo>
                  <a:lnTo>
                    <a:pt x="4095749" y="1666874"/>
                  </a:lnTo>
                  <a:close/>
                </a:path>
                <a:path w="4171950" h="1666875">
                  <a:moveTo>
                    <a:pt x="4132569" y="1657349"/>
                  </a:moveTo>
                  <a:lnTo>
                    <a:pt x="4100128" y="1657349"/>
                  </a:lnTo>
                  <a:lnTo>
                    <a:pt x="4104465" y="1656922"/>
                  </a:lnTo>
                  <a:lnTo>
                    <a:pt x="4113052" y="1655214"/>
                  </a:lnTo>
                  <a:lnTo>
                    <a:pt x="4145992" y="1634725"/>
                  </a:lnTo>
                  <a:lnTo>
                    <a:pt x="4161997" y="1599388"/>
                  </a:lnTo>
                  <a:lnTo>
                    <a:pt x="4162424" y="1595053"/>
                  </a:lnTo>
                  <a:lnTo>
                    <a:pt x="4162424" y="71822"/>
                  </a:lnTo>
                  <a:lnTo>
                    <a:pt x="4162116" y="68693"/>
                  </a:lnTo>
                  <a:lnTo>
                    <a:pt x="4161997" y="67486"/>
                  </a:lnTo>
                  <a:lnTo>
                    <a:pt x="4145992" y="32149"/>
                  </a:lnTo>
                  <a:lnTo>
                    <a:pt x="4113051" y="11660"/>
                  </a:lnTo>
                  <a:lnTo>
                    <a:pt x="4100128" y="9525"/>
                  </a:lnTo>
                  <a:lnTo>
                    <a:pt x="4132570" y="9525"/>
                  </a:lnTo>
                  <a:lnTo>
                    <a:pt x="4162941" y="40242"/>
                  </a:lnTo>
                  <a:lnTo>
                    <a:pt x="4171949" y="76199"/>
                  </a:lnTo>
                  <a:lnTo>
                    <a:pt x="4171949" y="1590674"/>
                  </a:lnTo>
                  <a:lnTo>
                    <a:pt x="4159119" y="1633017"/>
                  </a:lnTo>
                  <a:lnTo>
                    <a:pt x="4138219" y="1653949"/>
                  </a:lnTo>
                  <a:lnTo>
                    <a:pt x="4132569" y="165734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63562" y="2501900"/>
              <a:ext cx="111125" cy="158750"/>
            </a:xfrm>
            <a:custGeom>
              <a:avLst/>
              <a:gdLst/>
              <a:ahLst/>
              <a:cxnLst/>
              <a:rect l="l" t="t" r="r" b="b"/>
              <a:pathLst>
                <a:path w="111125" h="158750">
                  <a:moveTo>
                    <a:pt x="15875" y="0"/>
                  </a:moveTo>
                  <a:lnTo>
                    <a:pt x="95250" y="0"/>
                  </a:lnTo>
                  <a:lnTo>
                    <a:pt x="97355" y="0"/>
                  </a:lnTo>
                  <a:lnTo>
                    <a:pt x="99380" y="402"/>
                  </a:lnTo>
                  <a:lnTo>
                    <a:pt x="101325" y="1208"/>
                  </a:lnTo>
                  <a:lnTo>
                    <a:pt x="103270" y="2014"/>
                  </a:lnTo>
                  <a:lnTo>
                    <a:pt x="104986" y="3161"/>
                  </a:lnTo>
                  <a:lnTo>
                    <a:pt x="106475" y="4649"/>
                  </a:lnTo>
                  <a:lnTo>
                    <a:pt x="107963" y="6138"/>
                  </a:lnTo>
                  <a:lnTo>
                    <a:pt x="109110" y="7854"/>
                  </a:lnTo>
                  <a:lnTo>
                    <a:pt x="109916" y="9799"/>
                  </a:lnTo>
                  <a:lnTo>
                    <a:pt x="110722" y="11744"/>
                  </a:lnTo>
                  <a:lnTo>
                    <a:pt x="111124" y="13769"/>
                  </a:lnTo>
                  <a:lnTo>
                    <a:pt x="111125" y="15875"/>
                  </a:lnTo>
                  <a:lnTo>
                    <a:pt x="111125" y="142875"/>
                  </a:lnTo>
                  <a:lnTo>
                    <a:pt x="111124" y="144980"/>
                  </a:lnTo>
                  <a:lnTo>
                    <a:pt x="110722" y="147005"/>
                  </a:lnTo>
                  <a:lnTo>
                    <a:pt x="109916" y="148950"/>
                  </a:lnTo>
                  <a:lnTo>
                    <a:pt x="109110" y="150895"/>
                  </a:lnTo>
                  <a:lnTo>
                    <a:pt x="101325" y="157541"/>
                  </a:lnTo>
                  <a:lnTo>
                    <a:pt x="99380" y="158347"/>
                  </a:lnTo>
                  <a:lnTo>
                    <a:pt x="97355" y="158749"/>
                  </a:lnTo>
                  <a:lnTo>
                    <a:pt x="95250" y="158750"/>
                  </a:lnTo>
                  <a:lnTo>
                    <a:pt x="15875" y="158750"/>
                  </a:lnTo>
                  <a:lnTo>
                    <a:pt x="1208" y="148950"/>
                  </a:lnTo>
                  <a:lnTo>
                    <a:pt x="402" y="147005"/>
                  </a:lnTo>
                  <a:lnTo>
                    <a:pt x="0" y="144980"/>
                  </a:lnTo>
                  <a:lnTo>
                    <a:pt x="0" y="142875"/>
                  </a:lnTo>
                  <a:lnTo>
                    <a:pt x="0" y="15875"/>
                  </a:lnTo>
                  <a:lnTo>
                    <a:pt x="0" y="13769"/>
                  </a:lnTo>
                  <a:lnTo>
                    <a:pt x="402" y="11744"/>
                  </a:lnTo>
                  <a:lnTo>
                    <a:pt x="1208" y="9799"/>
                  </a:lnTo>
                  <a:lnTo>
                    <a:pt x="2014" y="7854"/>
                  </a:lnTo>
                  <a:lnTo>
                    <a:pt x="3161" y="6138"/>
                  </a:lnTo>
                  <a:lnTo>
                    <a:pt x="4649" y="4649"/>
                  </a:lnTo>
                  <a:lnTo>
                    <a:pt x="6138" y="3161"/>
                  </a:lnTo>
                  <a:lnTo>
                    <a:pt x="7854" y="2014"/>
                  </a:lnTo>
                  <a:lnTo>
                    <a:pt x="9799" y="1208"/>
                  </a:lnTo>
                  <a:lnTo>
                    <a:pt x="11744" y="402"/>
                  </a:lnTo>
                  <a:lnTo>
                    <a:pt x="13769" y="0"/>
                  </a:lnTo>
                  <a:lnTo>
                    <a:pt x="15875" y="0"/>
                  </a:lnTo>
                  <a:close/>
                </a:path>
                <a:path w="111125" h="158750">
                  <a:moveTo>
                    <a:pt x="55562" y="127000"/>
                  </a:moveTo>
                  <a:lnTo>
                    <a:pt x="55641" y="127000"/>
                  </a:lnTo>
                </a:path>
              </a:pathLst>
            </a:custGeom>
            <a:ln w="15875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1175" y="2376857"/>
            <a:ext cx="1603375" cy="108140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710"/>
              </a:spcBef>
            </a:pPr>
            <a:r>
              <a:rPr sz="135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React</a:t>
            </a:r>
            <a:r>
              <a:rPr sz="135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PWA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dirty="0">
                <a:solidFill>
                  <a:srgbClr val="D8B4FE"/>
                </a:solidFill>
                <a:latin typeface="Times New Roman"/>
                <a:cs typeface="Times New Roman"/>
              </a:rPr>
              <a:t>Next.js 14 | </a:t>
            </a:r>
            <a:r>
              <a:rPr sz="900" spc="-10" dirty="0">
                <a:solidFill>
                  <a:srgbClr val="D8B4FE"/>
                </a:solidFill>
                <a:latin typeface="Times New Roman"/>
                <a:cs typeface="Times New Roman"/>
              </a:rPr>
              <a:t>TypeScript</a:t>
            </a:r>
            <a:endParaRPr sz="9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695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Artisan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 dashboard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25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1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dirty="0">
                <a:solidFill>
                  <a:srgbClr val="FFFFFF"/>
                </a:solidFill>
                <a:latin typeface="Times New Roman"/>
                <a:cs typeface="Times New Roman"/>
              </a:rPr>
              <a:t>Offline</a:t>
            </a:r>
            <a:r>
              <a:rPr sz="95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24399" y="2381249"/>
            <a:ext cx="4171950" cy="1666875"/>
            <a:chOff x="4724399" y="2381249"/>
            <a:chExt cx="4171950" cy="1666875"/>
          </a:xfrm>
        </p:grpSpPr>
        <p:sp>
          <p:nvSpPr>
            <p:cNvPr id="13" name="object 13"/>
            <p:cNvSpPr/>
            <p:nvPr/>
          </p:nvSpPr>
          <p:spPr>
            <a:xfrm>
              <a:off x="4724399" y="2381249"/>
              <a:ext cx="4171950" cy="1666875"/>
            </a:xfrm>
            <a:custGeom>
              <a:avLst/>
              <a:gdLst/>
              <a:ahLst/>
              <a:cxnLst/>
              <a:rect l="l" t="t" r="r" b="b"/>
              <a:pathLst>
                <a:path w="4171950" h="1666875">
                  <a:moveTo>
                    <a:pt x="4095750" y="1666875"/>
                  </a:moveTo>
                  <a:lnTo>
                    <a:pt x="76200" y="1666875"/>
                  </a:lnTo>
                  <a:lnTo>
                    <a:pt x="68693" y="1666512"/>
                  </a:lnTo>
                  <a:lnTo>
                    <a:pt x="27882" y="1649607"/>
                  </a:lnTo>
                  <a:lnTo>
                    <a:pt x="3262" y="1612761"/>
                  </a:lnTo>
                  <a:lnTo>
                    <a:pt x="0" y="1590675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4095750" y="0"/>
                  </a:lnTo>
                  <a:lnTo>
                    <a:pt x="4138092" y="12830"/>
                  </a:lnTo>
                  <a:lnTo>
                    <a:pt x="4166149" y="47039"/>
                  </a:lnTo>
                  <a:lnTo>
                    <a:pt x="4171950" y="76200"/>
                  </a:lnTo>
                  <a:lnTo>
                    <a:pt x="4171950" y="1590675"/>
                  </a:lnTo>
                  <a:lnTo>
                    <a:pt x="4159119" y="1633017"/>
                  </a:lnTo>
                  <a:lnTo>
                    <a:pt x="4124910" y="1661074"/>
                  </a:lnTo>
                  <a:lnTo>
                    <a:pt x="4095750" y="1666875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724399" y="2381250"/>
              <a:ext cx="4171950" cy="1666875"/>
            </a:xfrm>
            <a:custGeom>
              <a:avLst/>
              <a:gdLst/>
              <a:ahLst/>
              <a:cxnLst/>
              <a:rect l="l" t="t" r="r" b="b"/>
              <a:pathLst>
                <a:path w="4171950" h="1666875">
                  <a:moveTo>
                    <a:pt x="4095749" y="1666874"/>
                  </a:moveTo>
                  <a:lnTo>
                    <a:pt x="76199" y="1666874"/>
                  </a:lnTo>
                  <a:lnTo>
                    <a:pt x="68693" y="1666512"/>
                  </a:lnTo>
                  <a:lnTo>
                    <a:pt x="27882" y="1649607"/>
                  </a:lnTo>
                  <a:lnTo>
                    <a:pt x="3262" y="1612761"/>
                  </a:lnTo>
                  <a:lnTo>
                    <a:pt x="0" y="76199"/>
                  </a:lnTo>
                  <a:lnTo>
                    <a:pt x="362" y="68693"/>
                  </a:lnTo>
                  <a:lnTo>
                    <a:pt x="17266" y="27882"/>
                  </a:lnTo>
                  <a:lnTo>
                    <a:pt x="54112" y="3262"/>
                  </a:lnTo>
                  <a:lnTo>
                    <a:pt x="76199" y="0"/>
                  </a:lnTo>
                  <a:lnTo>
                    <a:pt x="4095749" y="0"/>
                  </a:lnTo>
                  <a:lnTo>
                    <a:pt x="413257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595053"/>
                  </a:lnTo>
                  <a:lnTo>
                    <a:pt x="9833" y="1598181"/>
                  </a:lnTo>
                  <a:lnTo>
                    <a:pt x="9952" y="1599388"/>
                  </a:lnTo>
                  <a:lnTo>
                    <a:pt x="25958" y="1634725"/>
                  </a:lnTo>
                  <a:lnTo>
                    <a:pt x="58898" y="1655214"/>
                  </a:lnTo>
                  <a:lnTo>
                    <a:pt x="71822" y="1657349"/>
                  </a:lnTo>
                  <a:lnTo>
                    <a:pt x="4132569" y="1657349"/>
                  </a:lnTo>
                  <a:lnTo>
                    <a:pt x="4131706" y="1657866"/>
                  </a:lnTo>
                  <a:lnTo>
                    <a:pt x="4124910" y="1661073"/>
                  </a:lnTo>
                  <a:lnTo>
                    <a:pt x="4117836" y="1663611"/>
                  </a:lnTo>
                  <a:lnTo>
                    <a:pt x="4110618" y="1665424"/>
                  </a:lnTo>
                  <a:lnTo>
                    <a:pt x="4103256" y="1666512"/>
                  </a:lnTo>
                  <a:lnTo>
                    <a:pt x="4095749" y="1666874"/>
                  </a:lnTo>
                  <a:close/>
                </a:path>
                <a:path w="4171950" h="1666875">
                  <a:moveTo>
                    <a:pt x="4132569" y="1657349"/>
                  </a:moveTo>
                  <a:lnTo>
                    <a:pt x="4100127" y="1657349"/>
                  </a:lnTo>
                  <a:lnTo>
                    <a:pt x="4104464" y="1656922"/>
                  </a:lnTo>
                  <a:lnTo>
                    <a:pt x="4113051" y="1655214"/>
                  </a:lnTo>
                  <a:lnTo>
                    <a:pt x="4145991" y="1634725"/>
                  </a:lnTo>
                  <a:lnTo>
                    <a:pt x="4161997" y="1599388"/>
                  </a:lnTo>
                  <a:lnTo>
                    <a:pt x="4162424" y="1595053"/>
                  </a:lnTo>
                  <a:lnTo>
                    <a:pt x="4162424" y="71822"/>
                  </a:lnTo>
                  <a:lnTo>
                    <a:pt x="4148755" y="35517"/>
                  </a:lnTo>
                  <a:lnTo>
                    <a:pt x="4116907" y="12830"/>
                  </a:lnTo>
                  <a:lnTo>
                    <a:pt x="4100127" y="9525"/>
                  </a:lnTo>
                  <a:lnTo>
                    <a:pt x="4132570" y="9525"/>
                  </a:lnTo>
                  <a:lnTo>
                    <a:pt x="4162941" y="40242"/>
                  </a:lnTo>
                  <a:lnTo>
                    <a:pt x="4171949" y="76199"/>
                  </a:lnTo>
                  <a:lnTo>
                    <a:pt x="4171949" y="1590674"/>
                  </a:lnTo>
                  <a:lnTo>
                    <a:pt x="4159119" y="1633017"/>
                  </a:lnTo>
                  <a:lnTo>
                    <a:pt x="4138219" y="1653949"/>
                  </a:lnTo>
                  <a:lnTo>
                    <a:pt x="4132569" y="165734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8062" y="2493962"/>
              <a:ext cx="174625" cy="17462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797425" y="2376857"/>
            <a:ext cx="1568450" cy="108140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710"/>
              </a:spcBef>
            </a:pPr>
            <a:r>
              <a:rPr sz="135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Buyer</a:t>
            </a:r>
            <a:r>
              <a:rPr sz="135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Web</a:t>
            </a:r>
            <a:r>
              <a:rPr sz="13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Portal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dirty="0">
                <a:solidFill>
                  <a:srgbClr val="D8B4FE"/>
                </a:solidFill>
                <a:latin typeface="Times New Roman"/>
                <a:cs typeface="Times New Roman"/>
              </a:rPr>
              <a:t>React | </a:t>
            </a:r>
            <a:r>
              <a:rPr sz="900" spc="-10" dirty="0">
                <a:solidFill>
                  <a:srgbClr val="D8B4FE"/>
                </a:solidFill>
                <a:latin typeface="Times New Roman"/>
                <a:cs typeface="Times New Roman"/>
              </a:rPr>
              <a:t>Redux</a:t>
            </a:r>
            <a:endParaRPr sz="9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695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 discovery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35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negotiation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25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1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tracking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258300" y="1866900"/>
            <a:ext cx="8724900" cy="2314575"/>
            <a:chOff x="9258300" y="1866900"/>
            <a:chExt cx="8724900" cy="2314575"/>
          </a:xfrm>
        </p:grpSpPr>
        <p:sp>
          <p:nvSpPr>
            <p:cNvPr id="18" name="object 18"/>
            <p:cNvSpPr/>
            <p:nvPr/>
          </p:nvSpPr>
          <p:spPr>
            <a:xfrm>
              <a:off x="9267825" y="1876425"/>
              <a:ext cx="8705850" cy="2295525"/>
            </a:xfrm>
            <a:custGeom>
              <a:avLst/>
              <a:gdLst/>
              <a:ahLst/>
              <a:cxnLst/>
              <a:rect l="l" t="t" r="r" b="b"/>
              <a:pathLst>
                <a:path w="8705850" h="2295525">
                  <a:moveTo>
                    <a:pt x="8643552" y="2295524"/>
                  </a:moveTo>
                  <a:lnTo>
                    <a:pt x="62297" y="2295524"/>
                  </a:lnTo>
                  <a:lnTo>
                    <a:pt x="57961" y="2295097"/>
                  </a:lnTo>
                  <a:lnTo>
                    <a:pt x="22622" y="2279091"/>
                  </a:lnTo>
                  <a:lnTo>
                    <a:pt x="2134" y="2246151"/>
                  </a:lnTo>
                  <a:lnTo>
                    <a:pt x="0" y="2233228"/>
                  </a:lnTo>
                  <a:lnTo>
                    <a:pt x="0" y="2228850"/>
                  </a:lnTo>
                  <a:lnTo>
                    <a:pt x="0" y="62296"/>
                  </a:lnTo>
                  <a:lnTo>
                    <a:pt x="13667" y="25992"/>
                  </a:lnTo>
                  <a:lnTo>
                    <a:pt x="45202" y="3399"/>
                  </a:lnTo>
                  <a:lnTo>
                    <a:pt x="62297" y="0"/>
                  </a:lnTo>
                  <a:lnTo>
                    <a:pt x="8643552" y="0"/>
                  </a:lnTo>
                  <a:lnTo>
                    <a:pt x="8679856" y="13668"/>
                  </a:lnTo>
                  <a:lnTo>
                    <a:pt x="8702447" y="45203"/>
                  </a:lnTo>
                  <a:lnTo>
                    <a:pt x="8705849" y="62296"/>
                  </a:lnTo>
                  <a:lnTo>
                    <a:pt x="8705849" y="2233228"/>
                  </a:lnTo>
                  <a:lnTo>
                    <a:pt x="8692178" y="2269532"/>
                  </a:lnTo>
                  <a:lnTo>
                    <a:pt x="8660643" y="2292124"/>
                  </a:lnTo>
                  <a:lnTo>
                    <a:pt x="8647887" y="2295097"/>
                  </a:lnTo>
                  <a:lnTo>
                    <a:pt x="8643552" y="2295524"/>
                  </a:lnTo>
                  <a:close/>
                </a:path>
              </a:pathLst>
            </a:custGeom>
            <a:solidFill>
              <a:srgbClr val="8B5CF5">
                <a:alpha val="82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9267825" y="1876425"/>
              <a:ext cx="8705850" cy="2295525"/>
            </a:xfrm>
            <a:custGeom>
              <a:avLst/>
              <a:gdLst/>
              <a:ahLst/>
              <a:cxnLst/>
              <a:rect l="l" t="t" r="r" b="b"/>
              <a:pathLst>
                <a:path w="8705850" h="2295525">
                  <a:moveTo>
                    <a:pt x="0" y="2228850"/>
                  </a:moveTo>
                  <a:lnTo>
                    <a:pt x="0" y="66675"/>
                  </a:lnTo>
                  <a:lnTo>
                    <a:pt x="0" y="62296"/>
                  </a:lnTo>
                  <a:lnTo>
                    <a:pt x="426" y="57961"/>
                  </a:lnTo>
                  <a:lnTo>
                    <a:pt x="1281" y="53667"/>
                  </a:lnTo>
                  <a:lnTo>
                    <a:pt x="2134" y="49373"/>
                  </a:lnTo>
                  <a:lnTo>
                    <a:pt x="3400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2"/>
                  </a:lnTo>
                  <a:lnTo>
                    <a:pt x="13667" y="25992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2" y="16432"/>
                  </a:lnTo>
                  <a:lnTo>
                    <a:pt x="25990" y="13668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8639175" y="0"/>
                  </a:lnTo>
                  <a:lnTo>
                    <a:pt x="8643552" y="0"/>
                  </a:lnTo>
                  <a:lnTo>
                    <a:pt x="8647887" y="427"/>
                  </a:lnTo>
                  <a:lnTo>
                    <a:pt x="8676215" y="11236"/>
                  </a:lnTo>
                  <a:lnTo>
                    <a:pt x="8679856" y="13668"/>
                  </a:lnTo>
                  <a:lnTo>
                    <a:pt x="8702447" y="45203"/>
                  </a:lnTo>
                  <a:lnTo>
                    <a:pt x="8705850" y="66675"/>
                  </a:lnTo>
                  <a:lnTo>
                    <a:pt x="8705850" y="2228850"/>
                  </a:lnTo>
                  <a:lnTo>
                    <a:pt x="8694611" y="2265892"/>
                  </a:lnTo>
                  <a:lnTo>
                    <a:pt x="8676215" y="2284287"/>
                  </a:lnTo>
                  <a:lnTo>
                    <a:pt x="8672575" y="2286719"/>
                  </a:lnTo>
                  <a:lnTo>
                    <a:pt x="8668733" y="2288773"/>
                  </a:lnTo>
                  <a:lnTo>
                    <a:pt x="8664688" y="2290448"/>
                  </a:lnTo>
                  <a:lnTo>
                    <a:pt x="8660643" y="2292124"/>
                  </a:lnTo>
                  <a:lnTo>
                    <a:pt x="8639175" y="2295525"/>
                  </a:lnTo>
                  <a:lnTo>
                    <a:pt x="66675" y="2295525"/>
                  </a:lnTo>
                  <a:lnTo>
                    <a:pt x="62297" y="2295524"/>
                  </a:lnTo>
                  <a:lnTo>
                    <a:pt x="57961" y="2295097"/>
                  </a:lnTo>
                  <a:lnTo>
                    <a:pt x="53667" y="2294243"/>
                  </a:lnTo>
                  <a:lnTo>
                    <a:pt x="49372" y="2293389"/>
                  </a:lnTo>
                  <a:lnTo>
                    <a:pt x="45202" y="2292124"/>
                  </a:lnTo>
                  <a:lnTo>
                    <a:pt x="41158" y="2290448"/>
                  </a:lnTo>
                  <a:lnTo>
                    <a:pt x="37114" y="2288773"/>
                  </a:lnTo>
                  <a:lnTo>
                    <a:pt x="19528" y="2275995"/>
                  </a:lnTo>
                  <a:lnTo>
                    <a:pt x="16432" y="2272900"/>
                  </a:lnTo>
                  <a:lnTo>
                    <a:pt x="13667" y="2269532"/>
                  </a:lnTo>
                  <a:lnTo>
                    <a:pt x="11235" y="2265892"/>
                  </a:lnTo>
                  <a:lnTo>
                    <a:pt x="8803" y="2262252"/>
                  </a:lnTo>
                  <a:lnTo>
                    <a:pt x="1281" y="2241857"/>
                  </a:lnTo>
                  <a:lnTo>
                    <a:pt x="426" y="2237563"/>
                  </a:lnTo>
                  <a:lnTo>
                    <a:pt x="0" y="2233228"/>
                  </a:lnTo>
                  <a:lnTo>
                    <a:pt x="0" y="2228850"/>
                  </a:lnTo>
                  <a:close/>
                </a:path>
              </a:pathLst>
            </a:custGeom>
            <a:ln w="19050">
              <a:solidFill>
                <a:srgbClr val="8B5CF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378950" y="1957219"/>
            <a:ext cx="288480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b="1" spc="-114" dirty="0">
                <a:solidFill>
                  <a:srgbClr val="8B5CF5"/>
                </a:solidFill>
                <a:latin typeface="Times New Roman"/>
                <a:cs typeface="Times New Roman"/>
              </a:rPr>
              <a:t>API</a:t>
            </a:r>
            <a:r>
              <a:rPr sz="2000" b="1" spc="-85" dirty="0">
                <a:solidFill>
                  <a:srgbClr val="8B5CF5"/>
                </a:solidFill>
                <a:latin typeface="Times New Roman"/>
                <a:cs typeface="Times New Roman"/>
              </a:rPr>
              <a:t> </a:t>
            </a:r>
            <a:r>
              <a:rPr sz="1950" b="1" spc="-125" dirty="0">
                <a:solidFill>
                  <a:srgbClr val="8B5CF5"/>
                </a:solidFill>
                <a:latin typeface="Times New Roman"/>
                <a:cs typeface="Times New Roman"/>
              </a:rPr>
              <a:t>&amp;</a:t>
            </a:r>
            <a:r>
              <a:rPr sz="1950" b="1" spc="-75" dirty="0">
                <a:solidFill>
                  <a:srgbClr val="8B5CF5"/>
                </a:solidFill>
                <a:latin typeface="Times New Roman"/>
                <a:cs typeface="Times New Roman"/>
              </a:rPr>
              <a:t> </a:t>
            </a:r>
            <a:r>
              <a:rPr sz="2000" b="1" spc="-90" dirty="0">
                <a:solidFill>
                  <a:srgbClr val="8B5CF5"/>
                </a:solidFill>
                <a:latin typeface="Times New Roman"/>
                <a:cs typeface="Times New Roman"/>
              </a:rPr>
              <a:t>Orchestration</a:t>
            </a:r>
            <a:r>
              <a:rPr sz="2000" b="1" spc="-85" dirty="0">
                <a:solidFill>
                  <a:srgbClr val="8B5CF5"/>
                </a:solidFill>
                <a:latin typeface="Times New Roman"/>
                <a:cs typeface="Times New Roman"/>
              </a:rPr>
              <a:t> </a:t>
            </a:r>
            <a:r>
              <a:rPr sz="2000" b="1" spc="-70" dirty="0">
                <a:solidFill>
                  <a:srgbClr val="8B5CF5"/>
                </a:solidFill>
                <a:latin typeface="Times New Roman"/>
                <a:cs typeface="Times New Roman"/>
              </a:rPr>
              <a:t>Layer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91650" y="2381249"/>
            <a:ext cx="4171950" cy="1666875"/>
            <a:chOff x="9391650" y="2381249"/>
            <a:chExt cx="4171950" cy="1666875"/>
          </a:xfrm>
        </p:grpSpPr>
        <p:sp>
          <p:nvSpPr>
            <p:cNvPr id="22" name="object 22"/>
            <p:cNvSpPr/>
            <p:nvPr/>
          </p:nvSpPr>
          <p:spPr>
            <a:xfrm>
              <a:off x="9391650" y="2381249"/>
              <a:ext cx="4171950" cy="1666875"/>
            </a:xfrm>
            <a:custGeom>
              <a:avLst/>
              <a:gdLst/>
              <a:ahLst/>
              <a:cxnLst/>
              <a:rect l="l" t="t" r="r" b="b"/>
              <a:pathLst>
                <a:path w="4171950" h="1666875">
                  <a:moveTo>
                    <a:pt x="4095750" y="1666875"/>
                  </a:moveTo>
                  <a:lnTo>
                    <a:pt x="76200" y="1666875"/>
                  </a:lnTo>
                  <a:lnTo>
                    <a:pt x="68693" y="1666512"/>
                  </a:lnTo>
                  <a:lnTo>
                    <a:pt x="27881" y="1649607"/>
                  </a:lnTo>
                  <a:lnTo>
                    <a:pt x="3260" y="1612761"/>
                  </a:lnTo>
                  <a:lnTo>
                    <a:pt x="0" y="159067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7" y="5800"/>
                  </a:lnTo>
                  <a:lnTo>
                    <a:pt x="76200" y="0"/>
                  </a:lnTo>
                  <a:lnTo>
                    <a:pt x="4095750" y="0"/>
                  </a:lnTo>
                  <a:lnTo>
                    <a:pt x="4138091" y="12830"/>
                  </a:lnTo>
                  <a:lnTo>
                    <a:pt x="4166149" y="47039"/>
                  </a:lnTo>
                  <a:lnTo>
                    <a:pt x="4171950" y="76200"/>
                  </a:lnTo>
                  <a:lnTo>
                    <a:pt x="4171950" y="1590675"/>
                  </a:lnTo>
                  <a:lnTo>
                    <a:pt x="4159119" y="1633017"/>
                  </a:lnTo>
                  <a:lnTo>
                    <a:pt x="4124909" y="1661074"/>
                  </a:lnTo>
                  <a:lnTo>
                    <a:pt x="4095750" y="1666875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9391650" y="2381250"/>
              <a:ext cx="4171950" cy="1666875"/>
            </a:xfrm>
            <a:custGeom>
              <a:avLst/>
              <a:gdLst/>
              <a:ahLst/>
              <a:cxnLst/>
              <a:rect l="l" t="t" r="r" b="b"/>
              <a:pathLst>
                <a:path w="4171950" h="1666875">
                  <a:moveTo>
                    <a:pt x="4095749" y="1666874"/>
                  </a:moveTo>
                  <a:lnTo>
                    <a:pt x="76199" y="1666874"/>
                  </a:lnTo>
                  <a:lnTo>
                    <a:pt x="68693" y="1666512"/>
                  </a:lnTo>
                  <a:lnTo>
                    <a:pt x="27881" y="1649607"/>
                  </a:lnTo>
                  <a:lnTo>
                    <a:pt x="3260" y="1612761"/>
                  </a:lnTo>
                  <a:lnTo>
                    <a:pt x="0" y="159067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7" y="5800"/>
                  </a:lnTo>
                  <a:lnTo>
                    <a:pt x="76199" y="0"/>
                  </a:lnTo>
                  <a:lnTo>
                    <a:pt x="4095749" y="0"/>
                  </a:lnTo>
                  <a:lnTo>
                    <a:pt x="4132569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595053"/>
                  </a:lnTo>
                  <a:lnTo>
                    <a:pt x="9833" y="1598181"/>
                  </a:lnTo>
                  <a:lnTo>
                    <a:pt x="9952" y="1599388"/>
                  </a:lnTo>
                  <a:lnTo>
                    <a:pt x="25958" y="1634725"/>
                  </a:lnTo>
                  <a:lnTo>
                    <a:pt x="58898" y="1655214"/>
                  </a:lnTo>
                  <a:lnTo>
                    <a:pt x="71822" y="1657349"/>
                  </a:lnTo>
                  <a:lnTo>
                    <a:pt x="4132568" y="1657349"/>
                  </a:lnTo>
                  <a:lnTo>
                    <a:pt x="4131705" y="1657866"/>
                  </a:lnTo>
                  <a:lnTo>
                    <a:pt x="4124908" y="1661073"/>
                  </a:lnTo>
                  <a:lnTo>
                    <a:pt x="4117835" y="1663611"/>
                  </a:lnTo>
                  <a:lnTo>
                    <a:pt x="4110617" y="1665424"/>
                  </a:lnTo>
                  <a:lnTo>
                    <a:pt x="4103255" y="1666512"/>
                  </a:lnTo>
                  <a:lnTo>
                    <a:pt x="4095749" y="1666874"/>
                  </a:lnTo>
                  <a:close/>
                </a:path>
                <a:path w="4171950" h="1666875">
                  <a:moveTo>
                    <a:pt x="4132568" y="1657349"/>
                  </a:moveTo>
                  <a:lnTo>
                    <a:pt x="4100127" y="1657349"/>
                  </a:lnTo>
                  <a:lnTo>
                    <a:pt x="4104465" y="1656922"/>
                  </a:lnTo>
                  <a:lnTo>
                    <a:pt x="4113051" y="1655214"/>
                  </a:lnTo>
                  <a:lnTo>
                    <a:pt x="4145991" y="1634725"/>
                  </a:lnTo>
                  <a:lnTo>
                    <a:pt x="4161997" y="1599388"/>
                  </a:lnTo>
                  <a:lnTo>
                    <a:pt x="4162424" y="1595053"/>
                  </a:lnTo>
                  <a:lnTo>
                    <a:pt x="4162424" y="71822"/>
                  </a:lnTo>
                  <a:lnTo>
                    <a:pt x="4162116" y="68693"/>
                  </a:lnTo>
                  <a:lnTo>
                    <a:pt x="4161997" y="67486"/>
                  </a:lnTo>
                  <a:lnTo>
                    <a:pt x="4145991" y="32149"/>
                  </a:lnTo>
                  <a:lnTo>
                    <a:pt x="4113051" y="11660"/>
                  </a:lnTo>
                  <a:lnTo>
                    <a:pt x="4100127" y="9525"/>
                  </a:lnTo>
                  <a:lnTo>
                    <a:pt x="4132569" y="9525"/>
                  </a:lnTo>
                  <a:lnTo>
                    <a:pt x="4162941" y="40242"/>
                  </a:lnTo>
                  <a:lnTo>
                    <a:pt x="4171949" y="76199"/>
                  </a:lnTo>
                  <a:lnTo>
                    <a:pt x="4171949" y="1590674"/>
                  </a:lnTo>
                  <a:lnTo>
                    <a:pt x="4159118" y="1633017"/>
                  </a:lnTo>
                  <a:lnTo>
                    <a:pt x="4138218" y="1653949"/>
                  </a:lnTo>
                  <a:lnTo>
                    <a:pt x="4132568" y="165734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85312" y="2493962"/>
              <a:ext cx="174625" cy="1746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464675" y="2376857"/>
            <a:ext cx="2220595" cy="70040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710"/>
              </a:spcBef>
            </a:pPr>
            <a:r>
              <a:rPr sz="135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API</a:t>
            </a:r>
            <a:r>
              <a:rPr sz="135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Gateway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dirty="0">
                <a:solidFill>
                  <a:srgbClr val="D8B4FE"/>
                </a:solidFill>
                <a:latin typeface="Times New Roman"/>
                <a:cs typeface="Times New Roman"/>
              </a:rPr>
              <a:t>Kong | Rate </a:t>
            </a:r>
            <a:r>
              <a:rPr sz="900" spc="-10" dirty="0">
                <a:solidFill>
                  <a:srgbClr val="D8B4FE"/>
                </a:solidFill>
                <a:latin typeface="Times New Roman"/>
                <a:cs typeface="Times New Roman"/>
              </a:rPr>
              <a:t>Limiting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25" dirty="0">
                <a:solidFill>
                  <a:srgbClr val="FFFFFF"/>
                </a:solidFill>
                <a:latin typeface="Times New Roman"/>
                <a:cs typeface="Times New Roman"/>
              </a:rPr>
              <a:t>Central</a:t>
            </a:r>
            <a:r>
              <a:rPr sz="1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FFFFFF"/>
                </a:solidFill>
                <a:latin typeface="Times New Roman"/>
                <a:cs typeface="Times New Roman"/>
              </a:rPr>
              <a:t>entry </a:t>
            </a: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r>
              <a:rPr sz="950" spc="-2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9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sz="1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r>
              <a:rPr sz="950" spc="-2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9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auth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3677898" y="2381249"/>
            <a:ext cx="4171950" cy="1666875"/>
            <a:chOff x="13677898" y="2381249"/>
            <a:chExt cx="4171950" cy="1666875"/>
          </a:xfrm>
        </p:grpSpPr>
        <p:sp>
          <p:nvSpPr>
            <p:cNvPr id="27" name="object 27"/>
            <p:cNvSpPr/>
            <p:nvPr/>
          </p:nvSpPr>
          <p:spPr>
            <a:xfrm>
              <a:off x="13677899" y="2381249"/>
              <a:ext cx="4171950" cy="1666875"/>
            </a:xfrm>
            <a:custGeom>
              <a:avLst/>
              <a:gdLst/>
              <a:ahLst/>
              <a:cxnLst/>
              <a:rect l="l" t="t" r="r" b="b"/>
              <a:pathLst>
                <a:path w="4171950" h="1666875">
                  <a:moveTo>
                    <a:pt x="4095750" y="1666875"/>
                  </a:moveTo>
                  <a:lnTo>
                    <a:pt x="76200" y="1666875"/>
                  </a:lnTo>
                  <a:lnTo>
                    <a:pt x="68693" y="1666512"/>
                  </a:lnTo>
                  <a:lnTo>
                    <a:pt x="27881" y="1649607"/>
                  </a:lnTo>
                  <a:lnTo>
                    <a:pt x="3261" y="1612761"/>
                  </a:lnTo>
                  <a:lnTo>
                    <a:pt x="0" y="159067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4095750" y="0"/>
                  </a:lnTo>
                  <a:lnTo>
                    <a:pt x="4138091" y="12830"/>
                  </a:lnTo>
                  <a:lnTo>
                    <a:pt x="4166146" y="47039"/>
                  </a:lnTo>
                  <a:lnTo>
                    <a:pt x="4171950" y="76200"/>
                  </a:lnTo>
                  <a:lnTo>
                    <a:pt x="4171950" y="1590675"/>
                  </a:lnTo>
                  <a:lnTo>
                    <a:pt x="4159116" y="1633017"/>
                  </a:lnTo>
                  <a:lnTo>
                    <a:pt x="4124909" y="1661074"/>
                  </a:lnTo>
                  <a:lnTo>
                    <a:pt x="4095750" y="1666875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3677898" y="2381250"/>
              <a:ext cx="4171950" cy="1666875"/>
            </a:xfrm>
            <a:custGeom>
              <a:avLst/>
              <a:gdLst/>
              <a:ahLst/>
              <a:cxnLst/>
              <a:rect l="l" t="t" r="r" b="b"/>
              <a:pathLst>
                <a:path w="4171950" h="1666875">
                  <a:moveTo>
                    <a:pt x="4095749" y="1666874"/>
                  </a:moveTo>
                  <a:lnTo>
                    <a:pt x="76199" y="1666874"/>
                  </a:lnTo>
                  <a:lnTo>
                    <a:pt x="68693" y="1666512"/>
                  </a:lnTo>
                  <a:lnTo>
                    <a:pt x="27881" y="1649607"/>
                  </a:lnTo>
                  <a:lnTo>
                    <a:pt x="3261" y="1612761"/>
                  </a:lnTo>
                  <a:lnTo>
                    <a:pt x="0" y="159067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4095749" y="0"/>
                  </a:lnTo>
                  <a:lnTo>
                    <a:pt x="4132569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595053"/>
                  </a:lnTo>
                  <a:lnTo>
                    <a:pt x="9833" y="1598181"/>
                  </a:lnTo>
                  <a:lnTo>
                    <a:pt x="9952" y="1599388"/>
                  </a:lnTo>
                  <a:lnTo>
                    <a:pt x="25958" y="1634725"/>
                  </a:lnTo>
                  <a:lnTo>
                    <a:pt x="58898" y="1655214"/>
                  </a:lnTo>
                  <a:lnTo>
                    <a:pt x="71822" y="1657349"/>
                  </a:lnTo>
                  <a:lnTo>
                    <a:pt x="4132568" y="1657349"/>
                  </a:lnTo>
                  <a:lnTo>
                    <a:pt x="4131705" y="1657866"/>
                  </a:lnTo>
                  <a:lnTo>
                    <a:pt x="4124908" y="1661073"/>
                  </a:lnTo>
                  <a:lnTo>
                    <a:pt x="4117835" y="1663611"/>
                  </a:lnTo>
                  <a:lnTo>
                    <a:pt x="4110617" y="1665424"/>
                  </a:lnTo>
                  <a:lnTo>
                    <a:pt x="4103255" y="1666512"/>
                  </a:lnTo>
                  <a:lnTo>
                    <a:pt x="4095749" y="1666874"/>
                  </a:lnTo>
                  <a:close/>
                </a:path>
                <a:path w="4171950" h="1666875">
                  <a:moveTo>
                    <a:pt x="4132568" y="1657349"/>
                  </a:moveTo>
                  <a:lnTo>
                    <a:pt x="4100128" y="1657349"/>
                  </a:lnTo>
                  <a:lnTo>
                    <a:pt x="4104465" y="1656922"/>
                  </a:lnTo>
                  <a:lnTo>
                    <a:pt x="4113051" y="1655214"/>
                  </a:lnTo>
                  <a:lnTo>
                    <a:pt x="4145991" y="1634725"/>
                  </a:lnTo>
                  <a:lnTo>
                    <a:pt x="4161997" y="1599388"/>
                  </a:lnTo>
                  <a:lnTo>
                    <a:pt x="4162424" y="1595053"/>
                  </a:lnTo>
                  <a:lnTo>
                    <a:pt x="4162424" y="71822"/>
                  </a:lnTo>
                  <a:lnTo>
                    <a:pt x="4148755" y="35517"/>
                  </a:lnTo>
                  <a:lnTo>
                    <a:pt x="4116907" y="12830"/>
                  </a:lnTo>
                  <a:lnTo>
                    <a:pt x="4100128" y="9525"/>
                  </a:lnTo>
                  <a:lnTo>
                    <a:pt x="4132569" y="9525"/>
                  </a:lnTo>
                  <a:lnTo>
                    <a:pt x="4162938" y="40242"/>
                  </a:lnTo>
                  <a:lnTo>
                    <a:pt x="4171949" y="76199"/>
                  </a:lnTo>
                  <a:lnTo>
                    <a:pt x="4171949" y="1590674"/>
                  </a:lnTo>
                  <a:lnTo>
                    <a:pt x="4159116" y="1633017"/>
                  </a:lnTo>
                  <a:lnTo>
                    <a:pt x="4138218" y="1653949"/>
                  </a:lnTo>
                  <a:lnTo>
                    <a:pt x="4132568" y="165734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71562" y="2493387"/>
              <a:ext cx="174756" cy="17569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3750925" y="2376857"/>
            <a:ext cx="2083435" cy="1270861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710"/>
              </a:spcBef>
            </a:pPr>
            <a:r>
              <a:rPr sz="135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Backend</a:t>
            </a:r>
            <a:r>
              <a:rPr sz="13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Services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dirty="0">
                <a:solidFill>
                  <a:srgbClr val="D8B4FE"/>
                </a:solidFill>
                <a:latin typeface="Times New Roman"/>
                <a:cs typeface="Times New Roman"/>
              </a:rPr>
              <a:t>Python FastAPI | </a:t>
            </a:r>
            <a:r>
              <a:rPr sz="900" spc="-10" dirty="0">
                <a:solidFill>
                  <a:srgbClr val="D8B4FE"/>
                </a:solidFill>
                <a:latin typeface="Times New Roman"/>
                <a:cs typeface="Times New Roman"/>
              </a:rPr>
              <a:t>Microservices</a:t>
            </a:r>
            <a:endParaRPr sz="9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695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Payment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800" y="4333875"/>
            <a:ext cx="8724900" cy="2152650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425450" y="4424194"/>
            <a:ext cx="2574290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b="1" spc="-80" dirty="0">
                <a:solidFill>
                  <a:srgbClr val="0FB981"/>
                </a:solidFill>
                <a:latin typeface="Times New Roman"/>
                <a:cs typeface="Times New Roman"/>
              </a:rPr>
              <a:t>AI</a:t>
            </a:r>
            <a:r>
              <a:rPr sz="2000" b="1" spc="-114" dirty="0">
                <a:solidFill>
                  <a:srgbClr val="0FB981"/>
                </a:solidFill>
                <a:latin typeface="Times New Roman"/>
                <a:cs typeface="Times New Roman"/>
              </a:rPr>
              <a:t> </a:t>
            </a:r>
            <a:r>
              <a:rPr sz="1950" b="1" spc="-125" dirty="0">
                <a:solidFill>
                  <a:srgbClr val="0FB981"/>
                </a:solidFill>
                <a:latin typeface="Times New Roman"/>
                <a:cs typeface="Times New Roman"/>
              </a:rPr>
              <a:t>&amp;</a:t>
            </a:r>
            <a:r>
              <a:rPr sz="1950" b="1" spc="-100" dirty="0">
                <a:solidFill>
                  <a:srgbClr val="0FB981"/>
                </a:solidFill>
                <a:latin typeface="Times New Roman"/>
                <a:cs typeface="Times New Roman"/>
              </a:rPr>
              <a:t> </a:t>
            </a:r>
            <a:r>
              <a:rPr sz="2000" b="1" spc="-110" dirty="0">
                <a:solidFill>
                  <a:srgbClr val="0FB981"/>
                </a:solidFill>
                <a:latin typeface="Times New Roman"/>
                <a:cs typeface="Times New Roman"/>
              </a:rPr>
              <a:t>ML </a:t>
            </a:r>
            <a:r>
              <a:rPr sz="2000" b="1" spc="-75" dirty="0">
                <a:solidFill>
                  <a:srgbClr val="0FB981"/>
                </a:solidFill>
                <a:latin typeface="Times New Roman"/>
                <a:cs typeface="Times New Roman"/>
              </a:rPr>
              <a:t>Services</a:t>
            </a:r>
            <a:r>
              <a:rPr sz="2000" b="1" spc="-110" dirty="0">
                <a:solidFill>
                  <a:srgbClr val="0FB981"/>
                </a:solidFill>
                <a:latin typeface="Times New Roman"/>
                <a:cs typeface="Times New Roman"/>
              </a:rPr>
              <a:t> </a:t>
            </a:r>
            <a:r>
              <a:rPr sz="2000" b="1" spc="-70" dirty="0">
                <a:solidFill>
                  <a:srgbClr val="0FB981"/>
                </a:solidFill>
                <a:latin typeface="Times New Roman"/>
                <a:cs typeface="Times New Roman"/>
              </a:rPr>
              <a:t>Layer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1175" y="4843832"/>
            <a:ext cx="1662430" cy="9099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710"/>
              </a:spcBef>
            </a:pPr>
            <a:r>
              <a:rPr sz="135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GPT</a:t>
            </a:r>
            <a:r>
              <a:rPr sz="13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300" b="1" spc="7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13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Negotiation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dirty="0">
                <a:solidFill>
                  <a:srgbClr val="D8B4FE"/>
                </a:solidFill>
                <a:latin typeface="Times New Roman"/>
                <a:cs typeface="Times New Roman"/>
              </a:rPr>
              <a:t>OpenAI </a:t>
            </a:r>
            <a:r>
              <a:rPr sz="900" spc="-25" dirty="0">
                <a:solidFill>
                  <a:srgbClr val="D8B4FE"/>
                </a:solidFill>
                <a:latin typeface="Times New Roman"/>
                <a:cs typeface="Times New Roman"/>
              </a:rPr>
              <a:t>API</a:t>
            </a:r>
            <a:endParaRPr sz="9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695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Multilingual</a:t>
            </a:r>
            <a:r>
              <a:rPr sz="1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translation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Price</a:t>
            </a:r>
            <a:r>
              <a:rPr sz="1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recommendation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68675" y="4843832"/>
            <a:ext cx="1524635" cy="108140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710"/>
              </a:spcBef>
            </a:pPr>
            <a:r>
              <a:rPr sz="135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35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Vision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dirty="0">
                <a:solidFill>
                  <a:srgbClr val="D8B4FE"/>
                </a:solidFill>
                <a:latin typeface="Times New Roman"/>
                <a:cs typeface="Times New Roman"/>
              </a:rPr>
              <a:t>YOLOv8 | </a:t>
            </a:r>
            <a:r>
              <a:rPr sz="900" spc="-10" dirty="0">
                <a:solidFill>
                  <a:srgbClr val="D8B4FE"/>
                </a:solidFill>
                <a:latin typeface="Times New Roman"/>
                <a:cs typeface="Times New Roman"/>
              </a:rPr>
              <a:t>PyTorch</a:t>
            </a:r>
            <a:endParaRPr sz="9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695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1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grading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Defect</a:t>
            </a:r>
            <a:r>
              <a:rPr sz="1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Measurements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26175" y="4843832"/>
            <a:ext cx="1711960" cy="9099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710"/>
              </a:spcBef>
            </a:pPr>
            <a:r>
              <a:rPr sz="135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Logistics</a:t>
            </a:r>
            <a:r>
              <a:rPr sz="135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Optimizer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dirty="0">
                <a:solidFill>
                  <a:srgbClr val="D8B4FE"/>
                </a:solidFill>
                <a:latin typeface="Times New Roman"/>
                <a:cs typeface="Times New Roman"/>
              </a:rPr>
              <a:t>OR-Tools | </a:t>
            </a:r>
            <a:r>
              <a:rPr sz="900" spc="-10" dirty="0">
                <a:solidFill>
                  <a:srgbClr val="D8B4FE"/>
                </a:solidFill>
                <a:latin typeface="Times New Roman"/>
                <a:cs typeface="Times New Roman"/>
              </a:rPr>
              <a:t>Neo4j</a:t>
            </a:r>
            <a:endParaRPr sz="9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695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55" dirty="0">
                <a:solidFill>
                  <a:srgbClr val="FFFFFF"/>
                </a:solidFill>
                <a:latin typeface="Times New Roman"/>
                <a:cs typeface="Times New Roman"/>
              </a:rPr>
              <a:t>Route</a:t>
            </a:r>
            <a:r>
              <a:rPr sz="1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optimization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1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calculation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58300" y="4333875"/>
            <a:ext cx="8724900" cy="215265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9378950" y="4434712"/>
            <a:ext cx="121602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F59D0A"/>
                </a:solidFill>
                <a:latin typeface="Times New Roman"/>
                <a:cs typeface="Times New Roman"/>
              </a:rPr>
              <a:t>Data</a:t>
            </a:r>
            <a:r>
              <a:rPr sz="1950" b="1" spc="-110" dirty="0">
                <a:solidFill>
                  <a:srgbClr val="F59D0A"/>
                </a:solidFill>
                <a:latin typeface="Times New Roman"/>
                <a:cs typeface="Times New Roman"/>
              </a:rPr>
              <a:t> </a:t>
            </a:r>
            <a:r>
              <a:rPr sz="1950" b="1" spc="-60" dirty="0">
                <a:solidFill>
                  <a:srgbClr val="F59D0A"/>
                </a:solidFill>
                <a:latin typeface="Times New Roman"/>
                <a:cs typeface="Times New Roman"/>
              </a:rPr>
              <a:t>Layer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464675" y="4865089"/>
            <a:ext cx="2129155" cy="71818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540"/>
              </a:spcBef>
            </a:pPr>
            <a:r>
              <a:rPr sz="1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MongoDB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9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Purpose</a:t>
            </a:r>
            <a:r>
              <a:rPr sz="1050" spc="-2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0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Times New Roman"/>
                <a:cs typeface="Times New Roman"/>
              </a:rPr>
              <a:t>Primary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 database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05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0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sz="950" spc="-3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9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Times New Roman"/>
                <a:cs typeface="Times New Roman"/>
              </a:rPr>
              <a:t>Products</a:t>
            </a:r>
            <a:r>
              <a:rPr sz="950" spc="-3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9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Times New Roman"/>
                <a:cs typeface="Times New Roman"/>
              </a:rPr>
              <a:t>Orders</a:t>
            </a:r>
            <a:r>
              <a:rPr sz="950" spc="-3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9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Reports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464675" y="6088207"/>
            <a:ext cx="1234440" cy="14491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i="1" spc="-35" dirty="0">
                <a:solidFill>
                  <a:srgbClr val="D8B4FE"/>
                </a:solidFill>
                <a:latin typeface="Times New Roman"/>
                <a:cs typeface="Times New Roman"/>
              </a:rPr>
              <a:t>Sharded</a:t>
            </a:r>
            <a:r>
              <a:rPr sz="850" i="1" spc="-20" dirty="0">
                <a:solidFill>
                  <a:srgbClr val="D8B4FE"/>
                </a:solidFill>
                <a:latin typeface="Times New Roman"/>
                <a:cs typeface="Times New Roman"/>
              </a:rPr>
              <a:t> cluster </a:t>
            </a:r>
            <a:r>
              <a:rPr sz="850" i="1" dirty="0">
                <a:solidFill>
                  <a:srgbClr val="D8B4FE"/>
                </a:solidFill>
                <a:latin typeface="Times New Roman"/>
                <a:cs typeface="Times New Roman"/>
              </a:rPr>
              <a:t>for</a:t>
            </a:r>
            <a:r>
              <a:rPr sz="850" i="1" spc="-20" dirty="0">
                <a:solidFill>
                  <a:srgbClr val="D8B4FE"/>
                </a:solidFill>
                <a:latin typeface="Times New Roman"/>
                <a:cs typeface="Times New Roman"/>
              </a:rPr>
              <a:t> scaling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322175" y="4865089"/>
            <a:ext cx="1966595" cy="71818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540"/>
              </a:spcBef>
            </a:pPr>
            <a:r>
              <a:rPr sz="135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Neo</a:t>
            </a:r>
            <a:r>
              <a:rPr sz="13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135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sz="13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Graph</a:t>
            </a:r>
            <a:r>
              <a:rPr sz="13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9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Purpose</a:t>
            </a:r>
            <a:r>
              <a:rPr sz="1050" spc="-2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0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Times New Roman"/>
                <a:cs typeface="Times New Roman"/>
              </a:rPr>
              <a:t>Relationship</a:t>
            </a:r>
            <a:r>
              <a:rPr sz="1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mapping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05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0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Supply </a:t>
            </a:r>
            <a:r>
              <a:rPr sz="1000" spc="-30" dirty="0">
                <a:solidFill>
                  <a:srgbClr val="FFFFFF"/>
                </a:solidFill>
                <a:latin typeface="Times New Roman"/>
                <a:cs typeface="Times New Roman"/>
              </a:rPr>
              <a:t>chain</a:t>
            </a:r>
            <a:r>
              <a:rPr sz="950" spc="-3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9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Logistics</a:t>
            </a: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routes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322175" y="6088207"/>
            <a:ext cx="1045844" cy="14491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i="1" spc="-40" dirty="0">
                <a:solidFill>
                  <a:srgbClr val="D8B4FE"/>
                </a:solidFill>
                <a:latin typeface="Times New Roman"/>
                <a:cs typeface="Times New Roman"/>
              </a:rPr>
              <a:t>Graph</a:t>
            </a:r>
            <a:r>
              <a:rPr sz="850" i="1" spc="-10" dirty="0">
                <a:solidFill>
                  <a:srgbClr val="D8B4FE"/>
                </a:solidFill>
                <a:latin typeface="Times New Roman"/>
                <a:cs typeface="Times New Roman"/>
              </a:rPr>
              <a:t> </a:t>
            </a:r>
            <a:r>
              <a:rPr sz="850" i="1" spc="-25" dirty="0">
                <a:solidFill>
                  <a:srgbClr val="D8B4FE"/>
                </a:solidFill>
                <a:latin typeface="Times New Roman"/>
                <a:cs typeface="Times New Roman"/>
              </a:rPr>
              <a:t>queries</a:t>
            </a:r>
            <a:r>
              <a:rPr sz="850" i="1" spc="-10" dirty="0">
                <a:solidFill>
                  <a:srgbClr val="D8B4FE"/>
                </a:solidFill>
                <a:latin typeface="Times New Roman"/>
                <a:cs typeface="Times New Roman"/>
              </a:rPr>
              <a:t> </a:t>
            </a:r>
            <a:r>
              <a:rPr sz="850" i="1" spc="-45" dirty="0">
                <a:solidFill>
                  <a:srgbClr val="D8B4FE"/>
                </a:solidFill>
                <a:latin typeface="Times New Roman"/>
                <a:cs typeface="Times New Roman"/>
              </a:rPr>
              <a:t>&lt;100ms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179675" y="4865089"/>
            <a:ext cx="1947545" cy="71818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540"/>
              </a:spcBef>
            </a:pPr>
            <a:r>
              <a:rPr sz="135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Redis</a:t>
            </a:r>
            <a:r>
              <a:rPr sz="135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Cache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9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Purpose</a:t>
            </a:r>
            <a:r>
              <a:rPr sz="1050" spc="-20" dirty="0">
                <a:solidFill>
                  <a:srgbClr val="FFFFFF"/>
                </a:solidFill>
                <a:latin typeface="Times New Roman"/>
                <a:cs typeface="Times New Roman"/>
              </a:rPr>
              <a:t>: </a:t>
            </a:r>
            <a:r>
              <a:rPr sz="1000" spc="-25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sz="1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optimization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950" b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05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05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Times New Roman"/>
                <a:cs typeface="Times New Roman"/>
              </a:rPr>
              <a:t>Session</a:t>
            </a: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950" spc="-3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9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Times New Roman"/>
                <a:cs typeface="Times New Roman"/>
              </a:rPr>
              <a:t>API</a:t>
            </a:r>
            <a:r>
              <a:rPr sz="1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responses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179675" y="6088207"/>
            <a:ext cx="1104265" cy="14491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i="1" spc="-25" dirty="0">
                <a:solidFill>
                  <a:srgbClr val="D8B4FE"/>
                </a:solidFill>
                <a:latin typeface="Times New Roman"/>
                <a:cs typeface="Times New Roman"/>
              </a:rPr>
              <a:t>Sub-</a:t>
            </a:r>
            <a:r>
              <a:rPr sz="850" i="1" spc="-20" dirty="0">
                <a:solidFill>
                  <a:srgbClr val="D8B4FE"/>
                </a:solidFill>
                <a:latin typeface="Times New Roman"/>
                <a:cs typeface="Times New Roman"/>
              </a:rPr>
              <a:t>millisecond</a:t>
            </a:r>
            <a:r>
              <a:rPr sz="850" i="1" spc="30" dirty="0">
                <a:solidFill>
                  <a:srgbClr val="D8B4FE"/>
                </a:solidFill>
                <a:latin typeface="Times New Roman"/>
                <a:cs typeface="Times New Roman"/>
              </a:rPr>
              <a:t> </a:t>
            </a:r>
            <a:r>
              <a:rPr sz="850" i="1" spc="-25" dirty="0">
                <a:solidFill>
                  <a:srgbClr val="D8B4FE"/>
                </a:solidFill>
                <a:latin typeface="Times New Roman"/>
                <a:cs typeface="Times New Roman"/>
              </a:rPr>
              <a:t>latency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04800" y="6638925"/>
            <a:ext cx="8724900" cy="2371725"/>
            <a:chOff x="304800" y="6638925"/>
            <a:chExt cx="8724900" cy="2371725"/>
          </a:xfrm>
        </p:grpSpPr>
        <p:sp>
          <p:nvSpPr>
            <p:cNvPr id="45" name="object 45"/>
            <p:cNvSpPr/>
            <p:nvPr/>
          </p:nvSpPr>
          <p:spPr>
            <a:xfrm>
              <a:off x="314325" y="6648450"/>
              <a:ext cx="8705850" cy="2352675"/>
            </a:xfrm>
            <a:custGeom>
              <a:avLst/>
              <a:gdLst/>
              <a:ahLst/>
              <a:cxnLst/>
              <a:rect l="l" t="t" r="r" b="b"/>
              <a:pathLst>
                <a:path w="8705850" h="2352675">
                  <a:moveTo>
                    <a:pt x="8643552" y="2352674"/>
                  </a:moveTo>
                  <a:lnTo>
                    <a:pt x="62297" y="2352674"/>
                  </a:lnTo>
                  <a:lnTo>
                    <a:pt x="57961" y="2352247"/>
                  </a:lnTo>
                  <a:lnTo>
                    <a:pt x="22624" y="2336240"/>
                  </a:lnTo>
                  <a:lnTo>
                    <a:pt x="2135" y="2303300"/>
                  </a:lnTo>
                  <a:lnTo>
                    <a:pt x="0" y="2290377"/>
                  </a:lnTo>
                  <a:lnTo>
                    <a:pt x="0" y="2286000"/>
                  </a:lnTo>
                  <a:lnTo>
                    <a:pt x="0" y="62297"/>
                  </a:lnTo>
                  <a:lnTo>
                    <a:pt x="13669" y="25991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8643552" y="0"/>
                  </a:lnTo>
                  <a:lnTo>
                    <a:pt x="8679857" y="13669"/>
                  </a:lnTo>
                  <a:lnTo>
                    <a:pt x="8702449" y="45203"/>
                  </a:lnTo>
                  <a:lnTo>
                    <a:pt x="8705849" y="62297"/>
                  </a:lnTo>
                  <a:lnTo>
                    <a:pt x="8705849" y="2290377"/>
                  </a:lnTo>
                  <a:lnTo>
                    <a:pt x="8692179" y="2326681"/>
                  </a:lnTo>
                  <a:lnTo>
                    <a:pt x="8660644" y="2349274"/>
                  </a:lnTo>
                  <a:lnTo>
                    <a:pt x="8647888" y="2352247"/>
                  </a:lnTo>
                  <a:lnTo>
                    <a:pt x="8643552" y="2352674"/>
                  </a:lnTo>
                  <a:close/>
                </a:path>
              </a:pathLst>
            </a:custGeom>
            <a:solidFill>
              <a:srgbClr val="EC4899">
                <a:alpha val="82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314325" y="6648450"/>
              <a:ext cx="8705850" cy="2352675"/>
            </a:xfrm>
            <a:custGeom>
              <a:avLst/>
              <a:gdLst/>
              <a:ahLst/>
              <a:cxnLst/>
              <a:rect l="l" t="t" r="r" b="b"/>
              <a:pathLst>
                <a:path w="8705850" h="2352675">
                  <a:moveTo>
                    <a:pt x="0" y="2286000"/>
                  </a:moveTo>
                  <a:lnTo>
                    <a:pt x="0" y="66675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2"/>
                  </a:lnTo>
                  <a:lnTo>
                    <a:pt x="13669" y="25991"/>
                  </a:lnTo>
                  <a:lnTo>
                    <a:pt x="16433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9"/>
                  </a:lnTo>
                  <a:lnTo>
                    <a:pt x="29632" y="11236"/>
                  </a:lnTo>
                  <a:lnTo>
                    <a:pt x="33272" y="8803"/>
                  </a:lnTo>
                  <a:lnTo>
                    <a:pt x="53667" y="1281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8639175" y="0"/>
                  </a:lnTo>
                  <a:lnTo>
                    <a:pt x="8643552" y="0"/>
                  </a:lnTo>
                  <a:lnTo>
                    <a:pt x="8647888" y="426"/>
                  </a:lnTo>
                  <a:lnTo>
                    <a:pt x="8652182" y="1281"/>
                  </a:lnTo>
                  <a:lnTo>
                    <a:pt x="8656475" y="2134"/>
                  </a:lnTo>
                  <a:lnTo>
                    <a:pt x="8676216" y="11237"/>
                  </a:lnTo>
                  <a:lnTo>
                    <a:pt x="8679857" y="13669"/>
                  </a:lnTo>
                  <a:lnTo>
                    <a:pt x="8683225" y="16432"/>
                  </a:lnTo>
                  <a:lnTo>
                    <a:pt x="8686320" y="19528"/>
                  </a:lnTo>
                  <a:lnTo>
                    <a:pt x="8689416" y="22624"/>
                  </a:lnTo>
                  <a:lnTo>
                    <a:pt x="8692179" y="25991"/>
                  </a:lnTo>
                  <a:lnTo>
                    <a:pt x="8694611" y="29632"/>
                  </a:lnTo>
                  <a:lnTo>
                    <a:pt x="8697044" y="33271"/>
                  </a:lnTo>
                  <a:lnTo>
                    <a:pt x="8704567" y="53667"/>
                  </a:lnTo>
                  <a:lnTo>
                    <a:pt x="8705422" y="57960"/>
                  </a:lnTo>
                  <a:lnTo>
                    <a:pt x="8705849" y="62297"/>
                  </a:lnTo>
                  <a:lnTo>
                    <a:pt x="8705850" y="66675"/>
                  </a:lnTo>
                  <a:lnTo>
                    <a:pt x="8705850" y="2286000"/>
                  </a:lnTo>
                  <a:lnTo>
                    <a:pt x="8705849" y="2290377"/>
                  </a:lnTo>
                  <a:lnTo>
                    <a:pt x="8705422" y="2294713"/>
                  </a:lnTo>
                  <a:lnTo>
                    <a:pt x="8704567" y="2299007"/>
                  </a:lnTo>
                  <a:lnTo>
                    <a:pt x="8703714" y="2303300"/>
                  </a:lnTo>
                  <a:lnTo>
                    <a:pt x="8694611" y="2323041"/>
                  </a:lnTo>
                  <a:lnTo>
                    <a:pt x="8692179" y="2326681"/>
                  </a:lnTo>
                  <a:lnTo>
                    <a:pt x="8664689" y="2347598"/>
                  </a:lnTo>
                  <a:lnTo>
                    <a:pt x="8660644" y="2349274"/>
                  </a:lnTo>
                  <a:lnTo>
                    <a:pt x="8656475" y="2350539"/>
                  </a:lnTo>
                  <a:lnTo>
                    <a:pt x="8652182" y="2351392"/>
                  </a:lnTo>
                  <a:lnTo>
                    <a:pt x="8647888" y="2352247"/>
                  </a:lnTo>
                  <a:lnTo>
                    <a:pt x="8643552" y="2352674"/>
                  </a:lnTo>
                  <a:lnTo>
                    <a:pt x="8639175" y="2352675"/>
                  </a:lnTo>
                  <a:lnTo>
                    <a:pt x="66675" y="2352675"/>
                  </a:lnTo>
                  <a:lnTo>
                    <a:pt x="62297" y="2352674"/>
                  </a:lnTo>
                  <a:lnTo>
                    <a:pt x="57961" y="2352247"/>
                  </a:lnTo>
                  <a:lnTo>
                    <a:pt x="53667" y="2351392"/>
                  </a:lnTo>
                  <a:lnTo>
                    <a:pt x="49373" y="2350539"/>
                  </a:lnTo>
                  <a:lnTo>
                    <a:pt x="16433" y="2330049"/>
                  </a:lnTo>
                  <a:lnTo>
                    <a:pt x="427" y="2294713"/>
                  </a:lnTo>
                  <a:lnTo>
                    <a:pt x="0" y="2290377"/>
                  </a:lnTo>
                  <a:lnTo>
                    <a:pt x="0" y="2286000"/>
                  </a:lnTo>
                  <a:close/>
                </a:path>
              </a:pathLst>
            </a:custGeom>
            <a:ln w="19050">
              <a:solidFill>
                <a:srgbClr val="EC489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25450" y="6729244"/>
            <a:ext cx="246189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b="1" spc="-110" dirty="0">
                <a:solidFill>
                  <a:srgbClr val="EC4899"/>
                </a:solidFill>
                <a:latin typeface="Times New Roman"/>
                <a:cs typeface="Times New Roman"/>
              </a:rPr>
              <a:t>Blockchain</a:t>
            </a:r>
            <a:r>
              <a:rPr sz="2000" b="1" spc="-105" dirty="0">
                <a:solidFill>
                  <a:srgbClr val="EC4899"/>
                </a:solidFill>
                <a:latin typeface="Times New Roman"/>
                <a:cs typeface="Times New Roman"/>
              </a:rPr>
              <a:t> </a:t>
            </a:r>
            <a:r>
              <a:rPr sz="1950" b="1" spc="-125" dirty="0">
                <a:solidFill>
                  <a:srgbClr val="EC4899"/>
                </a:solidFill>
                <a:latin typeface="Times New Roman"/>
                <a:cs typeface="Times New Roman"/>
              </a:rPr>
              <a:t>&amp;</a:t>
            </a:r>
            <a:r>
              <a:rPr sz="1950" b="1" spc="-90" dirty="0">
                <a:solidFill>
                  <a:srgbClr val="EC4899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EC4899"/>
                </a:solidFill>
                <a:latin typeface="Times New Roman"/>
                <a:cs typeface="Times New Roman"/>
              </a:rPr>
              <a:t>Security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38149" y="7153275"/>
            <a:ext cx="4171950" cy="1724025"/>
            <a:chOff x="438149" y="7153275"/>
            <a:chExt cx="4171950" cy="1724025"/>
          </a:xfrm>
        </p:grpSpPr>
        <p:sp>
          <p:nvSpPr>
            <p:cNvPr id="49" name="object 49"/>
            <p:cNvSpPr/>
            <p:nvPr/>
          </p:nvSpPr>
          <p:spPr>
            <a:xfrm>
              <a:off x="438149" y="7153275"/>
              <a:ext cx="4171950" cy="1724025"/>
            </a:xfrm>
            <a:custGeom>
              <a:avLst/>
              <a:gdLst/>
              <a:ahLst/>
              <a:cxnLst/>
              <a:rect l="l" t="t" r="r" b="b"/>
              <a:pathLst>
                <a:path w="4171950" h="1724025">
                  <a:moveTo>
                    <a:pt x="4095750" y="1724025"/>
                  </a:moveTo>
                  <a:lnTo>
                    <a:pt x="76200" y="1724025"/>
                  </a:lnTo>
                  <a:lnTo>
                    <a:pt x="68693" y="1723662"/>
                  </a:lnTo>
                  <a:lnTo>
                    <a:pt x="27882" y="1706757"/>
                  </a:lnTo>
                  <a:lnTo>
                    <a:pt x="3262" y="1669910"/>
                  </a:lnTo>
                  <a:lnTo>
                    <a:pt x="0" y="1647825"/>
                  </a:lnTo>
                  <a:lnTo>
                    <a:pt x="0" y="76200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200" y="0"/>
                  </a:lnTo>
                  <a:lnTo>
                    <a:pt x="4095750" y="0"/>
                  </a:lnTo>
                  <a:lnTo>
                    <a:pt x="4138092" y="12829"/>
                  </a:lnTo>
                  <a:lnTo>
                    <a:pt x="4166149" y="47038"/>
                  </a:lnTo>
                  <a:lnTo>
                    <a:pt x="4171950" y="76200"/>
                  </a:lnTo>
                  <a:lnTo>
                    <a:pt x="4171950" y="1647825"/>
                  </a:lnTo>
                  <a:lnTo>
                    <a:pt x="4159119" y="1690166"/>
                  </a:lnTo>
                  <a:lnTo>
                    <a:pt x="4124910" y="1718224"/>
                  </a:lnTo>
                  <a:lnTo>
                    <a:pt x="4095750" y="1724025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438149" y="7153275"/>
              <a:ext cx="4171950" cy="1724025"/>
            </a:xfrm>
            <a:custGeom>
              <a:avLst/>
              <a:gdLst/>
              <a:ahLst/>
              <a:cxnLst/>
              <a:rect l="l" t="t" r="r" b="b"/>
              <a:pathLst>
                <a:path w="4171950" h="1724025">
                  <a:moveTo>
                    <a:pt x="4095749" y="1724024"/>
                  </a:moveTo>
                  <a:lnTo>
                    <a:pt x="76199" y="1724024"/>
                  </a:lnTo>
                  <a:lnTo>
                    <a:pt x="68693" y="1723662"/>
                  </a:lnTo>
                  <a:lnTo>
                    <a:pt x="27882" y="1706757"/>
                  </a:lnTo>
                  <a:lnTo>
                    <a:pt x="3262" y="1669910"/>
                  </a:lnTo>
                  <a:lnTo>
                    <a:pt x="0" y="164782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4095749" y="0"/>
                  </a:lnTo>
                  <a:lnTo>
                    <a:pt x="4132571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652203"/>
                  </a:lnTo>
                  <a:lnTo>
                    <a:pt x="9833" y="1655330"/>
                  </a:lnTo>
                  <a:lnTo>
                    <a:pt x="9952" y="1656538"/>
                  </a:lnTo>
                  <a:lnTo>
                    <a:pt x="25957" y="1691875"/>
                  </a:lnTo>
                  <a:lnTo>
                    <a:pt x="58898" y="1712364"/>
                  </a:lnTo>
                  <a:lnTo>
                    <a:pt x="71822" y="1714499"/>
                  </a:lnTo>
                  <a:lnTo>
                    <a:pt x="4132569" y="1714499"/>
                  </a:lnTo>
                  <a:lnTo>
                    <a:pt x="4131706" y="1715016"/>
                  </a:lnTo>
                  <a:lnTo>
                    <a:pt x="4124910" y="1718223"/>
                  </a:lnTo>
                  <a:lnTo>
                    <a:pt x="4117836" y="1720761"/>
                  </a:lnTo>
                  <a:lnTo>
                    <a:pt x="4110618" y="1722574"/>
                  </a:lnTo>
                  <a:lnTo>
                    <a:pt x="4103256" y="1723662"/>
                  </a:lnTo>
                  <a:lnTo>
                    <a:pt x="4095749" y="1724024"/>
                  </a:lnTo>
                  <a:close/>
                </a:path>
                <a:path w="4171950" h="1724025">
                  <a:moveTo>
                    <a:pt x="4132569" y="1714499"/>
                  </a:moveTo>
                  <a:lnTo>
                    <a:pt x="4100128" y="1714499"/>
                  </a:lnTo>
                  <a:lnTo>
                    <a:pt x="4104463" y="1714073"/>
                  </a:lnTo>
                  <a:lnTo>
                    <a:pt x="4113051" y="1712364"/>
                  </a:lnTo>
                  <a:lnTo>
                    <a:pt x="4145992" y="1691875"/>
                  </a:lnTo>
                  <a:lnTo>
                    <a:pt x="4161997" y="1656538"/>
                  </a:lnTo>
                  <a:lnTo>
                    <a:pt x="4162424" y="1652203"/>
                  </a:lnTo>
                  <a:lnTo>
                    <a:pt x="4162424" y="71822"/>
                  </a:lnTo>
                  <a:lnTo>
                    <a:pt x="4148755" y="35517"/>
                  </a:lnTo>
                  <a:lnTo>
                    <a:pt x="4116905" y="12829"/>
                  </a:lnTo>
                  <a:lnTo>
                    <a:pt x="4100128" y="9525"/>
                  </a:lnTo>
                  <a:lnTo>
                    <a:pt x="4132571" y="9525"/>
                  </a:lnTo>
                  <a:lnTo>
                    <a:pt x="4162941" y="40242"/>
                  </a:lnTo>
                  <a:lnTo>
                    <a:pt x="4171949" y="76199"/>
                  </a:lnTo>
                  <a:lnTo>
                    <a:pt x="4171949" y="1647824"/>
                  </a:lnTo>
                  <a:lnTo>
                    <a:pt x="4159119" y="1690165"/>
                  </a:lnTo>
                  <a:lnTo>
                    <a:pt x="4138218" y="1711100"/>
                  </a:lnTo>
                  <a:lnTo>
                    <a:pt x="4132569" y="171449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7687" y="7265987"/>
              <a:ext cx="142875" cy="174625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511175" y="7148883"/>
            <a:ext cx="1495425" cy="108140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710"/>
              </a:spcBef>
            </a:pPr>
            <a:r>
              <a:rPr sz="135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Smart</a:t>
            </a:r>
            <a:r>
              <a:rPr sz="13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Contracts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dirty="0">
                <a:solidFill>
                  <a:srgbClr val="D8B4FE"/>
                </a:solidFill>
                <a:latin typeface="Times New Roman"/>
                <a:cs typeface="Times New Roman"/>
              </a:rPr>
              <a:t>Solidity | </a:t>
            </a:r>
            <a:r>
              <a:rPr sz="900" spc="-10" dirty="0">
                <a:solidFill>
                  <a:srgbClr val="D8B4FE"/>
                </a:solidFill>
                <a:latin typeface="Times New Roman"/>
                <a:cs typeface="Times New Roman"/>
              </a:rPr>
              <a:t>Polygon</a:t>
            </a:r>
            <a:endParaRPr sz="9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695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35" dirty="0">
                <a:solidFill>
                  <a:srgbClr val="FFFFFF"/>
                </a:solidFill>
                <a:latin typeface="Times New Roman"/>
                <a:cs typeface="Times New Roman"/>
              </a:rPr>
              <a:t>Payment</a:t>
            </a:r>
            <a:r>
              <a:rPr sz="1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escrow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25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1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verification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Audit</a:t>
            </a:r>
            <a:r>
              <a:rPr sz="1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trail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1175" y="8612332"/>
            <a:ext cx="1831339" cy="14491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i="1" spc="-40" dirty="0">
                <a:solidFill>
                  <a:srgbClr val="F9A7D4"/>
                </a:solidFill>
                <a:latin typeface="Times New Roman"/>
                <a:cs typeface="Times New Roman"/>
              </a:rPr>
              <a:t>Why:</a:t>
            </a:r>
            <a:r>
              <a:rPr sz="850" i="1" spc="25" dirty="0">
                <a:solidFill>
                  <a:srgbClr val="F9A7D4"/>
                </a:solidFill>
                <a:latin typeface="Times New Roman"/>
                <a:cs typeface="Times New Roman"/>
              </a:rPr>
              <a:t> </a:t>
            </a:r>
            <a:r>
              <a:rPr sz="850" i="1" spc="-35" dirty="0">
                <a:solidFill>
                  <a:srgbClr val="F9A7D4"/>
                </a:solidFill>
                <a:latin typeface="Times New Roman"/>
                <a:cs typeface="Times New Roman"/>
              </a:rPr>
              <a:t>Immutable</a:t>
            </a:r>
            <a:r>
              <a:rPr sz="850" i="1" spc="-5" dirty="0">
                <a:solidFill>
                  <a:srgbClr val="F9A7D4"/>
                </a:solidFill>
                <a:latin typeface="Times New Roman"/>
                <a:cs typeface="Times New Roman"/>
              </a:rPr>
              <a:t> </a:t>
            </a:r>
            <a:r>
              <a:rPr sz="850" i="1" spc="-80" dirty="0">
                <a:solidFill>
                  <a:srgbClr val="F9A7D4"/>
                </a:solidFill>
                <a:latin typeface="Times New Roman"/>
                <a:cs typeface="Times New Roman"/>
              </a:rPr>
              <a:t>&amp;</a:t>
            </a:r>
            <a:r>
              <a:rPr sz="850" i="1" spc="25" dirty="0">
                <a:solidFill>
                  <a:srgbClr val="F9A7D4"/>
                </a:solidFill>
                <a:latin typeface="Times New Roman"/>
                <a:cs typeface="Times New Roman"/>
              </a:rPr>
              <a:t> </a:t>
            </a:r>
            <a:r>
              <a:rPr sz="850" i="1" spc="-20" dirty="0">
                <a:solidFill>
                  <a:srgbClr val="F9A7D4"/>
                </a:solidFill>
                <a:latin typeface="Times New Roman"/>
                <a:cs typeface="Times New Roman"/>
              </a:rPr>
              <a:t>trustless</a:t>
            </a:r>
            <a:r>
              <a:rPr sz="850" i="1" spc="-5" dirty="0">
                <a:solidFill>
                  <a:srgbClr val="F9A7D4"/>
                </a:solidFill>
                <a:latin typeface="Times New Roman"/>
                <a:cs typeface="Times New Roman"/>
              </a:rPr>
              <a:t> </a:t>
            </a:r>
            <a:r>
              <a:rPr sz="850" i="1" spc="-20" dirty="0">
                <a:solidFill>
                  <a:srgbClr val="F9A7D4"/>
                </a:solidFill>
                <a:latin typeface="Times New Roman"/>
                <a:cs typeface="Times New Roman"/>
              </a:rPr>
              <a:t>transactions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724399" y="7153275"/>
            <a:ext cx="4171950" cy="1724025"/>
            <a:chOff x="4724399" y="7153275"/>
            <a:chExt cx="4171950" cy="1724025"/>
          </a:xfrm>
        </p:grpSpPr>
        <p:sp>
          <p:nvSpPr>
            <p:cNvPr id="55" name="object 55"/>
            <p:cNvSpPr/>
            <p:nvPr/>
          </p:nvSpPr>
          <p:spPr>
            <a:xfrm>
              <a:off x="4724399" y="7153275"/>
              <a:ext cx="4171950" cy="1724025"/>
            </a:xfrm>
            <a:custGeom>
              <a:avLst/>
              <a:gdLst/>
              <a:ahLst/>
              <a:cxnLst/>
              <a:rect l="l" t="t" r="r" b="b"/>
              <a:pathLst>
                <a:path w="4171950" h="1724025">
                  <a:moveTo>
                    <a:pt x="4095750" y="1724025"/>
                  </a:moveTo>
                  <a:lnTo>
                    <a:pt x="76200" y="1724025"/>
                  </a:lnTo>
                  <a:lnTo>
                    <a:pt x="68693" y="1723662"/>
                  </a:lnTo>
                  <a:lnTo>
                    <a:pt x="27882" y="1706757"/>
                  </a:lnTo>
                  <a:lnTo>
                    <a:pt x="3262" y="1669910"/>
                  </a:lnTo>
                  <a:lnTo>
                    <a:pt x="0" y="1647825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200" y="0"/>
                  </a:lnTo>
                  <a:lnTo>
                    <a:pt x="4095750" y="0"/>
                  </a:lnTo>
                  <a:lnTo>
                    <a:pt x="4138092" y="12829"/>
                  </a:lnTo>
                  <a:lnTo>
                    <a:pt x="4166149" y="47038"/>
                  </a:lnTo>
                  <a:lnTo>
                    <a:pt x="4171950" y="76200"/>
                  </a:lnTo>
                  <a:lnTo>
                    <a:pt x="4171950" y="1647825"/>
                  </a:lnTo>
                  <a:lnTo>
                    <a:pt x="4159119" y="1690166"/>
                  </a:lnTo>
                  <a:lnTo>
                    <a:pt x="4124910" y="1718224"/>
                  </a:lnTo>
                  <a:lnTo>
                    <a:pt x="4095750" y="1724025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4724399" y="7153275"/>
              <a:ext cx="4171950" cy="1724025"/>
            </a:xfrm>
            <a:custGeom>
              <a:avLst/>
              <a:gdLst/>
              <a:ahLst/>
              <a:cxnLst/>
              <a:rect l="l" t="t" r="r" b="b"/>
              <a:pathLst>
                <a:path w="4171950" h="1724025">
                  <a:moveTo>
                    <a:pt x="4095749" y="1724024"/>
                  </a:moveTo>
                  <a:lnTo>
                    <a:pt x="76199" y="1724024"/>
                  </a:lnTo>
                  <a:lnTo>
                    <a:pt x="68693" y="1723662"/>
                  </a:lnTo>
                  <a:lnTo>
                    <a:pt x="27882" y="1706757"/>
                  </a:lnTo>
                  <a:lnTo>
                    <a:pt x="3262" y="1669910"/>
                  </a:lnTo>
                  <a:lnTo>
                    <a:pt x="0" y="76199"/>
                  </a:lnTo>
                  <a:lnTo>
                    <a:pt x="362" y="68693"/>
                  </a:lnTo>
                  <a:lnTo>
                    <a:pt x="17266" y="27882"/>
                  </a:lnTo>
                  <a:lnTo>
                    <a:pt x="54112" y="3262"/>
                  </a:lnTo>
                  <a:lnTo>
                    <a:pt x="76199" y="0"/>
                  </a:lnTo>
                  <a:lnTo>
                    <a:pt x="4095749" y="0"/>
                  </a:lnTo>
                  <a:lnTo>
                    <a:pt x="4132571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652203"/>
                  </a:lnTo>
                  <a:lnTo>
                    <a:pt x="9833" y="1655330"/>
                  </a:lnTo>
                  <a:lnTo>
                    <a:pt x="9952" y="1656538"/>
                  </a:lnTo>
                  <a:lnTo>
                    <a:pt x="25958" y="1691875"/>
                  </a:lnTo>
                  <a:lnTo>
                    <a:pt x="58898" y="1712364"/>
                  </a:lnTo>
                  <a:lnTo>
                    <a:pt x="71822" y="1714499"/>
                  </a:lnTo>
                  <a:lnTo>
                    <a:pt x="4132568" y="1714499"/>
                  </a:lnTo>
                  <a:lnTo>
                    <a:pt x="4131706" y="1715016"/>
                  </a:lnTo>
                  <a:lnTo>
                    <a:pt x="4124910" y="1718223"/>
                  </a:lnTo>
                  <a:lnTo>
                    <a:pt x="4117836" y="1720761"/>
                  </a:lnTo>
                  <a:lnTo>
                    <a:pt x="4110618" y="1722574"/>
                  </a:lnTo>
                  <a:lnTo>
                    <a:pt x="4103256" y="1723662"/>
                  </a:lnTo>
                  <a:lnTo>
                    <a:pt x="4095749" y="1724024"/>
                  </a:lnTo>
                  <a:close/>
                </a:path>
                <a:path w="4171950" h="1724025">
                  <a:moveTo>
                    <a:pt x="4132568" y="1714499"/>
                  </a:moveTo>
                  <a:lnTo>
                    <a:pt x="4100127" y="1714499"/>
                  </a:lnTo>
                  <a:lnTo>
                    <a:pt x="4104463" y="1714073"/>
                  </a:lnTo>
                  <a:lnTo>
                    <a:pt x="4113051" y="1712364"/>
                  </a:lnTo>
                  <a:lnTo>
                    <a:pt x="4145991" y="1691875"/>
                  </a:lnTo>
                  <a:lnTo>
                    <a:pt x="4161997" y="1656538"/>
                  </a:lnTo>
                  <a:lnTo>
                    <a:pt x="4162424" y="1652203"/>
                  </a:lnTo>
                  <a:lnTo>
                    <a:pt x="4162424" y="71822"/>
                  </a:lnTo>
                  <a:lnTo>
                    <a:pt x="4148755" y="35517"/>
                  </a:lnTo>
                  <a:lnTo>
                    <a:pt x="4116905" y="12829"/>
                  </a:lnTo>
                  <a:lnTo>
                    <a:pt x="4100127" y="9525"/>
                  </a:lnTo>
                  <a:lnTo>
                    <a:pt x="4132571" y="9525"/>
                  </a:lnTo>
                  <a:lnTo>
                    <a:pt x="4162941" y="40242"/>
                  </a:lnTo>
                  <a:lnTo>
                    <a:pt x="4171949" y="76199"/>
                  </a:lnTo>
                  <a:lnTo>
                    <a:pt x="4171949" y="1647824"/>
                  </a:lnTo>
                  <a:lnTo>
                    <a:pt x="4159119" y="1690165"/>
                  </a:lnTo>
                  <a:lnTo>
                    <a:pt x="4138218" y="1711100"/>
                  </a:lnTo>
                  <a:lnTo>
                    <a:pt x="4132568" y="171449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33937" y="7265984"/>
              <a:ext cx="142875" cy="174835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4797425" y="7148883"/>
            <a:ext cx="1594485" cy="108140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710"/>
              </a:spcBef>
            </a:pPr>
            <a:r>
              <a:rPr sz="13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r>
              <a:rPr sz="135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Services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dirty="0">
                <a:solidFill>
                  <a:srgbClr val="D8B4FE"/>
                </a:solidFill>
                <a:latin typeface="Times New Roman"/>
                <a:cs typeface="Times New Roman"/>
              </a:rPr>
              <a:t>JWT | OAuth </a:t>
            </a:r>
            <a:r>
              <a:rPr sz="900" spc="-25" dirty="0">
                <a:solidFill>
                  <a:srgbClr val="D8B4FE"/>
                </a:solidFill>
                <a:latin typeface="Times New Roman"/>
                <a:cs typeface="Times New Roman"/>
              </a:rPr>
              <a:t>2.0</a:t>
            </a:r>
            <a:endParaRPr sz="9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695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Authentication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Authorization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5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encryption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9258300" y="6638925"/>
            <a:ext cx="8724900" cy="2371725"/>
            <a:chOff x="9258300" y="6638925"/>
            <a:chExt cx="8724900" cy="2371725"/>
          </a:xfrm>
        </p:grpSpPr>
        <p:sp>
          <p:nvSpPr>
            <p:cNvPr id="60" name="object 60"/>
            <p:cNvSpPr/>
            <p:nvPr/>
          </p:nvSpPr>
          <p:spPr>
            <a:xfrm>
              <a:off x="9267825" y="6648450"/>
              <a:ext cx="8705850" cy="2352675"/>
            </a:xfrm>
            <a:custGeom>
              <a:avLst/>
              <a:gdLst/>
              <a:ahLst/>
              <a:cxnLst/>
              <a:rect l="l" t="t" r="r" b="b"/>
              <a:pathLst>
                <a:path w="8705850" h="2352675">
                  <a:moveTo>
                    <a:pt x="8643552" y="2352674"/>
                  </a:moveTo>
                  <a:lnTo>
                    <a:pt x="62297" y="2352674"/>
                  </a:lnTo>
                  <a:lnTo>
                    <a:pt x="57961" y="2352247"/>
                  </a:lnTo>
                  <a:lnTo>
                    <a:pt x="22622" y="2336240"/>
                  </a:lnTo>
                  <a:lnTo>
                    <a:pt x="2134" y="2303300"/>
                  </a:lnTo>
                  <a:lnTo>
                    <a:pt x="0" y="2290377"/>
                  </a:lnTo>
                  <a:lnTo>
                    <a:pt x="0" y="2286000"/>
                  </a:lnTo>
                  <a:lnTo>
                    <a:pt x="0" y="62297"/>
                  </a:lnTo>
                  <a:lnTo>
                    <a:pt x="13667" y="25991"/>
                  </a:lnTo>
                  <a:lnTo>
                    <a:pt x="45202" y="3399"/>
                  </a:lnTo>
                  <a:lnTo>
                    <a:pt x="62297" y="0"/>
                  </a:lnTo>
                  <a:lnTo>
                    <a:pt x="8643552" y="0"/>
                  </a:lnTo>
                  <a:lnTo>
                    <a:pt x="8679856" y="13669"/>
                  </a:lnTo>
                  <a:lnTo>
                    <a:pt x="8702447" y="45203"/>
                  </a:lnTo>
                  <a:lnTo>
                    <a:pt x="8705849" y="62297"/>
                  </a:lnTo>
                  <a:lnTo>
                    <a:pt x="8705849" y="2290377"/>
                  </a:lnTo>
                  <a:lnTo>
                    <a:pt x="8692178" y="2326681"/>
                  </a:lnTo>
                  <a:lnTo>
                    <a:pt x="8660643" y="2349274"/>
                  </a:lnTo>
                  <a:lnTo>
                    <a:pt x="8647887" y="2352247"/>
                  </a:lnTo>
                  <a:lnTo>
                    <a:pt x="8643552" y="2352674"/>
                  </a:lnTo>
                  <a:close/>
                </a:path>
              </a:pathLst>
            </a:custGeom>
            <a:solidFill>
              <a:srgbClr val="6266F1">
                <a:alpha val="82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9267825" y="6648450"/>
              <a:ext cx="8705850" cy="2352675"/>
            </a:xfrm>
            <a:custGeom>
              <a:avLst/>
              <a:gdLst/>
              <a:ahLst/>
              <a:cxnLst/>
              <a:rect l="l" t="t" r="r" b="b"/>
              <a:pathLst>
                <a:path w="8705850" h="2352675">
                  <a:moveTo>
                    <a:pt x="0" y="2286000"/>
                  </a:moveTo>
                  <a:lnTo>
                    <a:pt x="0" y="66675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1" y="53667"/>
                  </a:lnTo>
                  <a:lnTo>
                    <a:pt x="2134" y="49373"/>
                  </a:lnTo>
                  <a:lnTo>
                    <a:pt x="3400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2"/>
                  </a:lnTo>
                  <a:lnTo>
                    <a:pt x="13667" y="25991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2" y="16432"/>
                  </a:lnTo>
                  <a:lnTo>
                    <a:pt x="25990" y="13669"/>
                  </a:lnTo>
                  <a:lnTo>
                    <a:pt x="53667" y="1281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8639175" y="0"/>
                  </a:lnTo>
                  <a:lnTo>
                    <a:pt x="8643552" y="0"/>
                  </a:lnTo>
                  <a:lnTo>
                    <a:pt x="8647887" y="426"/>
                  </a:lnTo>
                  <a:lnTo>
                    <a:pt x="8652181" y="1281"/>
                  </a:lnTo>
                  <a:lnTo>
                    <a:pt x="8656475" y="2134"/>
                  </a:lnTo>
                  <a:lnTo>
                    <a:pt x="8676215" y="11237"/>
                  </a:lnTo>
                  <a:lnTo>
                    <a:pt x="8679856" y="13669"/>
                  </a:lnTo>
                  <a:lnTo>
                    <a:pt x="8700772" y="41159"/>
                  </a:lnTo>
                  <a:lnTo>
                    <a:pt x="8702447" y="45203"/>
                  </a:lnTo>
                  <a:lnTo>
                    <a:pt x="8705850" y="66675"/>
                  </a:lnTo>
                  <a:lnTo>
                    <a:pt x="8705850" y="2286000"/>
                  </a:lnTo>
                  <a:lnTo>
                    <a:pt x="8694611" y="2323041"/>
                  </a:lnTo>
                  <a:lnTo>
                    <a:pt x="8664688" y="2347598"/>
                  </a:lnTo>
                  <a:lnTo>
                    <a:pt x="8660643" y="2349274"/>
                  </a:lnTo>
                  <a:lnTo>
                    <a:pt x="8656475" y="2350539"/>
                  </a:lnTo>
                  <a:lnTo>
                    <a:pt x="8652181" y="2351392"/>
                  </a:lnTo>
                  <a:lnTo>
                    <a:pt x="8647887" y="2352247"/>
                  </a:lnTo>
                  <a:lnTo>
                    <a:pt x="8643552" y="2352674"/>
                  </a:lnTo>
                  <a:lnTo>
                    <a:pt x="8639175" y="2352675"/>
                  </a:lnTo>
                  <a:lnTo>
                    <a:pt x="66675" y="2352675"/>
                  </a:lnTo>
                  <a:lnTo>
                    <a:pt x="62297" y="2352674"/>
                  </a:lnTo>
                  <a:lnTo>
                    <a:pt x="57961" y="2352247"/>
                  </a:lnTo>
                  <a:lnTo>
                    <a:pt x="53667" y="2351392"/>
                  </a:lnTo>
                  <a:lnTo>
                    <a:pt x="49372" y="2350539"/>
                  </a:lnTo>
                  <a:lnTo>
                    <a:pt x="19528" y="2333145"/>
                  </a:lnTo>
                  <a:lnTo>
                    <a:pt x="16432" y="2330049"/>
                  </a:lnTo>
                  <a:lnTo>
                    <a:pt x="1281" y="2299007"/>
                  </a:lnTo>
                  <a:lnTo>
                    <a:pt x="426" y="2294713"/>
                  </a:lnTo>
                  <a:lnTo>
                    <a:pt x="0" y="2290377"/>
                  </a:lnTo>
                  <a:lnTo>
                    <a:pt x="0" y="2286000"/>
                  </a:lnTo>
                  <a:close/>
                </a:path>
              </a:pathLst>
            </a:custGeom>
            <a:ln w="19050">
              <a:solidFill>
                <a:srgbClr val="6266F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9378950" y="6737194"/>
            <a:ext cx="272161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-45" dirty="0">
                <a:solidFill>
                  <a:srgbClr val="6266F1"/>
                </a:solidFill>
                <a:latin typeface="Times New Roman"/>
                <a:cs typeface="Times New Roman"/>
              </a:rPr>
              <a:t>Infrastructure</a:t>
            </a:r>
            <a:r>
              <a:rPr sz="1950" b="1" spc="-60" dirty="0">
                <a:solidFill>
                  <a:srgbClr val="6266F1"/>
                </a:solidFill>
                <a:latin typeface="Times New Roman"/>
                <a:cs typeface="Times New Roman"/>
              </a:rPr>
              <a:t> </a:t>
            </a:r>
            <a:r>
              <a:rPr sz="1950" b="1" spc="-125" dirty="0">
                <a:solidFill>
                  <a:srgbClr val="6266F1"/>
                </a:solidFill>
                <a:latin typeface="Times New Roman"/>
                <a:cs typeface="Times New Roman"/>
              </a:rPr>
              <a:t>&amp;</a:t>
            </a:r>
            <a:r>
              <a:rPr sz="1950" b="1" spc="-55" dirty="0">
                <a:solidFill>
                  <a:srgbClr val="6266F1"/>
                </a:solidFill>
                <a:latin typeface="Times New Roman"/>
                <a:cs typeface="Times New Roman"/>
              </a:rPr>
              <a:t> </a:t>
            </a:r>
            <a:r>
              <a:rPr sz="1950" b="1" spc="-60" dirty="0">
                <a:solidFill>
                  <a:srgbClr val="6266F1"/>
                </a:solidFill>
                <a:latin typeface="Times New Roman"/>
                <a:cs typeface="Times New Roman"/>
              </a:rPr>
              <a:t>DevOps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9391650" y="7153275"/>
            <a:ext cx="4171950" cy="1724025"/>
            <a:chOff x="9391650" y="7153275"/>
            <a:chExt cx="4171950" cy="1724025"/>
          </a:xfrm>
        </p:grpSpPr>
        <p:sp>
          <p:nvSpPr>
            <p:cNvPr id="64" name="object 64"/>
            <p:cNvSpPr/>
            <p:nvPr/>
          </p:nvSpPr>
          <p:spPr>
            <a:xfrm>
              <a:off x="9391650" y="7153275"/>
              <a:ext cx="4171950" cy="1724025"/>
            </a:xfrm>
            <a:custGeom>
              <a:avLst/>
              <a:gdLst/>
              <a:ahLst/>
              <a:cxnLst/>
              <a:rect l="l" t="t" r="r" b="b"/>
              <a:pathLst>
                <a:path w="4171950" h="1724025">
                  <a:moveTo>
                    <a:pt x="4095750" y="1724025"/>
                  </a:moveTo>
                  <a:lnTo>
                    <a:pt x="76200" y="1724025"/>
                  </a:lnTo>
                  <a:lnTo>
                    <a:pt x="68693" y="1723662"/>
                  </a:lnTo>
                  <a:lnTo>
                    <a:pt x="27881" y="1706757"/>
                  </a:lnTo>
                  <a:lnTo>
                    <a:pt x="3260" y="1669910"/>
                  </a:lnTo>
                  <a:lnTo>
                    <a:pt x="0" y="16478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7" y="5799"/>
                  </a:lnTo>
                  <a:lnTo>
                    <a:pt x="76200" y="0"/>
                  </a:lnTo>
                  <a:lnTo>
                    <a:pt x="4095750" y="0"/>
                  </a:lnTo>
                  <a:lnTo>
                    <a:pt x="4138091" y="12829"/>
                  </a:lnTo>
                  <a:lnTo>
                    <a:pt x="4166149" y="47038"/>
                  </a:lnTo>
                  <a:lnTo>
                    <a:pt x="4171950" y="76200"/>
                  </a:lnTo>
                  <a:lnTo>
                    <a:pt x="4171950" y="1647825"/>
                  </a:lnTo>
                  <a:lnTo>
                    <a:pt x="4159119" y="1690166"/>
                  </a:lnTo>
                  <a:lnTo>
                    <a:pt x="4124909" y="1718224"/>
                  </a:lnTo>
                  <a:lnTo>
                    <a:pt x="4095750" y="1724025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9391650" y="7153275"/>
              <a:ext cx="4171950" cy="1724025"/>
            </a:xfrm>
            <a:custGeom>
              <a:avLst/>
              <a:gdLst/>
              <a:ahLst/>
              <a:cxnLst/>
              <a:rect l="l" t="t" r="r" b="b"/>
              <a:pathLst>
                <a:path w="4171950" h="1724025">
                  <a:moveTo>
                    <a:pt x="4095749" y="1724024"/>
                  </a:moveTo>
                  <a:lnTo>
                    <a:pt x="76199" y="1724024"/>
                  </a:lnTo>
                  <a:lnTo>
                    <a:pt x="68693" y="1723662"/>
                  </a:lnTo>
                  <a:lnTo>
                    <a:pt x="27881" y="1706757"/>
                  </a:lnTo>
                  <a:lnTo>
                    <a:pt x="3260" y="1669910"/>
                  </a:lnTo>
                  <a:lnTo>
                    <a:pt x="0" y="16478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7" y="5799"/>
                  </a:lnTo>
                  <a:lnTo>
                    <a:pt x="76199" y="0"/>
                  </a:lnTo>
                  <a:lnTo>
                    <a:pt x="4095749" y="0"/>
                  </a:lnTo>
                  <a:lnTo>
                    <a:pt x="413257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652203"/>
                  </a:lnTo>
                  <a:lnTo>
                    <a:pt x="9833" y="1655330"/>
                  </a:lnTo>
                  <a:lnTo>
                    <a:pt x="9952" y="1656538"/>
                  </a:lnTo>
                  <a:lnTo>
                    <a:pt x="25958" y="1691875"/>
                  </a:lnTo>
                  <a:lnTo>
                    <a:pt x="58898" y="1712364"/>
                  </a:lnTo>
                  <a:lnTo>
                    <a:pt x="71822" y="1714499"/>
                  </a:lnTo>
                  <a:lnTo>
                    <a:pt x="4132567" y="1714499"/>
                  </a:lnTo>
                  <a:lnTo>
                    <a:pt x="4131705" y="1715016"/>
                  </a:lnTo>
                  <a:lnTo>
                    <a:pt x="4124908" y="1718223"/>
                  </a:lnTo>
                  <a:lnTo>
                    <a:pt x="4117835" y="1720761"/>
                  </a:lnTo>
                  <a:lnTo>
                    <a:pt x="4110617" y="1722574"/>
                  </a:lnTo>
                  <a:lnTo>
                    <a:pt x="4103255" y="1723662"/>
                  </a:lnTo>
                  <a:lnTo>
                    <a:pt x="4095749" y="1724024"/>
                  </a:lnTo>
                  <a:close/>
                </a:path>
                <a:path w="4171950" h="1724025">
                  <a:moveTo>
                    <a:pt x="4132567" y="1714499"/>
                  </a:moveTo>
                  <a:lnTo>
                    <a:pt x="4100127" y="1714499"/>
                  </a:lnTo>
                  <a:lnTo>
                    <a:pt x="4104463" y="1714073"/>
                  </a:lnTo>
                  <a:lnTo>
                    <a:pt x="4113051" y="1712364"/>
                  </a:lnTo>
                  <a:lnTo>
                    <a:pt x="4145991" y="1691875"/>
                  </a:lnTo>
                  <a:lnTo>
                    <a:pt x="4161997" y="1656538"/>
                  </a:lnTo>
                  <a:lnTo>
                    <a:pt x="4162424" y="1652203"/>
                  </a:lnTo>
                  <a:lnTo>
                    <a:pt x="4162424" y="71822"/>
                  </a:lnTo>
                  <a:lnTo>
                    <a:pt x="4162116" y="68693"/>
                  </a:lnTo>
                  <a:lnTo>
                    <a:pt x="4161997" y="67486"/>
                  </a:lnTo>
                  <a:lnTo>
                    <a:pt x="4145991" y="32149"/>
                  </a:lnTo>
                  <a:lnTo>
                    <a:pt x="4113051" y="11660"/>
                  </a:lnTo>
                  <a:lnTo>
                    <a:pt x="4100127" y="9525"/>
                  </a:lnTo>
                  <a:lnTo>
                    <a:pt x="4132570" y="9525"/>
                  </a:lnTo>
                  <a:lnTo>
                    <a:pt x="4162941" y="40242"/>
                  </a:lnTo>
                  <a:lnTo>
                    <a:pt x="4171949" y="76199"/>
                  </a:lnTo>
                  <a:lnTo>
                    <a:pt x="4171949" y="1647824"/>
                  </a:lnTo>
                  <a:lnTo>
                    <a:pt x="4159118" y="1690165"/>
                  </a:lnTo>
                  <a:lnTo>
                    <a:pt x="4138217" y="1711100"/>
                  </a:lnTo>
                  <a:lnTo>
                    <a:pt x="4132567" y="171449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66" name="object 6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84920" y="7289448"/>
              <a:ext cx="175017" cy="127352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9464675" y="7148883"/>
            <a:ext cx="1779905" cy="108140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710"/>
              </a:spcBef>
            </a:pPr>
            <a:r>
              <a:rPr sz="135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Cloud</a:t>
            </a:r>
            <a:r>
              <a:rPr sz="13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Infrastructure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dirty="0">
                <a:solidFill>
                  <a:srgbClr val="D8B4FE"/>
                </a:solidFill>
                <a:latin typeface="Times New Roman"/>
                <a:cs typeface="Times New Roman"/>
              </a:rPr>
              <a:t>AWS | Docker | </a:t>
            </a:r>
            <a:r>
              <a:rPr sz="900" spc="-25" dirty="0">
                <a:solidFill>
                  <a:srgbClr val="D8B4FE"/>
                </a:solidFill>
                <a:latin typeface="Times New Roman"/>
                <a:cs typeface="Times New Roman"/>
              </a:rPr>
              <a:t>K8s</a:t>
            </a:r>
            <a:endParaRPr sz="9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695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dirty="0">
                <a:solidFill>
                  <a:srgbClr val="FFFFFF"/>
                </a:solidFill>
                <a:latin typeface="Times New Roman"/>
                <a:cs typeface="Times New Roman"/>
              </a:rPr>
              <a:t>Auto</a:t>
            </a:r>
            <a:r>
              <a:rPr sz="95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scaling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25" dirty="0">
                <a:solidFill>
                  <a:srgbClr val="FFFFFF"/>
                </a:solidFill>
                <a:latin typeface="Times New Roman"/>
                <a:cs typeface="Times New Roman"/>
              </a:rPr>
              <a:t>Load</a:t>
            </a:r>
            <a:r>
              <a:rPr sz="1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balancing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85" dirty="0">
                <a:solidFill>
                  <a:srgbClr val="FFFFFF"/>
                </a:solidFill>
                <a:latin typeface="Times New Roman"/>
                <a:cs typeface="Times New Roman"/>
              </a:rPr>
              <a:t>CI</a:t>
            </a:r>
            <a:r>
              <a:rPr sz="950" spc="-85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1000" spc="-85" dirty="0">
                <a:solidFill>
                  <a:srgbClr val="FFFFFF"/>
                </a:solidFill>
                <a:latin typeface="Times New Roman"/>
                <a:cs typeface="Times New Roman"/>
              </a:rPr>
              <a:t>CD</a:t>
            </a:r>
            <a:r>
              <a:rPr sz="1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pipeline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3677898" y="7153275"/>
            <a:ext cx="4171950" cy="1724025"/>
            <a:chOff x="13677898" y="7153275"/>
            <a:chExt cx="4171950" cy="1724025"/>
          </a:xfrm>
        </p:grpSpPr>
        <p:sp>
          <p:nvSpPr>
            <p:cNvPr id="69" name="object 69"/>
            <p:cNvSpPr/>
            <p:nvPr/>
          </p:nvSpPr>
          <p:spPr>
            <a:xfrm>
              <a:off x="13677899" y="7153275"/>
              <a:ext cx="4171950" cy="1724025"/>
            </a:xfrm>
            <a:custGeom>
              <a:avLst/>
              <a:gdLst/>
              <a:ahLst/>
              <a:cxnLst/>
              <a:rect l="l" t="t" r="r" b="b"/>
              <a:pathLst>
                <a:path w="4171950" h="1724025">
                  <a:moveTo>
                    <a:pt x="4095750" y="1724025"/>
                  </a:moveTo>
                  <a:lnTo>
                    <a:pt x="76200" y="1724025"/>
                  </a:lnTo>
                  <a:lnTo>
                    <a:pt x="68693" y="1723662"/>
                  </a:lnTo>
                  <a:lnTo>
                    <a:pt x="27881" y="1706757"/>
                  </a:lnTo>
                  <a:lnTo>
                    <a:pt x="3261" y="1669910"/>
                  </a:lnTo>
                  <a:lnTo>
                    <a:pt x="0" y="16478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9" y="5799"/>
                  </a:lnTo>
                  <a:lnTo>
                    <a:pt x="76200" y="0"/>
                  </a:lnTo>
                  <a:lnTo>
                    <a:pt x="4095750" y="0"/>
                  </a:lnTo>
                  <a:lnTo>
                    <a:pt x="4138091" y="12829"/>
                  </a:lnTo>
                  <a:lnTo>
                    <a:pt x="4166146" y="47038"/>
                  </a:lnTo>
                  <a:lnTo>
                    <a:pt x="4171950" y="76200"/>
                  </a:lnTo>
                  <a:lnTo>
                    <a:pt x="4171950" y="1647825"/>
                  </a:lnTo>
                  <a:lnTo>
                    <a:pt x="4159116" y="1690166"/>
                  </a:lnTo>
                  <a:lnTo>
                    <a:pt x="4124909" y="1718224"/>
                  </a:lnTo>
                  <a:lnTo>
                    <a:pt x="4095750" y="1724025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13677898" y="7153275"/>
              <a:ext cx="4171950" cy="1724025"/>
            </a:xfrm>
            <a:custGeom>
              <a:avLst/>
              <a:gdLst/>
              <a:ahLst/>
              <a:cxnLst/>
              <a:rect l="l" t="t" r="r" b="b"/>
              <a:pathLst>
                <a:path w="4171950" h="1724025">
                  <a:moveTo>
                    <a:pt x="4095749" y="1724024"/>
                  </a:moveTo>
                  <a:lnTo>
                    <a:pt x="76199" y="1724024"/>
                  </a:lnTo>
                  <a:lnTo>
                    <a:pt x="68693" y="1723662"/>
                  </a:lnTo>
                  <a:lnTo>
                    <a:pt x="27881" y="1706757"/>
                  </a:lnTo>
                  <a:lnTo>
                    <a:pt x="3261" y="1669910"/>
                  </a:lnTo>
                  <a:lnTo>
                    <a:pt x="0" y="16478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4095749" y="0"/>
                  </a:lnTo>
                  <a:lnTo>
                    <a:pt x="413257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652203"/>
                  </a:lnTo>
                  <a:lnTo>
                    <a:pt x="9833" y="1655330"/>
                  </a:lnTo>
                  <a:lnTo>
                    <a:pt x="9952" y="1656538"/>
                  </a:lnTo>
                  <a:lnTo>
                    <a:pt x="25958" y="1691875"/>
                  </a:lnTo>
                  <a:lnTo>
                    <a:pt x="58898" y="1712364"/>
                  </a:lnTo>
                  <a:lnTo>
                    <a:pt x="71822" y="1714499"/>
                  </a:lnTo>
                  <a:lnTo>
                    <a:pt x="4132567" y="1714499"/>
                  </a:lnTo>
                  <a:lnTo>
                    <a:pt x="4131705" y="1715016"/>
                  </a:lnTo>
                  <a:lnTo>
                    <a:pt x="4124908" y="1718223"/>
                  </a:lnTo>
                  <a:lnTo>
                    <a:pt x="4117835" y="1720761"/>
                  </a:lnTo>
                  <a:lnTo>
                    <a:pt x="4110617" y="1722574"/>
                  </a:lnTo>
                  <a:lnTo>
                    <a:pt x="4103255" y="1723662"/>
                  </a:lnTo>
                  <a:lnTo>
                    <a:pt x="4095749" y="1724024"/>
                  </a:lnTo>
                  <a:close/>
                </a:path>
                <a:path w="4171950" h="1724025">
                  <a:moveTo>
                    <a:pt x="4132567" y="1714499"/>
                  </a:moveTo>
                  <a:lnTo>
                    <a:pt x="4100128" y="1714499"/>
                  </a:lnTo>
                  <a:lnTo>
                    <a:pt x="4104463" y="1714073"/>
                  </a:lnTo>
                  <a:lnTo>
                    <a:pt x="4113051" y="1712364"/>
                  </a:lnTo>
                  <a:lnTo>
                    <a:pt x="4145991" y="1691875"/>
                  </a:lnTo>
                  <a:lnTo>
                    <a:pt x="4161997" y="1656538"/>
                  </a:lnTo>
                  <a:lnTo>
                    <a:pt x="4162424" y="1652203"/>
                  </a:lnTo>
                  <a:lnTo>
                    <a:pt x="4162424" y="71822"/>
                  </a:lnTo>
                  <a:lnTo>
                    <a:pt x="4148755" y="35517"/>
                  </a:lnTo>
                  <a:lnTo>
                    <a:pt x="4116905" y="12829"/>
                  </a:lnTo>
                  <a:lnTo>
                    <a:pt x="4100128" y="9525"/>
                  </a:lnTo>
                  <a:lnTo>
                    <a:pt x="4132570" y="9525"/>
                  </a:lnTo>
                  <a:lnTo>
                    <a:pt x="4162938" y="40242"/>
                  </a:lnTo>
                  <a:lnTo>
                    <a:pt x="4171949" y="76199"/>
                  </a:lnTo>
                  <a:lnTo>
                    <a:pt x="4171949" y="1647824"/>
                  </a:lnTo>
                  <a:lnTo>
                    <a:pt x="4159116" y="1690165"/>
                  </a:lnTo>
                  <a:lnTo>
                    <a:pt x="4138217" y="1711100"/>
                  </a:lnTo>
                  <a:lnTo>
                    <a:pt x="4132567" y="171449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71" name="object 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771966" y="7266471"/>
              <a:ext cx="173816" cy="173657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13750925" y="7110184"/>
            <a:ext cx="1820545" cy="940642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15"/>
              </a:spcBef>
            </a:pPr>
            <a:r>
              <a:rPr sz="135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External</a:t>
            </a:r>
            <a:r>
              <a:rPr sz="135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Integrations</a:t>
            </a:r>
            <a:endParaRPr sz="135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68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35" dirty="0">
                <a:solidFill>
                  <a:srgbClr val="FFFFFF"/>
                </a:solidFill>
                <a:latin typeface="Times New Roman"/>
                <a:cs typeface="Times New Roman"/>
              </a:rPr>
              <a:t>Payment</a:t>
            </a:r>
            <a:r>
              <a:rPr sz="1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gateways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Logistics</a:t>
            </a:r>
            <a:r>
              <a:rPr sz="1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Times New Roman"/>
                <a:cs typeface="Times New Roman"/>
              </a:rPr>
              <a:t>APIs</a:t>
            </a:r>
            <a:endParaRPr sz="1000">
              <a:latin typeface="Times New Roman"/>
              <a:cs typeface="Times New Roman"/>
            </a:endParaRPr>
          </a:p>
          <a:p>
            <a:pPr marL="107950" indent="-95250">
              <a:lnSpc>
                <a:spcPct val="100000"/>
              </a:lnSpc>
              <a:spcBef>
                <a:spcPts val="150"/>
              </a:spcBef>
              <a:buSzPct val="95000"/>
              <a:buFont typeface="Lucida Sans"/>
              <a:buChar char="•"/>
              <a:tabLst>
                <a:tab pos="107950" algn="l"/>
              </a:tabLst>
            </a:pPr>
            <a:r>
              <a:rPr sz="1000" spc="-70" dirty="0">
                <a:solidFill>
                  <a:srgbClr val="FFFFFF"/>
                </a:solidFill>
                <a:latin typeface="Times New Roman"/>
                <a:cs typeface="Times New Roman"/>
              </a:rPr>
              <a:t>SMS</a:t>
            </a:r>
            <a:r>
              <a:rPr sz="950" spc="-7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1000" spc="-70" dirty="0">
                <a:solidFill>
                  <a:srgbClr val="FFFFFF"/>
                </a:solidFill>
                <a:latin typeface="Times New Roman"/>
                <a:cs typeface="Times New Roman"/>
              </a:rPr>
              <a:t>Email</a:t>
            </a:r>
            <a:r>
              <a:rPr sz="1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services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04800" y="9163050"/>
            <a:ext cx="17678400" cy="476250"/>
            <a:chOff x="304800" y="9163050"/>
            <a:chExt cx="17678400" cy="476250"/>
          </a:xfrm>
        </p:grpSpPr>
        <p:sp>
          <p:nvSpPr>
            <p:cNvPr id="74" name="object 74"/>
            <p:cNvSpPr/>
            <p:nvPr/>
          </p:nvSpPr>
          <p:spPr>
            <a:xfrm>
              <a:off x="304800" y="9163050"/>
              <a:ext cx="17678400" cy="476250"/>
            </a:xfrm>
            <a:custGeom>
              <a:avLst/>
              <a:gdLst/>
              <a:ahLst/>
              <a:cxnLst/>
              <a:rect l="l" t="t" r="r" b="b"/>
              <a:pathLst>
                <a:path w="17678400" h="476250">
                  <a:moveTo>
                    <a:pt x="17602200" y="476250"/>
                  </a:moveTo>
                  <a:lnTo>
                    <a:pt x="76200" y="476250"/>
                  </a:lnTo>
                  <a:lnTo>
                    <a:pt x="68693" y="475887"/>
                  </a:lnTo>
                  <a:lnTo>
                    <a:pt x="27882" y="458982"/>
                  </a:lnTo>
                  <a:lnTo>
                    <a:pt x="3262" y="422135"/>
                  </a:lnTo>
                  <a:lnTo>
                    <a:pt x="0" y="400050"/>
                  </a:lnTo>
                  <a:lnTo>
                    <a:pt x="0" y="76200"/>
                  </a:lnTo>
                  <a:lnTo>
                    <a:pt x="12830" y="33856"/>
                  </a:lnTo>
                  <a:lnTo>
                    <a:pt x="47038" y="5800"/>
                  </a:lnTo>
                  <a:lnTo>
                    <a:pt x="76200" y="0"/>
                  </a:lnTo>
                  <a:lnTo>
                    <a:pt x="17602200" y="0"/>
                  </a:lnTo>
                  <a:lnTo>
                    <a:pt x="17644541" y="12829"/>
                  </a:lnTo>
                  <a:lnTo>
                    <a:pt x="17672596" y="47037"/>
                  </a:lnTo>
                  <a:lnTo>
                    <a:pt x="17678400" y="76200"/>
                  </a:lnTo>
                  <a:lnTo>
                    <a:pt x="17678400" y="400050"/>
                  </a:lnTo>
                  <a:lnTo>
                    <a:pt x="17665568" y="442391"/>
                  </a:lnTo>
                  <a:lnTo>
                    <a:pt x="17631359" y="470448"/>
                  </a:lnTo>
                  <a:lnTo>
                    <a:pt x="17602200" y="47625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304800" y="9163050"/>
              <a:ext cx="17678400" cy="476250"/>
            </a:xfrm>
            <a:custGeom>
              <a:avLst/>
              <a:gdLst/>
              <a:ahLst/>
              <a:cxnLst/>
              <a:rect l="l" t="t" r="r" b="b"/>
              <a:pathLst>
                <a:path w="17678400" h="476250">
                  <a:moveTo>
                    <a:pt x="17602199" y="476249"/>
                  </a:moveTo>
                  <a:lnTo>
                    <a:pt x="76199" y="476249"/>
                  </a:lnTo>
                  <a:lnTo>
                    <a:pt x="68693" y="475887"/>
                  </a:lnTo>
                  <a:lnTo>
                    <a:pt x="27882" y="458982"/>
                  </a:lnTo>
                  <a:lnTo>
                    <a:pt x="3262" y="422135"/>
                  </a:lnTo>
                  <a:lnTo>
                    <a:pt x="0" y="76199"/>
                  </a:lnTo>
                  <a:lnTo>
                    <a:pt x="362" y="68693"/>
                  </a:lnTo>
                  <a:lnTo>
                    <a:pt x="17266" y="27881"/>
                  </a:lnTo>
                  <a:lnTo>
                    <a:pt x="54112" y="3262"/>
                  </a:lnTo>
                  <a:lnTo>
                    <a:pt x="76199" y="0"/>
                  </a:lnTo>
                  <a:lnTo>
                    <a:pt x="17602199" y="0"/>
                  </a:lnTo>
                  <a:lnTo>
                    <a:pt x="176390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404428"/>
                  </a:lnTo>
                  <a:lnTo>
                    <a:pt x="9833" y="407556"/>
                  </a:lnTo>
                  <a:lnTo>
                    <a:pt x="9952" y="408763"/>
                  </a:lnTo>
                  <a:lnTo>
                    <a:pt x="25957" y="444100"/>
                  </a:lnTo>
                  <a:lnTo>
                    <a:pt x="58898" y="464589"/>
                  </a:lnTo>
                  <a:lnTo>
                    <a:pt x="71822" y="466725"/>
                  </a:lnTo>
                  <a:lnTo>
                    <a:pt x="17639016" y="466725"/>
                  </a:lnTo>
                  <a:lnTo>
                    <a:pt x="17638155" y="467240"/>
                  </a:lnTo>
                  <a:lnTo>
                    <a:pt x="17631358" y="470448"/>
                  </a:lnTo>
                  <a:lnTo>
                    <a:pt x="17624284" y="472986"/>
                  </a:lnTo>
                  <a:lnTo>
                    <a:pt x="17617067" y="474799"/>
                  </a:lnTo>
                  <a:lnTo>
                    <a:pt x="17609705" y="475887"/>
                  </a:lnTo>
                  <a:lnTo>
                    <a:pt x="17602199" y="476249"/>
                  </a:lnTo>
                  <a:close/>
                </a:path>
                <a:path w="17678400" h="476250">
                  <a:moveTo>
                    <a:pt x="17639016" y="466725"/>
                  </a:moveTo>
                  <a:lnTo>
                    <a:pt x="17606576" y="466725"/>
                  </a:lnTo>
                  <a:lnTo>
                    <a:pt x="17610913" y="466298"/>
                  </a:lnTo>
                  <a:lnTo>
                    <a:pt x="17619499" y="464589"/>
                  </a:lnTo>
                  <a:lnTo>
                    <a:pt x="17652439" y="444100"/>
                  </a:lnTo>
                  <a:lnTo>
                    <a:pt x="17668444" y="408763"/>
                  </a:lnTo>
                  <a:lnTo>
                    <a:pt x="17668873" y="404428"/>
                  </a:lnTo>
                  <a:lnTo>
                    <a:pt x="17668873" y="71822"/>
                  </a:lnTo>
                  <a:lnTo>
                    <a:pt x="17668564" y="68693"/>
                  </a:lnTo>
                  <a:lnTo>
                    <a:pt x="17668444" y="67486"/>
                  </a:lnTo>
                  <a:lnTo>
                    <a:pt x="17652439" y="32149"/>
                  </a:lnTo>
                  <a:lnTo>
                    <a:pt x="17619499" y="11660"/>
                  </a:lnTo>
                  <a:lnTo>
                    <a:pt x="17606576" y="9525"/>
                  </a:lnTo>
                  <a:lnTo>
                    <a:pt x="17639020" y="9525"/>
                  </a:lnTo>
                  <a:lnTo>
                    <a:pt x="17669389" y="40241"/>
                  </a:lnTo>
                  <a:lnTo>
                    <a:pt x="17678399" y="76199"/>
                  </a:lnTo>
                  <a:lnTo>
                    <a:pt x="17678399" y="400049"/>
                  </a:lnTo>
                  <a:lnTo>
                    <a:pt x="17665568" y="442391"/>
                  </a:lnTo>
                  <a:lnTo>
                    <a:pt x="17644667" y="463325"/>
                  </a:lnTo>
                  <a:lnTo>
                    <a:pt x="17639016" y="466725"/>
                  </a:lnTo>
                  <a:close/>
                </a:path>
              </a:pathLst>
            </a:custGeom>
            <a:solidFill>
              <a:srgbClr val="BF83FB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3114674" y="93726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32364" y="57149"/>
                  </a:moveTo>
                  <a:lnTo>
                    <a:pt x="24785" y="57149"/>
                  </a:lnTo>
                  <a:lnTo>
                    <a:pt x="21140" y="56423"/>
                  </a:lnTo>
                  <a:lnTo>
                    <a:pt x="0" y="32363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32364" y="0"/>
                  </a:lnTo>
                  <a:lnTo>
                    <a:pt x="57150" y="28575"/>
                  </a:lnTo>
                  <a:lnTo>
                    <a:pt x="57150" y="32363"/>
                  </a:lnTo>
                  <a:lnTo>
                    <a:pt x="32364" y="57149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3239194" y="9274883"/>
            <a:ext cx="2821940" cy="2199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20" dirty="0">
                <a:solidFill>
                  <a:srgbClr val="FFFFFF"/>
                </a:solidFill>
                <a:latin typeface="Times New Roman"/>
                <a:cs typeface="Times New Roman"/>
              </a:rPr>
              <a:t>Microservices</a:t>
            </a:r>
            <a:r>
              <a:rPr sz="13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3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Times New Roman"/>
                <a:cs typeface="Times New Roman"/>
              </a:rPr>
              <a:t>independent</a:t>
            </a:r>
            <a:r>
              <a:rPr sz="13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scaling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276975" y="9372600"/>
            <a:ext cx="6076950" cy="57150"/>
          </a:xfrm>
          <a:custGeom>
            <a:avLst/>
            <a:gdLst/>
            <a:ahLst/>
            <a:cxnLst/>
            <a:rect l="l" t="t" r="r" b="b"/>
            <a:pathLst>
              <a:path w="6076950" h="57150">
                <a:moveTo>
                  <a:pt x="57150" y="28575"/>
                </a:moveTo>
                <a:lnTo>
                  <a:pt x="32359" y="0"/>
                </a:lnTo>
                <a:lnTo>
                  <a:pt x="24777" y="0"/>
                </a:lnTo>
                <a:lnTo>
                  <a:pt x="0" y="24790"/>
                </a:lnTo>
                <a:lnTo>
                  <a:pt x="0" y="32372"/>
                </a:lnTo>
                <a:lnTo>
                  <a:pt x="24777" y="57150"/>
                </a:lnTo>
                <a:lnTo>
                  <a:pt x="32359" y="57150"/>
                </a:lnTo>
                <a:lnTo>
                  <a:pt x="57150" y="28575"/>
                </a:lnTo>
                <a:close/>
              </a:path>
              <a:path w="6076950" h="57150">
                <a:moveTo>
                  <a:pt x="3390900" y="28575"/>
                </a:moveTo>
                <a:lnTo>
                  <a:pt x="3366109" y="0"/>
                </a:lnTo>
                <a:lnTo>
                  <a:pt x="3358527" y="0"/>
                </a:lnTo>
                <a:lnTo>
                  <a:pt x="3333737" y="24790"/>
                </a:lnTo>
                <a:lnTo>
                  <a:pt x="3333737" y="32372"/>
                </a:lnTo>
                <a:lnTo>
                  <a:pt x="3358527" y="57150"/>
                </a:lnTo>
                <a:lnTo>
                  <a:pt x="3366109" y="57150"/>
                </a:lnTo>
                <a:lnTo>
                  <a:pt x="3390900" y="28575"/>
                </a:lnTo>
                <a:close/>
              </a:path>
              <a:path w="6076950" h="57150">
                <a:moveTo>
                  <a:pt x="6076950" y="28575"/>
                </a:moveTo>
                <a:lnTo>
                  <a:pt x="6052159" y="0"/>
                </a:lnTo>
                <a:lnTo>
                  <a:pt x="6044577" y="0"/>
                </a:lnTo>
                <a:lnTo>
                  <a:pt x="6019787" y="24790"/>
                </a:lnTo>
                <a:lnTo>
                  <a:pt x="6019787" y="32372"/>
                </a:lnTo>
                <a:lnTo>
                  <a:pt x="6044577" y="57150"/>
                </a:lnTo>
                <a:lnTo>
                  <a:pt x="6052159" y="57150"/>
                </a:lnTo>
                <a:lnTo>
                  <a:pt x="607695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397178" y="9274883"/>
            <a:ext cx="3001645" cy="2199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Multi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350" spc="-35" dirty="0">
                <a:solidFill>
                  <a:srgbClr val="FFFFFF"/>
                </a:solidFill>
                <a:latin typeface="Times New Roman"/>
                <a:cs typeface="Times New Roman"/>
              </a:rPr>
              <a:t>database</a:t>
            </a:r>
            <a:r>
              <a:rPr sz="13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strategy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for</a:t>
            </a:r>
            <a:r>
              <a:rPr sz="13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735393" y="9274883"/>
            <a:ext cx="2349500" cy="2199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13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80" dirty="0">
                <a:solidFill>
                  <a:srgbClr val="FFFFFF"/>
                </a:solidFill>
                <a:latin typeface="Times New Roman"/>
                <a:cs typeface="Times New Roman"/>
              </a:rPr>
              <a:t>GPT</a:t>
            </a:r>
            <a:r>
              <a:rPr sz="1300" spc="-8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300" spc="6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13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3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65" dirty="0">
                <a:solidFill>
                  <a:srgbClr val="FFFFFF"/>
                </a:solidFill>
                <a:latin typeface="Times New Roman"/>
                <a:cs typeface="Times New Roman"/>
              </a:rPr>
              <a:t>YOLOv</a:t>
            </a:r>
            <a:r>
              <a:rPr sz="1300" spc="-65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2421443" y="9274883"/>
            <a:ext cx="2760980" cy="2199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30" dirty="0">
                <a:solidFill>
                  <a:srgbClr val="FFFFFF"/>
                </a:solidFill>
                <a:latin typeface="Times New Roman"/>
                <a:cs typeface="Times New Roman"/>
              </a:rPr>
              <a:t>Blockchain</a:t>
            </a:r>
            <a:r>
              <a:rPr sz="13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3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trust</a:t>
            </a:r>
            <a:r>
              <a:rPr sz="13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3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350" spc="-20" dirty="0">
                <a:solidFill>
                  <a:srgbClr val="FFFFFF"/>
                </a:solidFill>
                <a:latin typeface="Times New Roman"/>
                <a:cs typeface="Times New Roman"/>
              </a:rPr>
              <a:t>transparency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6128305" y="10001898"/>
            <a:ext cx="1715770" cy="1923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20" dirty="0">
                <a:solidFill>
                  <a:srgbClr val="FFFFFF"/>
                </a:solidFill>
                <a:latin typeface="Times New Roman"/>
                <a:cs typeface="Times New Roman"/>
              </a:rPr>
              <a:t>07</a:t>
            </a:r>
            <a:r>
              <a:rPr sz="11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11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Technical</a:t>
            </a:r>
            <a:r>
              <a:rPr sz="11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0" y="0"/>
            <a:ext cx="18288000" cy="762000"/>
            <a:chOff x="0" y="0"/>
            <a:chExt cx="18288000" cy="762000"/>
          </a:xfrm>
        </p:grpSpPr>
        <p:sp>
          <p:nvSpPr>
            <p:cNvPr id="84" name="object 84"/>
            <p:cNvSpPr/>
            <p:nvPr/>
          </p:nvSpPr>
          <p:spPr>
            <a:xfrm>
              <a:off x="0" y="0"/>
              <a:ext cx="18288000" cy="762000"/>
            </a:xfrm>
            <a:custGeom>
              <a:avLst/>
              <a:gdLst/>
              <a:ahLst/>
              <a:cxnLst/>
              <a:rect l="l" t="t" r="r" b="b"/>
              <a:pathLst>
                <a:path w="18288000" h="762000">
                  <a:moveTo>
                    <a:pt x="182880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76200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520700" y="25400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31750" y="0"/>
                  </a:moveTo>
                  <a:lnTo>
                    <a:pt x="222249" y="0"/>
                  </a:lnTo>
                  <a:lnTo>
                    <a:pt x="226460" y="0"/>
                  </a:lnTo>
                  <a:lnTo>
                    <a:pt x="230510" y="805"/>
                  </a:lnTo>
                  <a:lnTo>
                    <a:pt x="234400" y="2416"/>
                  </a:lnTo>
                  <a:lnTo>
                    <a:pt x="238289" y="4028"/>
                  </a:lnTo>
                  <a:lnTo>
                    <a:pt x="241723" y="6322"/>
                  </a:lnTo>
                  <a:lnTo>
                    <a:pt x="253999" y="31749"/>
                  </a:lnTo>
                  <a:lnTo>
                    <a:pt x="253999" y="222249"/>
                  </a:lnTo>
                  <a:lnTo>
                    <a:pt x="230510" y="253194"/>
                  </a:lnTo>
                  <a:lnTo>
                    <a:pt x="222249" y="253999"/>
                  </a:lnTo>
                  <a:lnTo>
                    <a:pt x="31750" y="253999"/>
                  </a:lnTo>
                  <a:lnTo>
                    <a:pt x="2416" y="234400"/>
                  </a:lnTo>
                  <a:lnTo>
                    <a:pt x="805" y="230510"/>
                  </a:lnTo>
                  <a:lnTo>
                    <a:pt x="0" y="226460"/>
                  </a:lnTo>
                  <a:lnTo>
                    <a:pt x="0" y="222249"/>
                  </a:lnTo>
                  <a:lnTo>
                    <a:pt x="0" y="31749"/>
                  </a:lnTo>
                  <a:lnTo>
                    <a:pt x="9299" y="9299"/>
                  </a:lnTo>
                  <a:lnTo>
                    <a:pt x="12276" y="6322"/>
                  </a:lnTo>
                  <a:lnTo>
                    <a:pt x="15709" y="4028"/>
                  </a:lnTo>
                  <a:lnTo>
                    <a:pt x="19599" y="2416"/>
                  </a:lnTo>
                  <a:lnTo>
                    <a:pt x="23489" y="805"/>
                  </a:lnTo>
                  <a:lnTo>
                    <a:pt x="27539" y="0"/>
                  </a:lnTo>
                  <a:lnTo>
                    <a:pt x="31750" y="0"/>
                  </a:lnTo>
                  <a:close/>
                </a:path>
              </a:pathLst>
            </a:custGeom>
            <a:ln w="31749">
              <a:solidFill>
                <a:srgbClr val="BF83FB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86" name="object 8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4199" y="317500"/>
              <a:ext cx="127000" cy="126999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88950" y="222250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206374" y="0"/>
                  </a:moveTo>
                  <a:lnTo>
                    <a:pt x="206374" y="31749"/>
                  </a:lnTo>
                </a:path>
                <a:path w="317500" h="317500">
                  <a:moveTo>
                    <a:pt x="206374" y="285749"/>
                  </a:moveTo>
                  <a:lnTo>
                    <a:pt x="206374" y="317499"/>
                  </a:lnTo>
                </a:path>
                <a:path w="317500" h="317500">
                  <a:moveTo>
                    <a:pt x="0" y="206374"/>
                  </a:moveTo>
                  <a:lnTo>
                    <a:pt x="31749" y="206374"/>
                  </a:lnTo>
                </a:path>
                <a:path w="317500" h="317500">
                  <a:moveTo>
                    <a:pt x="0" y="111124"/>
                  </a:moveTo>
                  <a:lnTo>
                    <a:pt x="31749" y="111124"/>
                  </a:lnTo>
                </a:path>
                <a:path w="317500" h="317500">
                  <a:moveTo>
                    <a:pt x="285749" y="206374"/>
                  </a:moveTo>
                  <a:lnTo>
                    <a:pt x="317499" y="206374"/>
                  </a:lnTo>
                </a:path>
                <a:path w="317500" h="317500">
                  <a:moveTo>
                    <a:pt x="285749" y="111124"/>
                  </a:moveTo>
                  <a:lnTo>
                    <a:pt x="317499" y="111124"/>
                  </a:lnTo>
                </a:path>
                <a:path w="317500" h="317500">
                  <a:moveTo>
                    <a:pt x="111124" y="0"/>
                  </a:moveTo>
                  <a:lnTo>
                    <a:pt x="111124" y="31749"/>
                  </a:lnTo>
                </a:path>
                <a:path w="317500" h="317500">
                  <a:moveTo>
                    <a:pt x="111124" y="285749"/>
                  </a:moveTo>
                  <a:lnTo>
                    <a:pt x="111124" y="317499"/>
                  </a:lnTo>
                </a:path>
              </a:pathLst>
            </a:custGeom>
            <a:ln w="31749">
              <a:solidFill>
                <a:srgbClr val="BF83FB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88" name="object 88"/>
          <p:cNvSpPr txBox="1">
            <a:spLocks noGrp="1"/>
          </p:cNvSpPr>
          <p:nvPr>
            <p:ph type="title"/>
          </p:nvPr>
        </p:nvSpPr>
        <p:spPr>
          <a:xfrm>
            <a:off x="977900" y="-12326"/>
            <a:ext cx="14570710" cy="63927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50" spc="-195" dirty="0">
                <a:latin typeface="Times New Roman"/>
                <a:cs typeface="Times New Roman"/>
              </a:rPr>
              <a:t>Technical</a:t>
            </a:r>
            <a:r>
              <a:rPr sz="4050" spc="-220" dirty="0">
                <a:latin typeface="Times New Roman"/>
                <a:cs typeface="Times New Roman"/>
              </a:rPr>
              <a:t> </a:t>
            </a:r>
            <a:r>
              <a:rPr sz="4050" spc="-150" dirty="0">
                <a:latin typeface="Times New Roman"/>
                <a:cs typeface="Times New Roman"/>
              </a:rPr>
              <a:t>Architecture</a:t>
            </a:r>
            <a:endParaRPr sz="4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26012" y="1491915"/>
            <a:ext cx="8435975" cy="89598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3050" b="1" spc="-170" dirty="0">
                <a:solidFill>
                  <a:srgbClr val="FF9933"/>
                </a:solidFill>
                <a:latin typeface="Times New Roman"/>
                <a:cs typeface="Times New Roman"/>
              </a:rPr>
              <a:t>Transforming</a:t>
            </a:r>
            <a:r>
              <a:rPr sz="3050" b="1" spc="-155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185" dirty="0">
                <a:solidFill>
                  <a:srgbClr val="FF9933"/>
                </a:solidFill>
                <a:latin typeface="Times New Roman"/>
                <a:cs typeface="Times New Roman"/>
              </a:rPr>
              <a:t>Lives</a:t>
            </a:r>
            <a:r>
              <a:rPr sz="3050" b="1" spc="-16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175" dirty="0">
                <a:solidFill>
                  <a:srgbClr val="FF9933"/>
                </a:solidFill>
                <a:latin typeface="Times New Roman"/>
                <a:cs typeface="Times New Roman"/>
              </a:rPr>
              <a:t>Through</a:t>
            </a:r>
            <a:r>
              <a:rPr sz="3050" b="1" spc="-155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140" dirty="0">
                <a:solidFill>
                  <a:srgbClr val="FF9933"/>
                </a:solidFill>
                <a:latin typeface="Times New Roman"/>
                <a:cs typeface="Times New Roman"/>
              </a:rPr>
              <a:t>Direct</a:t>
            </a:r>
            <a:r>
              <a:rPr sz="3050" b="1" spc="-16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105" dirty="0">
                <a:solidFill>
                  <a:srgbClr val="FF9933"/>
                </a:solidFill>
                <a:latin typeface="Times New Roman"/>
                <a:cs typeface="Times New Roman"/>
              </a:rPr>
              <a:t>Market</a:t>
            </a:r>
            <a:r>
              <a:rPr sz="3050" b="1" spc="-155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85" dirty="0">
                <a:solidFill>
                  <a:srgbClr val="FF9933"/>
                </a:solidFill>
                <a:latin typeface="Times New Roman"/>
                <a:cs typeface="Times New Roman"/>
              </a:rPr>
              <a:t>Access</a:t>
            </a:r>
            <a:endParaRPr sz="3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Projected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195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year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growth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trajectory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9600" y="2705099"/>
            <a:ext cx="8305800" cy="5695950"/>
            <a:chOff x="609600" y="2705099"/>
            <a:chExt cx="8305800" cy="5695950"/>
          </a:xfrm>
        </p:grpSpPr>
        <p:sp>
          <p:nvSpPr>
            <p:cNvPr id="4" name="object 4"/>
            <p:cNvSpPr/>
            <p:nvPr/>
          </p:nvSpPr>
          <p:spPr>
            <a:xfrm>
              <a:off x="609600" y="2705099"/>
              <a:ext cx="8305800" cy="5695950"/>
            </a:xfrm>
            <a:custGeom>
              <a:avLst/>
              <a:gdLst/>
              <a:ahLst/>
              <a:cxnLst/>
              <a:rect l="l" t="t" r="r" b="b"/>
              <a:pathLst>
                <a:path w="8305800" h="5695950">
                  <a:moveTo>
                    <a:pt x="8191500" y="5695950"/>
                  </a:moveTo>
                  <a:lnTo>
                    <a:pt x="114300" y="5695950"/>
                  </a:lnTo>
                  <a:lnTo>
                    <a:pt x="103040" y="5695405"/>
                  </a:lnTo>
                  <a:lnTo>
                    <a:pt x="60364" y="5682437"/>
                  </a:lnTo>
                  <a:lnTo>
                    <a:pt x="25900" y="5654125"/>
                  </a:lnTo>
                  <a:lnTo>
                    <a:pt x="4893" y="5614779"/>
                  </a:lnTo>
                  <a:lnTo>
                    <a:pt x="0" y="5581650"/>
                  </a:lnTo>
                  <a:lnTo>
                    <a:pt x="0" y="114300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8191500" y="0"/>
                  </a:lnTo>
                  <a:lnTo>
                    <a:pt x="8235238" y="8700"/>
                  </a:lnTo>
                  <a:lnTo>
                    <a:pt x="8272320" y="33477"/>
                  </a:lnTo>
                  <a:lnTo>
                    <a:pt x="8297098" y="70558"/>
                  </a:lnTo>
                  <a:lnTo>
                    <a:pt x="8305800" y="114300"/>
                  </a:lnTo>
                  <a:lnTo>
                    <a:pt x="8305800" y="5581650"/>
                  </a:lnTo>
                  <a:lnTo>
                    <a:pt x="8297098" y="5625390"/>
                  </a:lnTo>
                  <a:lnTo>
                    <a:pt x="8272320" y="5662472"/>
                  </a:lnTo>
                  <a:lnTo>
                    <a:pt x="8235238" y="5687248"/>
                  </a:lnTo>
                  <a:lnTo>
                    <a:pt x="8191500" y="56959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09600" y="2705100"/>
              <a:ext cx="8305800" cy="5695950"/>
            </a:xfrm>
            <a:custGeom>
              <a:avLst/>
              <a:gdLst/>
              <a:ahLst/>
              <a:cxnLst/>
              <a:rect l="l" t="t" r="r" b="b"/>
              <a:pathLst>
                <a:path w="8305800" h="5695950">
                  <a:moveTo>
                    <a:pt x="8191499" y="5695949"/>
                  </a:moveTo>
                  <a:lnTo>
                    <a:pt x="114299" y="5695949"/>
                  </a:lnTo>
                  <a:lnTo>
                    <a:pt x="103040" y="5695405"/>
                  </a:lnTo>
                  <a:lnTo>
                    <a:pt x="60364" y="5682437"/>
                  </a:lnTo>
                  <a:lnTo>
                    <a:pt x="25900" y="5654124"/>
                  </a:lnTo>
                  <a:lnTo>
                    <a:pt x="4893" y="561477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3"/>
                  </a:lnTo>
                  <a:lnTo>
                    <a:pt x="114299" y="0"/>
                  </a:lnTo>
                  <a:lnTo>
                    <a:pt x="8191499" y="0"/>
                  </a:lnTo>
                  <a:lnTo>
                    <a:pt x="8235238" y="8700"/>
                  </a:lnTo>
                  <a:lnTo>
                    <a:pt x="8236985" y="9525"/>
                  </a:lnTo>
                  <a:lnTo>
                    <a:pt x="107420" y="9525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2"/>
                  </a:lnTo>
                  <a:lnTo>
                    <a:pt x="9525" y="107420"/>
                  </a:lnTo>
                  <a:lnTo>
                    <a:pt x="9525" y="5588529"/>
                  </a:lnTo>
                  <a:lnTo>
                    <a:pt x="20133" y="5628100"/>
                  </a:lnTo>
                  <a:lnTo>
                    <a:pt x="45077" y="5660601"/>
                  </a:lnTo>
                  <a:lnTo>
                    <a:pt x="80560" y="5681081"/>
                  </a:lnTo>
                  <a:lnTo>
                    <a:pt x="107420" y="5686424"/>
                  </a:lnTo>
                  <a:lnTo>
                    <a:pt x="8236984" y="5686424"/>
                  </a:lnTo>
                  <a:lnTo>
                    <a:pt x="8235238" y="5687248"/>
                  </a:lnTo>
                  <a:lnTo>
                    <a:pt x="8224628" y="5691055"/>
                  </a:lnTo>
                  <a:lnTo>
                    <a:pt x="8213802" y="5693774"/>
                  </a:lnTo>
                  <a:lnTo>
                    <a:pt x="8202759" y="5695405"/>
                  </a:lnTo>
                  <a:lnTo>
                    <a:pt x="8191499" y="5695949"/>
                  </a:lnTo>
                  <a:close/>
                </a:path>
                <a:path w="8305800" h="5695950">
                  <a:moveTo>
                    <a:pt x="8236984" y="5686424"/>
                  </a:moveTo>
                  <a:lnTo>
                    <a:pt x="8198379" y="5686424"/>
                  </a:lnTo>
                  <a:lnTo>
                    <a:pt x="8205192" y="5685753"/>
                  </a:lnTo>
                  <a:lnTo>
                    <a:pt x="8218687" y="5683068"/>
                  </a:lnTo>
                  <a:lnTo>
                    <a:pt x="8255428" y="5664944"/>
                  </a:lnTo>
                  <a:lnTo>
                    <a:pt x="8282438" y="5634138"/>
                  </a:lnTo>
                  <a:lnTo>
                    <a:pt x="8295602" y="5595342"/>
                  </a:lnTo>
                  <a:lnTo>
                    <a:pt x="8296274" y="5588529"/>
                  </a:lnTo>
                  <a:lnTo>
                    <a:pt x="8296274" y="107420"/>
                  </a:lnTo>
                  <a:lnTo>
                    <a:pt x="8285665" y="67848"/>
                  </a:lnTo>
                  <a:lnTo>
                    <a:pt x="8260722" y="35348"/>
                  </a:lnTo>
                  <a:lnTo>
                    <a:pt x="8225239" y="14867"/>
                  </a:lnTo>
                  <a:lnTo>
                    <a:pt x="8198379" y="9525"/>
                  </a:lnTo>
                  <a:lnTo>
                    <a:pt x="8236985" y="9525"/>
                  </a:lnTo>
                  <a:lnTo>
                    <a:pt x="8272320" y="33477"/>
                  </a:lnTo>
                  <a:lnTo>
                    <a:pt x="8297097" y="70558"/>
                  </a:lnTo>
                  <a:lnTo>
                    <a:pt x="8305799" y="114299"/>
                  </a:lnTo>
                  <a:lnTo>
                    <a:pt x="8305799" y="5581649"/>
                  </a:lnTo>
                  <a:lnTo>
                    <a:pt x="8297097" y="5625389"/>
                  </a:lnTo>
                  <a:lnTo>
                    <a:pt x="8272320" y="5662471"/>
                  </a:lnTo>
                  <a:lnTo>
                    <a:pt x="8245432" y="5682437"/>
                  </a:lnTo>
                  <a:lnTo>
                    <a:pt x="8236984" y="5686424"/>
                  </a:lnTo>
                  <a:close/>
                </a:path>
              </a:pathLst>
            </a:custGeom>
            <a:solidFill>
              <a:srgbClr val="4ADE8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5" y="2943225"/>
              <a:ext cx="7829549" cy="521969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09600" y="8553450"/>
            <a:ext cx="8305800" cy="590550"/>
            <a:chOff x="609600" y="8553450"/>
            <a:chExt cx="8305800" cy="590550"/>
          </a:xfrm>
        </p:grpSpPr>
        <p:sp>
          <p:nvSpPr>
            <p:cNvPr id="8" name="object 8"/>
            <p:cNvSpPr/>
            <p:nvPr/>
          </p:nvSpPr>
          <p:spPr>
            <a:xfrm>
              <a:off x="609600" y="8553450"/>
              <a:ext cx="8305800" cy="590550"/>
            </a:xfrm>
            <a:custGeom>
              <a:avLst/>
              <a:gdLst/>
              <a:ahLst/>
              <a:cxnLst/>
              <a:rect l="l" t="t" r="r" b="b"/>
              <a:pathLst>
                <a:path w="8305800" h="590550">
                  <a:moveTo>
                    <a:pt x="8229600" y="590550"/>
                  </a:moveTo>
                  <a:lnTo>
                    <a:pt x="76200" y="590550"/>
                  </a:lnTo>
                  <a:lnTo>
                    <a:pt x="68693" y="590187"/>
                  </a:lnTo>
                  <a:lnTo>
                    <a:pt x="27882" y="573282"/>
                  </a:lnTo>
                  <a:lnTo>
                    <a:pt x="3262" y="536435"/>
                  </a:lnTo>
                  <a:lnTo>
                    <a:pt x="0" y="514350"/>
                  </a:lnTo>
                  <a:lnTo>
                    <a:pt x="0" y="76200"/>
                  </a:lnTo>
                  <a:lnTo>
                    <a:pt x="12829" y="33856"/>
                  </a:lnTo>
                  <a:lnTo>
                    <a:pt x="47039" y="5799"/>
                  </a:lnTo>
                  <a:lnTo>
                    <a:pt x="76200" y="0"/>
                  </a:lnTo>
                  <a:lnTo>
                    <a:pt x="8229600" y="0"/>
                  </a:lnTo>
                  <a:lnTo>
                    <a:pt x="8271940" y="12829"/>
                  </a:lnTo>
                  <a:lnTo>
                    <a:pt x="8299998" y="47037"/>
                  </a:lnTo>
                  <a:lnTo>
                    <a:pt x="8305800" y="76200"/>
                  </a:lnTo>
                  <a:lnTo>
                    <a:pt x="8305800" y="514350"/>
                  </a:lnTo>
                  <a:lnTo>
                    <a:pt x="8292968" y="556691"/>
                  </a:lnTo>
                  <a:lnTo>
                    <a:pt x="8258756" y="584749"/>
                  </a:lnTo>
                  <a:lnTo>
                    <a:pt x="8229600" y="590550"/>
                  </a:lnTo>
                  <a:close/>
                </a:path>
              </a:pathLst>
            </a:custGeom>
            <a:solidFill>
              <a:srgbClr val="128708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09600" y="8553450"/>
              <a:ext cx="8305800" cy="590550"/>
            </a:xfrm>
            <a:custGeom>
              <a:avLst/>
              <a:gdLst/>
              <a:ahLst/>
              <a:cxnLst/>
              <a:rect l="l" t="t" r="r" b="b"/>
              <a:pathLst>
                <a:path w="8305800" h="590550">
                  <a:moveTo>
                    <a:pt x="8229599" y="590549"/>
                  </a:moveTo>
                  <a:lnTo>
                    <a:pt x="76199" y="590549"/>
                  </a:lnTo>
                  <a:lnTo>
                    <a:pt x="68693" y="590187"/>
                  </a:lnTo>
                  <a:lnTo>
                    <a:pt x="27882" y="573282"/>
                  </a:lnTo>
                  <a:lnTo>
                    <a:pt x="3262" y="536435"/>
                  </a:lnTo>
                  <a:lnTo>
                    <a:pt x="0" y="76199"/>
                  </a:lnTo>
                  <a:lnTo>
                    <a:pt x="362" y="68693"/>
                  </a:lnTo>
                  <a:lnTo>
                    <a:pt x="17266" y="27881"/>
                  </a:lnTo>
                  <a:lnTo>
                    <a:pt x="54113" y="3262"/>
                  </a:lnTo>
                  <a:lnTo>
                    <a:pt x="76199" y="0"/>
                  </a:lnTo>
                  <a:lnTo>
                    <a:pt x="8229599" y="0"/>
                  </a:lnTo>
                  <a:lnTo>
                    <a:pt x="82664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518728"/>
                  </a:lnTo>
                  <a:lnTo>
                    <a:pt x="9833" y="521856"/>
                  </a:lnTo>
                  <a:lnTo>
                    <a:pt x="9952" y="523063"/>
                  </a:lnTo>
                  <a:lnTo>
                    <a:pt x="25957" y="558400"/>
                  </a:lnTo>
                  <a:lnTo>
                    <a:pt x="58898" y="578889"/>
                  </a:lnTo>
                  <a:lnTo>
                    <a:pt x="71822" y="581025"/>
                  </a:lnTo>
                  <a:lnTo>
                    <a:pt x="8266416" y="581025"/>
                  </a:lnTo>
                  <a:lnTo>
                    <a:pt x="8265554" y="581541"/>
                  </a:lnTo>
                  <a:lnTo>
                    <a:pt x="8258756" y="584749"/>
                  </a:lnTo>
                  <a:lnTo>
                    <a:pt x="8251682" y="587286"/>
                  </a:lnTo>
                  <a:lnTo>
                    <a:pt x="8244464" y="589099"/>
                  </a:lnTo>
                  <a:lnTo>
                    <a:pt x="8237102" y="590187"/>
                  </a:lnTo>
                  <a:lnTo>
                    <a:pt x="8229599" y="590549"/>
                  </a:lnTo>
                  <a:close/>
                </a:path>
                <a:path w="8305800" h="590550">
                  <a:moveTo>
                    <a:pt x="8266416" y="581025"/>
                  </a:moveTo>
                  <a:lnTo>
                    <a:pt x="8233977" y="581025"/>
                  </a:lnTo>
                  <a:lnTo>
                    <a:pt x="8238313" y="580598"/>
                  </a:lnTo>
                  <a:lnTo>
                    <a:pt x="8246901" y="578889"/>
                  </a:lnTo>
                  <a:lnTo>
                    <a:pt x="8279841" y="558400"/>
                  </a:lnTo>
                  <a:lnTo>
                    <a:pt x="8295847" y="523063"/>
                  </a:lnTo>
                  <a:lnTo>
                    <a:pt x="8296274" y="518728"/>
                  </a:lnTo>
                  <a:lnTo>
                    <a:pt x="8296274" y="71822"/>
                  </a:lnTo>
                  <a:lnTo>
                    <a:pt x="8295966" y="68693"/>
                  </a:lnTo>
                  <a:lnTo>
                    <a:pt x="8295847" y="67486"/>
                  </a:lnTo>
                  <a:lnTo>
                    <a:pt x="8279841" y="32149"/>
                  </a:lnTo>
                  <a:lnTo>
                    <a:pt x="8246901" y="11660"/>
                  </a:lnTo>
                  <a:lnTo>
                    <a:pt x="8233977" y="9525"/>
                  </a:lnTo>
                  <a:lnTo>
                    <a:pt x="8266420" y="9525"/>
                  </a:lnTo>
                  <a:lnTo>
                    <a:pt x="8296790" y="40241"/>
                  </a:lnTo>
                  <a:lnTo>
                    <a:pt x="8305799" y="76199"/>
                  </a:lnTo>
                  <a:lnTo>
                    <a:pt x="8305799" y="514349"/>
                  </a:lnTo>
                  <a:lnTo>
                    <a:pt x="8292968" y="556691"/>
                  </a:lnTo>
                  <a:lnTo>
                    <a:pt x="8272067" y="577625"/>
                  </a:lnTo>
                  <a:lnTo>
                    <a:pt x="8266416" y="581025"/>
                  </a:lnTo>
                  <a:close/>
                </a:path>
              </a:pathLst>
            </a:custGeom>
            <a:solidFill>
              <a:srgbClr val="4ADE8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85926" y="8617136"/>
            <a:ext cx="2953385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12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550" b="1" spc="-120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550" b="1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earnings</a:t>
            </a:r>
            <a:r>
              <a:rPr sz="2550" b="1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372599" y="2705099"/>
            <a:ext cx="4076700" cy="1809750"/>
            <a:chOff x="9372599" y="2705099"/>
            <a:chExt cx="4076700" cy="1809750"/>
          </a:xfrm>
        </p:grpSpPr>
        <p:sp>
          <p:nvSpPr>
            <p:cNvPr id="12" name="object 12"/>
            <p:cNvSpPr/>
            <p:nvPr/>
          </p:nvSpPr>
          <p:spPr>
            <a:xfrm>
              <a:off x="9372599" y="2705099"/>
              <a:ext cx="4076700" cy="1809750"/>
            </a:xfrm>
            <a:custGeom>
              <a:avLst/>
              <a:gdLst/>
              <a:ahLst/>
              <a:cxnLst/>
              <a:rect l="l" t="t" r="r" b="b"/>
              <a:pathLst>
                <a:path w="4076700" h="1809750">
                  <a:moveTo>
                    <a:pt x="4000500" y="1809750"/>
                  </a:moveTo>
                  <a:lnTo>
                    <a:pt x="76200" y="1809750"/>
                  </a:lnTo>
                  <a:lnTo>
                    <a:pt x="68693" y="1809387"/>
                  </a:lnTo>
                  <a:lnTo>
                    <a:pt x="27882" y="1792482"/>
                  </a:lnTo>
                  <a:lnTo>
                    <a:pt x="3262" y="1755635"/>
                  </a:lnTo>
                  <a:lnTo>
                    <a:pt x="0" y="17335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200" y="0"/>
                  </a:lnTo>
                  <a:lnTo>
                    <a:pt x="4000500" y="0"/>
                  </a:lnTo>
                  <a:lnTo>
                    <a:pt x="4042841" y="12829"/>
                  </a:lnTo>
                  <a:lnTo>
                    <a:pt x="4070899" y="47039"/>
                  </a:lnTo>
                  <a:lnTo>
                    <a:pt x="4076700" y="76200"/>
                  </a:lnTo>
                  <a:lnTo>
                    <a:pt x="4076700" y="1733550"/>
                  </a:lnTo>
                  <a:lnTo>
                    <a:pt x="4063868" y="1775891"/>
                  </a:lnTo>
                  <a:lnTo>
                    <a:pt x="4029658" y="1803949"/>
                  </a:lnTo>
                  <a:lnTo>
                    <a:pt x="4000500" y="18097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372599" y="2705100"/>
              <a:ext cx="4076700" cy="1809750"/>
            </a:xfrm>
            <a:custGeom>
              <a:avLst/>
              <a:gdLst/>
              <a:ahLst/>
              <a:cxnLst/>
              <a:rect l="l" t="t" r="r" b="b"/>
              <a:pathLst>
                <a:path w="4076700" h="1809750">
                  <a:moveTo>
                    <a:pt x="4000499" y="1809749"/>
                  </a:moveTo>
                  <a:lnTo>
                    <a:pt x="76199" y="1809749"/>
                  </a:lnTo>
                  <a:lnTo>
                    <a:pt x="68693" y="1809387"/>
                  </a:lnTo>
                  <a:lnTo>
                    <a:pt x="27882" y="1792482"/>
                  </a:lnTo>
                  <a:lnTo>
                    <a:pt x="3262" y="1755635"/>
                  </a:lnTo>
                  <a:lnTo>
                    <a:pt x="0" y="17335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000499" y="0"/>
                  </a:lnTo>
                  <a:lnTo>
                    <a:pt x="4037319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737928"/>
                  </a:lnTo>
                  <a:lnTo>
                    <a:pt x="23194" y="1774232"/>
                  </a:lnTo>
                  <a:lnTo>
                    <a:pt x="54729" y="1796824"/>
                  </a:lnTo>
                  <a:lnTo>
                    <a:pt x="71822" y="1800224"/>
                  </a:lnTo>
                  <a:lnTo>
                    <a:pt x="4037318" y="1800224"/>
                  </a:lnTo>
                  <a:lnTo>
                    <a:pt x="4036455" y="1800741"/>
                  </a:lnTo>
                  <a:lnTo>
                    <a:pt x="4029658" y="1803949"/>
                  </a:lnTo>
                  <a:lnTo>
                    <a:pt x="4022584" y="1806486"/>
                  </a:lnTo>
                  <a:lnTo>
                    <a:pt x="4015366" y="1808299"/>
                  </a:lnTo>
                  <a:lnTo>
                    <a:pt x="4008004" y="1809387"/>
                  </a:lnTo>
                  <a:lnTo>
                    <a:pt x="4000499" y="1809749"/>
                  </a:lnTo>
                  <a:close/>
                </a:path>
                <a:path w="4076700" h="1809750">
                  <a:moveTo>
                    <a:pt x="4037318" y="1800224"/>
                  </a:moveTo>
                  <a:lnTo>
                    <a:pt x="4004878" y="1800224"/>
                  </a:lnTo>
                  <a:lnTo>
                    <a:pt x="4009214" y="1799797"/>
                  </a:lnTo>
                  <a:lnTo>
                    <a:pt x="4017801" y="1798089"/>
                  </a:lnTo>
                  <a:lnTo>
                    <a:pt x="4050741" y="1777600"/>
                  </a:lnTo>
                  <a:lnTo>
                    <a:pt x="4066748" y="1742263"/>
                  </a:lnTo>
                  <a:lnTo>
                    <a:pt x="4067175" y="1737928"/>
                  </a:lnTo>
                  <a:lnTo>
                    <a:pt x="4067175" y="71822"/>
                  </a:lnTo>
                  <a:lnTo>
                    <a:pt x="4053506" y="35517"/>
                  </a:lnTo>
                  <a:lnTo>
                    <a:pt x="4021656" y="12829"/>
                  </a:lnTo>
                  <a:lnTo>
                    <a:pt x="4004878" y="9525"/>
                  </a:lnTo>
                  <a:lnTo>
                    <a:pt x="4037319" y="9525"/>
                  </a:lnTo>
                  <a:lnTo>
                    <a:pt x="4067690" y="40242"/>
                  </a:lnTo>
                  <a:lnTo>
                    <a:pt x="4076699" y="76199"/>
                  </a:lnTo>
                  <a:lnTo>
                    <a:pt x="4076699" y="1733549"/>
                  </a:lnTo>
                  <a:lnTo>
                    <a:pt x="4063868" y="1775891"/>
                  </a:lnTo>
                  <a:lnTo>
                    <a:pt x="4042967" y="1796824"/>
                  </a:lnTo>
                  <a:lnTo>
                    <a:pt x="4037318" y="18002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725024" y="2898775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h="317500">
                  <a:moveTo>
                    <a:pt x="0" y="0"/>
                  </a:moveTo>
                  <a:lnTo>
                    <a:pt x="0" y="317499"/>
                  </a:lnTo>
                </a:path>
              </a:pathLst>
            </a:custGeom>
            <a:ln w="3174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13899" y="2930525"/>
              <a:ext cx="222250" cy="2539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521825" y="3153694"/>
            <a:ext cx="2214245" cy="1189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5105"/>
              </a:lnSpc>
              <a:spcBef>
                <a:spcPts val="114"/>
              </a:spcBef>
            </a:pPr>
            <a:r>
              <a:rPr sz="4300" b="1" spc="-409" dirty="0">
                <a:solidFill>
                  <a:srgbClr val="FFFFFF"/>
                </a:solidFill>
                <a:latin typeface="Times New Roman"/>
                <a:cs typeface="Times New Roman"/>
              </a:rPr>
              <a:t>$</a:t>
            </a:r>
            <a:r>
              <a:rPr sz="3950" b="1" spc="-409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4300" b="1" spc="-409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4300">
              <a:latin typeface="Times New Roman"/>
              <a:cs typeface="Times New Roman"/>
            </a:endParaRPr>
          </a:p>
          <a:p>
            <a:pPr marL="12700">
              <a:lnSpc>
                <a:spcPts val="1925"/>
              </a:lnSpc>
            </a:pPr>
            <a:r>
              <a:rPr sz="1650" spc="-25" dirty="0">
                <a:solidFill>
                  <a:srgbClr val="FFFFFF"/>
                </a:solidFill>
                <a:latin typeface="Times New Roman"/>
                <a:cs typeface="Times New Roman"/>
              </a:rPr>
              <a:t>Projected</a:t>
            </a:r>
            <a:r>
              <a:rPr sz="165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30" dirty="0">
                <a:solidFill>
                  <a:srgbClr val="FFFFFF"/>
                </a:solidFill>
                <a:latin typeface="Times New Roman"/>
                <a:cs typeface="Times New Roman"/>
              </a:rPr>
              <a:t>Exports</a:t>
            </a:r>
            <a:r>
              <a:rPr sz="16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80" dirty="0">
                <a:solidFill>
                  <a:srgbClr val="FFFFFF"/>
                </a:solidFill>
                <a:latin typeface="Times New Roman"/>
                <a:cs typeface="Times New Roman"/>
              </a:rPr>
              <a:t>Year</a:t>
            </a:r>
            <a:r>
              <a:rPr sz="16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Target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601698" y="2705099"/>
            <a:ext cx="4076700" cy="1809750"/>
            <a:chOff x="13601698" y="2705099"/>
            <a:chExt cx="4076700" cy="1809750"/>
          </a:xfrm>
        </p:grpSpPr>
        <p:sp>
          <p:nvSpPr>
            <p:cNvPr id="18" name="object 18"/>
            <p:cNvSpPr/>
            <p:nvPr/>
          </p:nvSpPr>
          <p:spPr>
            <a:xfrm>
              <a:off x="13601699" y="2705099"/>
              <a:ext cx="4076700" cy="1809750"/>
            </a:xfrm>
            <a:custGeom>
              <a:avLst/>
              <a:gdLst/>
              <a:ahLst/>
              <a:cxnLst/>
              <a:rect l="l" t="t" r="r" b="b"/>
              <a:pathLst>
                <a:path w="4076700" h="1809750">
                  <a:moveTo>
                    <a:pt x="4000500" y="1809750"/>
                  </a:moveTo>
                  <a:lnTo>
                    <a:pt x="76200" y="1809750"/>
                  </a:lnTo>
                  <a:lnTo>
                    <a:pt x="68692" y="1809387"/>
                  </a:lnTo>
                  <a:lnTo>
                    <a:pt x="27881" y="1792482"/>
                  </a:lnTo>
                  <a:lnTo>
                    <a:pt x="3261" y="1755635"/>
                  </a:lnTo>
                  <a:lnTo>
                    <a:pt x="0" y="1733550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4000500" y="0"/>
                  </a:lnTo>
                  <a:lnTo>
                    <a:pt x="4042839" y="12829"/>
                  </a:lnTo>
                  <a:lnTo>
                    <a:pt x="4070896" y="47039"/>
                  </a:lnTo>
                  <a:lnTo>
                    <a:pt x="4076700" y="76200"/>
                  </a:lnTo>
                  <a:lnTo>
                    <a:pt x="4076700" y="1733550"/>
                  </a:lnTo>
                  <a:lnTo>
                    <a:pt x="4063866" y="1775891"/>
                  </a:lnTo>
                  <a:lnTo>
                    <a:pt x="4029656" y="1803949"/>
                  </a:lnTo>
                  <a:lnTo>
                    <a:pt x="4000500" y="18097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3601698" y="2705100"/>
              <a:ext cx="4076700" cy="1809750"/>
            </a:xfrm>
            <a:custGeom>
              <a:avLst/>
              <a:gdLst/>
              <a:ahLst/>
              <a:cxnLst/>
              <a:rect l="l" t="t" r="r" b="b"/>
              <a:pathLst>
                <a:path w="4076700" h="1809750">
                  <a:moveTo>
                    <a:pt x="4000499" y="1809749"/>
                  </a:moveTo>
                  <a:lnTo>
                    <a:pt x="76199" y="1809749"/>
                  </a:lnTo>
                  <a:lnTo>
                    <a:pt x="68692" y="1809387"/>
                  </a:lnTo>
                  <a:lnTo>
                    <a:pt x="27881" y="1792482"/>
                  </a:lnTo>
                  <a:lnTo>
                    <a:pt x="3261" y="1755635"/>
                  </a:lnTo>
                  <a:lnTo>
                    <a:pt x="0" y="1733549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4000499" y="0"/>
                  </a:lnTo>
                  <a:lnTo>
                    <a:pt x="4037318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737928"/>
                  </a:lnTo>
                  <a:lnTo>
                    <a:pt x="23194" y="1774232"/>
                  </a:lnTo>
                  <a:lnTo>
                    <a:pt x="54729" y="1796824"/>
                  </a:lnTo>
                  <a:lnTo>
                    <a:pt x="71822" y="1800224"/>
                  </a:lnTo>
                  <a:lnTo>
                    <a:pt x="4037316" y="1800224"/>
                  </a:lnTo>
                  <a:lnTo>
                    <a:pt x="4036453" y="1800741"/>
                  </a:lnTo>
                  <a:lnTo>
                    <a:pt x="4029656" y="1803949"/>
                  </a:lnTo>
                  <a:lnTo>
                    <a:pt x="4022583" y="1806486"/>
                  </a:lnTo>
                  <a:lnTo>
                    <a:pt x="4015366" y="1808299"/>
                  </a:lnTo>
                  <a:lnTo>
                    <a:pt x="4008004" y="1809387"/>
                  </a:lnTo>
                  <a:lnTo>
                    <a:pt x="4000499" y="1809749"/>
                  </a:lnTo>
                  <a:close/>
                </a:path>
                <a:path w="4076700" h="1809750">
                  <a:moveTo>
                    <a:pt x="4037316" y="1800224"/>
                  </a:moveTo>
                  <a:lnTo>
                    <a:pt x="4004878" y="1800224"/>
                  </a:lnTo>
                  <a:lnTo>
                    <a:pt x="4009213" y="1799797"/>
                  </a:lnTo>
                  <a:lnTo>
                    <a:pt x="4017801" y="1798089"/>
                  </a:lnTo>
                  <a:lnTo>
                    <a:pt x="4050741" y="1777600"/>
                  </a:lnTo>
                  <a:lnTo>
                    <a:pt x="4066747" y="1742263"/>
                  </a:lnTo>
                  <a:lnTo>
                    <a:pt x="4067174" y="1737928"/>
                  </a:lnTo>
                  <a:lnTo>
                    <a:pt x="4067174" y="71822"/>
                  </a:lnTo>
                  <a:lnTo>
                    <a:pt x="4053505" y="35517"/>
                  </a:lnTo>
                  <a:lnTo>
                    <a:pt x="4021656" y="12829"/>
                  </a:lnTo>
                  <a:lnTo>
                    <a:pt x="4004878" y="9525"/>
                  </a:lnTo>
                  <a:lnTo>
                    <a:pt x="4037318" y="9525"/>
                  </a:lnTo>
                  <a:lnTo>
                    <a:pt x="4067688" y="40242"/>
                  </a:lnTo>
                  <a:lnTo>
                    <a:pt x="4076699" y="76199"/>
                  </a:lnTo>
                  <a:lnTo>
                    <a:pt x="4076699" y="1733549"/>
                  </a:lnTo>
                  <a:lnTo>
                    <a:pt x="4063866" y="1775891"/>
                  </a:lnTo>
                  <a:lnTo>
                    <a:pt x="4042966" y="1796824"/>
                  </a:lnTo>
                  <a:lnTo>
                    <a:pt x="4037316" y="18002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3795374" y="2914650"/>
              <a:ext cx="317500" cy="285750"/>
            </a:xfrm>
            <a:custGeom>
              <a:avLst/>
              <a:gdLst/>
              <a:ahLst/>
              <a:cxnLst/>
              <a:rect l="l" t="t" r="r" b="b"/>
              <a:pathLst>
                <a:path w="317500" h="285750">
                  <a:moveTo>
                    <a:pt x="222249" y="285749"/>
                  </a:moveTo>
                  <a:lnTo>
                    <a:pt x="222249" y="253999"/>
                  </a:lnTo>
                  <a:lnTo>
                    <a:pt x="222249" y="249830"/>
                  </a:lnTo>
                  <a:lnTo>
                    <a:pt x="221843" y="245701"/>
                  </a:lnTo>
                  <a:lnTo>
                    <a:pt x="221029" y="241611"/>
                  </a:lnTo>
                  <a:lnTo>
                    <a:pt x="220216" y="237522"/>
                  </a:lnTo>
                  <a:lnTo>
                    <a:pt x="197495" y="203518"/>
                  </a:lnTo>
                  <a:lnTo>
                    <a:pt x="194028" y="201201"/>
                  </a:lnTo>
                  <a:lnTo>
                    <a:pt x="190561" y="198885"/>
                  </a:lnTo>
                  <a:lnTo>
                    <a:pt x="162919" y="190499"/>
                  </a:lnTo>
                  <a:lnTo>
                    <a:pt x="158749" y="190499"/>
                  </a:lnTo>
                  <a:lnTo>
                    <a:pt x="63499" y="190499"/>
                  </a:lnTo>
                  <a:lnTo>
                    <a:pt x="59330" y="190499"/>
                  </a:lnTo>
                  <a:lnTo>
                    <a:pt x="55201" y="190906"/>
                  </a:lnTo>
                  <a:lnTo>
                    <a:pt x="18598" y="209098"/>
                  </a:lnTo>
                  <a:lnTo>
                    <a:pt x="15650" y="212046"/>
                  </a:lnTo>
                  <a:lnTo>
                    <a:pt x="1220" y="241611"/>
                  </a:lnTo>
                  <a:lnTo>
                    <a:pt x="406" y="245701"/>
                  </a:lnTo>
                  <a:lnTo>
                    <a:pt x="0" y="249830"/>
                  </a:lnTo>
                  <a:lnTo>
                    <a:pt x="0" y="253999"/>
                  </a:lnTo>
                  <a:lnTo>
                    <a:pt x="0" y="285749"/>
                  </a:lnTo>
                </a:path>
                <a:path w="317500" h="285750">
                  <a:moveTo>
                    <a:pt x="174624" y="63499"/>
                  </a:moveTo>
                  <a:lnTo>
                    <a:pt x="163923" y="98778"/>
                  </a:lnTo>
                  <a:lnTo>
                    <a:pt x="161606" y="102245"/>
                  </a:lnTo>
                  <a:lnTo>
                    <a:pt x="158974" y="105453"/>
                  </a:lnTo>
                  <a:lnTo>
                    <a:pt x="156026" y="108401"/>
                  </a:lnTo>
                  <a:lnTo>
                    <a:pt x="153077" y="111349"/>
                  </a:lnTo>
                  <a:lnTo>
                    <a:pt x="115294" y="126999"/>
                  </a:lnTo>
                  <a:lnTo>
                    <a:pt x="111124" y="126999"/>
                  </a:lnTo>
                  <a:lnTo>
                    <a:pt x="106955" y="126999"/>
                  </a:lnTo>
                  <a:lnTo>
                    <a:pt x="69171" y="111349"/>
                  </a:lnTo>
                  <a:lnTo>
                    <a:pt x="66223" y="108401"/>
                  </a:lnTo>
                  <a:lnTo>
                    <a:pt x="63275" y="105453"/>
                  </a:lnTo>
                  <a:lnTo>
                    <a:pt x="60643" y="102245"/>
                  </a:lnTo>
                  <a:lnTo>
                    <a:pt x="58326" y="98778"/>
                  </a:lnTo>
                  <a:lnTo>
                    <a:pt x="56010" y="95311"/>
                  </a:lnTo>
                  <a:lnTo>
                    <a:pt x="48845" y="75888"/>
                  </a:lnTo>
                  <a:lnTo>
                    <a:pt x="48031" y="71798"/>
                  </a:lnTo>
                  <a:lnTo>
                    <a:pt x="47624" y="67669"/>
                  </a:lnTo>
                  <a:lnTo>
                    <a:pt x="47624" y="63499"/>
                  </a:lnTo>
                  <a:lnTo>
                    <a:pt x="47624" y="59330"/>
                  </a:lnTo>
                  <a:lnTo>
                    <a:pt x="48031" y="55201"/>
                  </a:lnTo>
                  <a:lnTo>
                    <a:pt x="48845" y="51111"/>
                  </a:lnTo>
                  <a:lnTo>
                    <a:pt x="49658" y="47022"/>
                  </a:lnTo>
                  <a:lnTo>
                    <a:pt x="66223" y="18598"/>
                  </a:lnTo>
                  <a:lnTo>
                    <a:pt x="69171" y="15650"/>
                  </a:lnTo>
                  <a:lnTo>
                    <a:pt x="98736" y="1220"/>
                  </a:lnTo>
                  <a:lnTo>
                    <a:pt x="102826" y="406"/>
                  </a:lnTo>
                  <a:lnTo>
                    <a:pt x="106955" y="0"/>
                  </a:lnTo>
                  <a:lnTo>
                    <a:pt x="111124" y="0"/>
                  </a:lnTo>
                  <a:lnTo>
                    <a:pt x="115294" y="0"/>
                  </a:lnTo>
                  <a:lnTo>
                    <a:pt x="135425" y="4833"/>
                  </a:lnTo>
                  <a:lnTo>
                    <a:pt x="139277" y="6429"/>
                  </a:lnTo>
                  <a:lnTo>
                    <a:pt x="156026" y="18598"/>
                  </a:lnTo>
                  <a:lnTo>
                    <a:pt x="158974" y="21546"/>
                  </a:lnTo>
                  <a:lnTo>
                    <a:pt x="174624" y="59330"/>
                  </a:lnTo>
                  <a:lnTo>
                    <a:pt x="174624" y="63499"/>
                  </a:lnTo>
                  <a:close/>
                </a:path>
                <a:path w="317500" h="285750">
                  <a:moveTo>
                    <a:pt x="317499" y="285749"/>
                  </a:moveTo>
                  <a:lnTo>
                    <a:pt x="317499" y="253999"/>
                  </a:lnTo>
                  <a:lnTo>
                    <a:pt x="317494" y="246965"/>
                  </a:lnTo>
                  <a:lnTo>
                    <a:pt x="316352" y="240120"/>
                  </a:lnTo>
                  <a:lnTo>
                    <a:pt x="314071" y="233465"/>
                  </a:lnTo>
                  <a:lnTo>
                    <a:pt x="311791" y="226810"/>
                  </a:lnTo>
                  <a:lnTo>
                    <a:pt x="283030" y="197135"/>
                  </a:lnTo>
                  <a:lnTo>
                    <a:pt x="276686" y="194322"/>
                  </a:lnTo>
                  <a:lnTo>
                    <a:pt x="269874" y="192563"/>
                  </a:lnTo>
                </a:path>
                <a:path w="317500" h="285750">
                  <a:moveTo>
                    <a:pt x="222249" y="2063"/>
                  </a:moveTo>
                  <a:lnTo>
                    <a:pt x="229079" y="3812"/>
                  </a:lnTo>
                  <a:lnTo>
                    <a:pt x="235441" y="6620"/>
                  </a:lnTo>
                  <a:lnTo>
                    <a:pt x="241335" y="10488"/>
                  </a:lnTo>
                  <a:lnTo>
                    <a:pt x="247229" y="14355"/>
                  </a:lnTo>
                  <a:lnTo>
                    <a:pt x="252338" y="19073"/>
                  </a:lnTo>
                  <a:lnTo>
                    <a:pt x="256661" y="24642"/>
                  </a:lnTo>
                  <a:lnTo>
                    <a:pt x="260983" y="30211"/>
                  </a:lnTo>
                  <a:lnTo>
                    <a:pt x="269999" y="63579"/>
                  </a:lnTo>
                  <a:lnTo>
                    <a:pt x="269999" y="70629"/>
                  </a:lnTo>
                  <a:lnTo>
                    <a:pt x="256661" y="102515"/>
                  </a:lnTo>
                  <a:lnTo>
                    <a:pt x="252338" y="108084"/>
                  </a:lnTo>
                  <a:lnTo>
                    <a:pt x="247229" y="112803"/>
                  </a:lnTo>
                  <a:lnTo>
                    <a:pt x="241335" y="116670"/>
                  </a:lnTo>
                  <a:lnTo>
                    <a:pt x="235441" y="120538"/>
                  </a:lnTo>
                  <a:lnTo>
                    <a:pt x="229079" y="123346"/>
                  </a:lnTo>
                  <a:lnTo>
                    <a:pt x="222249" y="125094"/>
                  </a:lnTo>
                </a:path>
              </a:pathLst>
            </a:custGeom>
            <a:ln w="3174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3750925" y="3200089"/>
            <a:ext cx="1825625" cy="114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720"/>
              </a:lnSpc>
              <a:spcBef>
                <a:spcPts val="100"/>
              </a:spcBef>
            </a:pPr>
            <a:r>
              <a:rPr sz="3950" b="1" spc="135" dirty="0">
                <a:solidFill>
                  <a:srgbClr val="FFFFFF"/>
                </a:solidFill>
                <a:latin typeface="Times New Roman"/>
                <a:cs typeface="Times New Roman"/>
              </a:rPr>
              <a:t>500+</a:t>
            </a: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ts val="1960"/>
              </a:lnSpc>
            </a:pPr>
            <a:r>
              <a:rPr sz="1650" spc="-25" dirty="0">
                <a:solidFill>
                  <a:srgbClr val="FFFFFF"/>
                </a:solidFill>
                <a:latin typeface="Times New Roman"/>
                <a:cs typeface="Times New Roman"/>
              </a:rPr>
              <a:t>Artisans</a:t>
            </a:r>
            <a:r>
              <a:rPr sz="16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FFFFFF"/>
                </a:solidFill>
                <a:latin typeface="Times New Roman"/>
                <a:cs typeface="Times New Roman"/>
              </a:rPr>
              <a:t>Onboarded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13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9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13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months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372599" y="4667249"/>
            <a:ext cx="4076700" cy="1809750"/>
            <a:chOff x="9372599" y="4667249"/>
            <a:chExt cx="4076700" cy="1809750"/>
          </a:xfrm>
        </p:grpSpPr>
        <p:sp>
          <p:nvSpPr>
            <p:cNvPr id="23" name="object 23"/>
            <p:cNvSpPr/>
            <p:nvPr/>
          </p:nvSpPr>
          <p:spPr>
            <a:xfrm>
              <a:off x="9372599" y="4667249"/>
              <a:ext cx="4076700" cy="1809750"/>
            </a:xfrm>
            <a:custGeom>
              <a:avLst/>
              <a:gdLst/>
              <a:ahLst/>
              <a:cxnLst/>
              <a:rect l="l" t="t" r="r" b="b"/>
              <a:pathLst>
                <a:path w="4076700" h="1809750">
                  <a:moveTo>
                    <a:pt x="4000500" y="1809750"/>
                  </a:moveTo>
                  <a:lnTo>
                    <a:pt x="76200" y="1809750"/>
                  </a:lnTo>
                  <a:lnTo>
                    <a:pt x="68693" y="1809387"/>
                  </a:lnTo>
                  <a:lnTo>
                    <a:pt x="27882" y="1792483"/>
                  </a:lnTo>
                  <a:lnTo>
                    <a:pt x="3262" y="1755636"/>
                  </a:lnTo>
                  <a:lnTo>
                    <a:pt x="0" y="17335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200" y="0"/>
                  </a:lnTo>
                  <a:lnTo>
                    <a:pt x="4000500" y="0"/>
                  </a:lnTo>
                  <a:lnTo>
                    <a:pt x="4042841" y="12829"/>
                  </a:lnTo>
                  <a:lnTo>
                    <a:pt x="4070899" y="47039"/>
                  </a:lnTo>
                  <a:lnTo>
                    <a:pt x="4076700" y="76200"/>
                  </a:lnTo>
                  <a:lnTo>
                    <a:pt x="4076700" y="1733550"/>
                  </a:lnTo>
                  <a:lnTo>
                    <a:pt x="4063868" y="1775891"/>
                  </a:lnTo>
                  <a:lnTo>
                    <a:pt x="4029659" y="1803949"/>
                  </a:lnTo>
                  <a:lnTo>
                    <a:pt x="4000500" y="18097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9372599" y="4667249"/>
              <a:ext cx="4076700" cy="1809750"/>
            </a:xfrm>
            <a:custGeom>
              <a:avLst/>
              <a:gdLst/>
              <a:ahLst/>
              <a:cxnLst/>
              <a:rect l="l" t="t" r="r" b="b"/>
              <a:pathLst>
                <a:path w="4076700" h="1809750">
                  <a:moveTo>
                    <a:pt x="4000499" y="1809749"/>
                  </a:moveTo>
                  <a:lnTo>
                    <a:pt x="76199" y="1809749"/>
                  </a:lnTo>
                  <a:lnTo>
                    <a:pt x="68693" y="1809387"/>
                  </a:lnTo>
                  <a:lnTo>
                    <a:pt x="27882" y="1792483"/>
                  </a:lnTo>
                  <a:lnTo>
                    <a:pt x="3262" y="1755636"/>
                  </a:lnTo>
                  <a:lnTo>
                    <a:pt x="0" y="17335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4000499" y="0"/>
                  </a:lnTo>
                  <a:lnTo>
                    <a:pt x="40373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737928"/>
                  </a:lnTo>
                  <a:lnTo>
                    <a:pt x="23194" y="1774232"/>
                  </a:lnTo>
                  <a:lnTo>
                    <a:pt x="54729" y="1796824"/>
                  </a:lnTo>
                  <a:lnTo>
                    <a:pt x="71822" y="1800225"/>
                  </a:lnTo>
                  <a:lnTo>
                    <a:pt x="4037318" y="1800225"/>
                  </a:lnTo>
                  <a:lnTo>
                    <a:pt x="4036455" y="1800741"/>
                  </a:lnTo>
                  <a:lnTo>
                    <a:pt x="4029658" y="1803949"/>
                  </a:lnTo>
                  <a:lnTo>
                    <a:pt x="4022585" y="1806487"/>
                  </a:lnTo>
                  <a:lnTo>
                    <a:pt x="4015367" y="1808300"/>
                  </a:lnTo>
                  <a:lnTo>
                    <a:pt x="4008005" y="1809387"/>
                  </a:lnTo>
                  <a:lnTo>
                    <a:pt x="4000499" y="1809749"/>
                  </a:lnTo>
                  <a:close/>
                </a:path>
                <a:path w="4076700" h="1809750">
                  <a:moveTo>
                    <a:pt x="4037318" y="1800225"/>
                  </a:moveTo>
                  <a:lnTo>
                    <a:pt x="4004878" y="1800225"/>
                  </a:lnTo>
                  <a:lnTo>
                    <a:pt x="4009214" y="1799797"/>
                  </a:lnTo>
                  <a:lnTo>
                    <a:pt x="4017801" y="1798089"/>
                  </a:lnTo>
                  <a:lnTo>
                    <a:pt x="4050741" y="1777600"/>
                  </a:lnTo>
                  <a:lnTo>
                    <a:pt x="4066748" y="1742263"/>
                  </a:lnTo>
                  <a:lnTo>
                    <a:pt x="4067175" y="1737928"/>
                  </a:lnTo>
                  <a:lnTo>
                    <a:pt x="4067175" y="71822"/>
                  </a:lnTo>
                  <a:lnTo>
                    <a:pt x="4053506" y="35517"/>
                  </a:lnTo>
                  <a:lnTo>
                    <a:pt x="4021655" y="12829"/>
                  </a:lnTo>
                  <a:lnTo>
                    <a:pt x="4004878" y="9525"/>
                  </a:lnTo>
                  <a:lnTo>
                    <a:pt x="4037320" y="9525"/>
                  </a:lnTo>
                  <a:lnTo>
                    <a:pt x="4067690" y="40242"/>
                  </a:lnTo>
                  <a:lnTo>
                    <a:pt x="4076699" y="76199"/>
                  </a:lnTo>
                  <a:lnTo>
                    <a:pt x="4076699" y="1733549"/>
                  </a:lnTo>
                  <a:lnTo>
                    <a:pt x="4063868" y="1775891"/>
                  </a:lnTo>
                  <a:lnTo>
                    <a:pt x="4042969" y="1796824"/>
                  </a:lnTo>
                  <a:lnTo>
                    <a:pt x="4037318" y="1800225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9566274" y="4860924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317499" y="158749"/>
                  </a:moveTo>
                  <a:lnTo>
                    <a:pt x="312741" y="197332"/>
                  </a:lnTo>
                  <a:lnTo>
                    <a:pt x="298756" y="233585"/>
                  </a:lnTo>
                  <a:lnTo>
                    <a:pt x="276383" y="265353"/>
                  </a:lnTo>
                  <a:lnTo>
                    <a:pt x="246946" y="290745"/>
                  </a:lnTo>
                  <a:lnTo>
                    <a:pt x="212222" y="308224"/>
                  </a:lnTo>
                  <a:lnTo>
                    <a:pt x="174310" y="316737"/>
                  </a:lnTo>
                  <a:lnTo>
                    <a:pt x="158749" y="317499"/>
                  </a:lnTo>
                  <a:lnTo>
                    <a:pt x="150951" y="317309"/>
                  </a:lnTo>
                  <a:lnTo>
                    <a:pt x="112666" y="310666"/>
                  </a:lnTo>
                  <a:lnTo>
                    <a:pt x="77143" y="294920"/>
                  </a:lnTo>
                  <a:lnTo>
                    <a:pt x="46496" y="271003"/>
                  </a:lnTo>
                  <a:lnTo>
                    <a:pt x="22579" y="240356"/>
                  </a:lnTo>
                  <a:lnTo>
                    <a:pt x="6833" y="204833"/>
                  </a:lnTo>
                  <a:lnTo>
                    <a:pt x="190" y="166548"/>
                  </a:lnTo>
                  <a:lnTo>
                    <a:pt x="0" y="158749"/>
                  </a:lnTo>
                  <a:lnTo>
                    <a:pt x="190" y="150951"/>
                  </a:lnTo>
                  <a:lnTo>
                    <a:pt x="6833" y="112666"/>
                  </a:lnTo>
                  <a:lnTo>
                    <a:pt x="22579" y="77143"/>
                  </a:lnTo>
                  <a:lnTo>
                    <a:pt x="46496" y="46496"/>
                  </a:lnTo>
                  <a:lnTo>
                    <a:pt x="77143" y="22579"/>
                  </a:lnTo>
                  <a:lnTo>
                    <a:pt x="112666" y="6833"/>
                  </a:lnTo>
                  <a:lnTo>
                    <a:pt x="150951" y="190"/>
                  </a:lnTo>
                  <a:lnTo>
                    <a:pt x="158749" y="0"/>
                  </a:lnTo>
                  <a:lnTo>
                    <a:pt x="166548" y="190"/>
                  </a:lnTo>
                  <a:lnTo>
                    <a:pt x="204833" y="6833"/>
                  </a:lnTo>
                  <a:lnTo>
                    <a:pt x="240356" y="22579"/>
                  </a:lnTo>
                  <a:lnTo>
                    <a:pt x="271003" y="46496"/>
                  </a:lnTo>
                  <a:lnTo>
                    <a:pt x="294920" y="77143"/>
                  </a:lnTo>
                  <a:lnTo>
                    <a:pt x="310666" y="112666"/>
                  </a:lnTo>
                  <a:lnTo>
                    <a:pt x="317309" y="150951"/>
                  </a:lnTo>
                  <a:lnTo>
                    <a:pt x="317499" y="158749"/>
                  </a:lnTo>
                  <a:close/>
                </a:path>
                <a:path w="317500" h="317500">
                  <a:moveTo>
                    <a:pt x="158749" y="0"/>
                  </a:moveTo>
                  <a:lnTo>
                    <a:pt x="131736" y="34386"/>
                  </a:lnTo>
                  <a:lnTo>
                    <a:pt x="111713" y="73260"/>
                  </a:lnTo>
                  <a:lnTo>
                    <a:pt x="99403" y="115219"/>
                  </a:lnTo>
                  <a:lnTo>
                    <a:pt x="95249" y="158749"/>
                  </a:lnTo>
                  <a:lnTo>
                    <a:pt x="95509" y="169706"/>
                  </a:lnTo>
                  <a:lnTo>
                    <a:pt x="101730" y="212990"/>
                  </a:lnTo>
                  <a:lnTo>
                    <a:pt x="116024" y="254316"/>
                  </a:lnTo>
                  <a:lnTo>
                    <a:pt x="137874" y="292193"/>
                  </a:lnTo>
                  <a:lnTo>
                    <a:pt x="158749" y="317499"/>
                  </a:lnTo>
                  <a:lnTo>
                    <a:pt x="166118" y="309386"/>
                  </a:lnTo>
                  <a:lnTo>
                    <a:pt x="191464" y="273753"/>
                  </a:lnTo>
                  <a:lnTo>
                    <a:pt x="209614" y="233969"/>
                  </a:lnTo>
                  <a:lnTo>
                    <a:pt x="219913" y="191471"/>
                  </a:lnTo>
                  <a:lnTo>
                    <a:pt x="222249" y="158749"/>
                  </a:lnTo>
                  <a:lnTo>
                    <a:pt x="221990" y="147793"/>
                  </a:lnTo>
                  <a:lnTo>
                    <a:pt x="215769" y="104509"/>
                  </a:lnTo>
                  <a:lnTo>
                    <a:pt x="201475" y="63183"/>
                  </a:lnTo>
                  <a:lnTo>
                    <a:pt x="179625" y="25306"/>
                  </a:lnTo>
                  <a:lnTo>
                    <a:pt x="158749" y="0"/>
                  </a:lnTo>
                </a:path>
                <a:path w="317500" h="317500">
                  <a:moveTo>
                    <a:pt x="0" y="158749"/>
                  </a:moveTo>
                  <a:lnTo>
                    <a:pt x="317499" y="158749"/>
                  </a:lnTo>
                </a:path>
              </a:pathLst>
            </a:custGeom>
            <a:ln w="31749">
              <a:solidFill>
                <a:srgbClr val="A754F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521825" y="5162239"/>
            <a:ext cx="1740535" cy="114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720"/>
              </a:lnSpc>
              <a:spcBef>
                <a:spcPts val="100"/>
              </a:spcBef>
            </a:pPr>
            <a:r>
              <a:rPr sz="3950" b="1" spc="-335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ts val="1960"/>
              </a:lnSpc>
            </a:pPr>
            <a:r>
              <a:rPr sz="1650" spc="-25" dirty="0">
                <a:solidFill>
                  <a:srgbClr val="FFFFFF"/>
                </a:solidFill>
                <a:latin typeface="Times New Roman"/>
                <a:cs typeface="Times New Roman"/>
              </a:rPr>
              <a:t>Countries</a:t>
            </a:r>
            <a:r>
              <a:rPr sz="165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40" dirty="0">
                <a:solidFill>
                  <a:srgbClr val="FFFFFF"/>
                </a:solidFill>
                <a:latin typeface="Times New Roman"/>
                <a:cs typeface="Times New Roman"/>
              </a:rPr>
              <a:t>Reached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13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presence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3601698" y="4667249"/>
            <a:ext cx="4076700" cy="1809750"/>
            <a:chOff x="13601698" y="4667249"/>
            <a:chExt cx="4076700" cy="1809750"/>
          </a:xfrm>
        </p:grpSpPr>
        <p:sp>
          <p:nvSpPr>
            <p:cNvPr id="28" name="object 28"/>
            <p:cNvSpPr/>
            <p:nvPr/>
          </p:nvSpPr>
          <p:spPr>
            <a:xfrm>
              <a:off x="13601699" y="4667249"/>
              <a:ext cx="4076700" cy="1809750"/>
            </a:xfrm>
            <a:custGeom>
              <a:avLst/>
              <a:gdLst/>
              <a:ahLst/>
              <a:cxnLst/>
              <a:rect l="l" t="t" r="r" b="b"/>
              <a:pathLst>
                <a:path w="4076700" h="1809750">
                  <a:moveTo>
                    <a:pt x="4000500" y="1809750"/>
                  </a:moveTo>
                  <a:lnTo>
                    <a:pt x="76200" y="1809750"/>
                  </a:lnTo>
                  <a:lnTo>
                    <a:pt x="68692" y="1809387"/>
                  </a:lnTo>
                  <a:lnTo>
                    <a:pt x="27881" y="1792483"/>
                  </a:lnTo>
                  <a:lnTo>
                    <a:pt x="3261" y="1755636"/>
                  </a:lnTo>
                  <a:lnTo>
                    <a:pt x="0" y="1733550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799"/>
                  </a:lnTo>
                  <a:lnTo>
                    <a:pt x="76200" y="0"/>
                  </a:lnTo>
                  <a:lnTo>
                    <a:pt x="4000500" y="0"/>
                  </a:lnTo>
                  <a:lnTo>
                    <a:pt x="4042839" y="12829"/>
                  </a:lnTo>
                  <a:lnTo>
                    <a:pt x="4070896" y="47039"/>
                  </a:lnTo>
                  <a:lnTo>
                    <a:pt x="4076700" y="76200"/>
                  </a:lnTo>
                  <a:lnTo>
                    <a:pt x="4076700" y="1733550"/>
                  </a:lnTo>
                  <a:lnTo>
                    <a:pt x="4063866" y="1775891"/>
                  </a:lnTo>
                  <a:lnTo>
                    <a:pt x="4029657" y="1803949"/>
                  </a:lnTo>
                  <a:lnTo>
                    <a:pt x="4000500" y="18097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3601698" y="4667249"/>
              <a:ext cx="4076700" cy="1809750"/>
            </a:xfrm>
            <a:custGeom>
              <a:avLst/>
              <a:gdLst/>
              <a:ahLst/>
              <a:cxnLst/>
              <a:rect l="l" t="t" r="r" b="b"/>
              <a:pathLst>
                <a:path w="4076700" h="1809750">
                  <a:moveTo>
                    <a:pt x="4000499" y="1809749"/>
                  </a:moveTo>
                  <a:lnTo>
                    <a:pt x="76199" y="1809749"/>
                  </a:lnTo>
                  <a:lnTo>
                    <a:pt x="68692" y="1809387"/>
                  </a:lnTo>
                  <a:lnTo>
                    <a:pt x="27881" y="1792483"/>
                  </a:lnTo>
                  <a:lnTo>
                    <a:pt x="3261" y="1755636"/>
                  </a:lnTo>
                  <a:lnTo>
                    <a:pt x="0" y="1733549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799"/>
                  </a:lnTo>
                  <a:lnTo>
                    <a:pt x="76199" y="0"/>
                  </a:lnTo>
                  <a:lnTo>
                    <a:pt x="4000499" y="0"/>
                  </a:lnTo>
                  <a:lnTo>
                    <a:pt x="4037318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737928"/>
                  </a:lnTo>
                  <a:lnTo>
                    <a:pt x="23194" y="1774232"/>
                  </a:lnTo>
                  <a:lnTo>
                    <a:pt x="54729" y="1796824"/>
                  </a:lnTo>
                  <a:lnTo>
                    <a:pt x="71822" y="1800225"/>
                  </a:lnTo>
                  <a:lnTo>
                    <a:pt x="4037317" y="1800225"/>
                  </a:lnTo>
                  <a:lnTo>
                    <a:pt x="4036453" y="1800741"/>
                  </a:lnTo>
                  <a:lnTo>
                    <a:pt x="4029657" y="1803949"/>
                  </a:lnTo>
                  <a:lnTo>
                    <a:pt x="4022584" y="1806487"/>
                  </a:lnTo>
                  <a:lnTo>
                    <a:pt x="4015367" y="1808300"/>
                  </a:lnTo>
                  <a:lnTo>
                    <a:pt x="4008005" y="1809387"/>
                  </a:lnTo>
                  <a:lnTo>
                    <a:pt x="4000499" y="1809749"/>
                  </a:lnTo>
                  <a:close/>
                </a:path>
                <a:path w="4076700" h="1809750">
                  <a:moveTo>
                    <a:pt x="4037317" y="1800225"/>
                  </a:moveTo>
                  <a:lnTo>
                    <a:pt x="4004878" y="1800225"/>
                  </a:lnTo>
                  <a:lnTo>
                    <a:pt x="4009213" y="1799797"/>
                  </a:lnTo>
                  <a:lnTo>
                    <a:pt x="4017801" y="1798089"/>
                  </a:lnTo>
                  <a:lnTo>
                    <a:pt x="4050741" y="1777600"/>
                  </a:lnTo>
                  <a:lnTo>
                    <a:pt x="4066747" y="1742263"/>
                  </a:lnTo>
                  <a:lnTo>
                    <a:pt x="4067174" y="1737928"/>
                  </a:lnTo>
                  <a:lnTo>
                    <a:pt x="4067174" y="71822"/>
                  </a:lnTo>
                  <a:lnTo>
                    <a:pt x="4053505" y="35517"/>
                  </a:lnTo>
                  <a:lnTo>
                    <a:pt x="4021655" y="12829"/>
                  </a:lnTo>
                  <a:lnTo>
                    <a:pt x="4004878" y="9525"/>
                  </a:lnTo>
                  <a:lnTo>
                    <a:pt x="4037318" y="9525"/>
                  </a:lnTo>
                  <a:lnTo>
                    <a:pt x="4067688" y="40242"/>
                  </a:lnTo>
                  <a:lnTo>
                    <a:pt x="4076699" y="76199"/>
                  </a:lnTo>
                  <a:lnTo>
                    <a:pt x="4076699" y="1733549"/>
                  </a:lnTo>
                  <a:lnTo>
                    <a:pt x="4063866" y="1775891"/>
                  </a:lnTo>
                  <a:lnTo>
                    <a:pt x="4042967" y="1796824"/>
                  </a:lnTo>
                  <a:lnTo>
                    <a:pt x="4037317" y="1800225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3811249" y="4860957"/>
              <a:ext cx="285750" cy="317500"/>
            </a:xfrm>
            <a:custGeom>
              <a:avLst/>
              <a:gdLst/>
              <a:ahLst/>
              <a:cxnLst/>
              <a:rect l="l" t="t" r="r" b="b"/>
              <a:pathLst>
                <a:path w="285750" h="317500">
                  <a:moveTo>
                    <a:pt x="71437" y="36003"/>
                  </a:moveTo>
                  <a:lnTo>
                    <a:pt x="214312" y="117759"/>
                  </a:lnTo>
                </a:path>
                <a:path w="285750" h="317500">
                  <a:moveTo>
                    <a:pt x="285749" y="95217"/>
                  </a:moveTo>
                  <a:lnTo>
                    <a:pt x="158749" y="4253"/>
                  </a:lnTo>
                  <a:lnTo>
                    <a:pt x="153838" y="1417"/>
                  </a:lnTo>
                  <a:lnTo>
                    <a:pt x="148546" y="0"/>
                  </a:lnTo>
                  <a:lnTo>
                    <a:pt x="142874" y="0"/>
                  </a:lnTo>
                  <a:lnTo>
                    <a:pt x="137203" y="0"/>
                  </a:lnTo>
                  <a:lnTo>
                    <a:pt x="131911" y="1417"/>
                  </a:lnTo>
                  <a:lnTo>
                    <a:pt x="126999" y="4253"/>
                  </a:lnTo>
                  <a:lnTo>
                    <a:pt x="15874" y="67753"/>
                  </a:lnTo>
                  <a:lnTo>
                    <a:pt x="10968" y="70586"/>
                  </a:lnTo>
                  <a:lnTo>
                    <a:pt x="7097" y="74455"/>
                  </a:lnTo>
                  <a:lnTo>
                    <a:pt x="4261" y="79360"/>
                  </a:lnTo>
                  <a:lnTo>
                    <a:pt x="1426" y="84266"/>
                  </a:lnTo>
                  <a:lnTo>
                    <a:pt x="5" y="89551"/>
                  </a:lnTo>
                  <a:lnTo>
                    <a:pt x="0" y="95217"/>
                  </a:lnTo>
                  <a:lnTo>
                    <a:pt x="0" y="222217"/>
                  </a:lnTo>
                  <a:lnTo>
                    <a:pt x="126999" y="313181"/>
                  </a:lnTo>
                  <a:lnTo>
                    <a:pt x="131911" y="316016"/>
                  </a:lnTo>
                  <a:lnTo>
                    <a:pt x="137203" y="317434"/>
                  </a:lnTo>
                  <a:lnTo>
                    <a:pt x="142874" y="317434"/>
                  </a:lnTo>
                  <a:lnTo>
                    <a:pt x="148546" y="317434"/>
                  </a:lnTo>
                  <a:lnTo>
                    <a:pt x="153838" y="316016"/>
                  </a:lnTo>
                  <a:lnTo>
                    <a:pt x="158749" y="313181"/>
                  </a:lnTo>
                  <a:lnTo>
                    <a:pt x="269874" y="249681"/>
                  </a:lnTo>
                  <a:lnTo>
                    <a:pt x="285749" y="222217"/>
                  </a:lnTo>
                  <a:lnTo>
                    <a:pt x="285749" y="95217"/>
                  </a:lnTo>
                  <a:close/>
                </a:path>
                <a:path w="285750" h="317500">
                  <a:moveTo>
                    <a:pt x="4762" y="79342"/>
                  </a:moveTo>
                  <a:lnTo>
                    <a:pt x="142874" y="158717"/>
                  </a:lnTo>
                  <a:lnTo>
                    <a:pt x="280987" y="79342"/>
                  </a:lnTo>
                </a:path>
                <a:path w="285750" h="317500">
                  <a:moveTo>
                    <a:pt x="142874" y="317467"/>
                  </a:moveTo>
                  <a:lnTo>
                    <a:pt x="142874" y="158717"/>
                  </a:lnTo>
                </a:path>
              </a:pathLst>
            </a:custGeom>
            <a:ln w="31749">
              <a:solidFill>
                <a:srgbClr val="F9731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3750925" y="5162239"/>
            <a:ext cx="1395095" cy="114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720"/>
              </a:lnSpc>
              <a:spcBef>
                <a:spcPts val="100"/>
              </a:spcBef>
            </a:pPr>
            <a:r>
              <a:rPr sz="3950" b="1" spc="110" dirty="0">
                <a:solidFill>
                  <a:srgbClr val="FFFFFF"/>
                </a:solidFill>
                <a:latin typeface="Times New Roman"/>
                <a:cs typeface="Times New Roman"/>
              </a:rPr>
              <a:t>2,500</a:t>
            </a: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ts val="1960"/>
              </a:lnSpc>
            </a:pPr>
            <a:r>
              <a:rPr sz="1650" spc="-35" dirty="0">
                <a:solidFill>
                  <a:srgbClr val="FFFFFF"/>
                </a:solidFill>
                <a:latin typeface="Times New Roman"/>
                <a:cs typeface="Times New Roman"/>
              </a:rPr>
              <a:t>Orders</a:t>
            </a:r>
            <a:r>
              <a:rPr sz="165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Fulfilled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300" spc="-50" dirty="0">
                <a:solidFill>
                  <a:srgbClr val="FFFFFF"/>
                </a:solidFill>
                <a:latin typeface="Times New Roman"/>
                <a:cs typeface="Times New Roman"/>
              </a:rPr>
              <a:t>Year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7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3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projection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372599" y="6705600"/>
            <a:ext cx="8305800" cy="2438400"/>
            <a:chOff x="9372599" y="6705600"/>
            <a:chExt cx="8305800" cy="2438400"/>
          </a:xfrm>
        </p:grpSpPr>
        <p:sp>
          <p:nvSpPr>
            <p:cNvPr id="33" name="object 33"/>
            <p:cNvSpPr/>
            <p:nvPr/>
          </p:nvSpPr>
          <p:spPr>
            <a:xfrm>
              <a:off x="9372599" y="6705600"/>
              <a:ext cx="8305800" cy="2438400"/>
            </a:xfrm>
            <a:custGeom>
              <a:avLst/>
              <a:gdLst/>
              <a:ahLst/>
              <a:cxnLst/>
              <a:rect l="l" t="t" r="r" b="b"/>
              <a:pathLst>
                <a:path w="8305800" h="2438400">
                  <a:moveTo>
                    <a:pt x="8191500" y="2438400"/>
                  </a:moveTo>
                  <a:lnTo>
                    <a:pt x="114300" y="2438400"/>
                  </a:lnTo>
                  <a:lnTo>
                    <a:pt x="103040" y="2437855"/>
                  </a:lnTo>
                  <a:lnTo>
                    <a:pt x="60364" y="2424887"/>
                  </a:lnTo>
                  <a:lnTo>
                    <a:pt x="25900" y="2396575"/>
                  </a:lnTo>
                  <a:lnTo>
                    <a:pt x="4893" y="2357229"/>
                  </a:lnTo>
                  <a:lnTo>
                    <a:pt x="0" y="2324100"/>
                  </a:lnTo>
                  <a:lnTo>
                    <a:pt x="0" y="114300"/>
                  </a:lnTo>
                  <a:lnTo>
                    <a:pt x="8699" y="70558"/>
                  </a:lnTo>
                  <a:lnTo>
                    <a:pt x="33477" y="33476"/>
                  </a:lnTo>
                  <a:lnTo>
                    <a:pt x="70556" y="8700"/>
                  </a:lnTo>
                  <a:lnTo>
                    <a:pt x="114300" y="0"/>
                  </a:lnTo>
                  <a:lnTo>
                    <a:pt x="8191500" y="0"/>
                  </a:lnTo>
                  <a:lnTo>
                    <a:pt x="8235238" y="8700"/>
                  </a:lnTo>
                  <a:lnTo>
                    <a:pt x="8272320" y="33476"/>
                  </a:lnTo>
                  <a:lnTo>
                    <a:pt x="8297097" y="70558"/>
                  </a:lnTo>
                  <a:lnTo>
                    <a:pt x="8305800" y="114300"/>
                  </a:lnTo>
                  <a:lnTo>
                    <a:pt x="8305800" y="2324100"/>
                  </a:lnTo>
                  <a:lnTo>
                    <a:pt x="8297097" y="2367840"/>
                  </a:lnTo>
                  <a:lnTo>
                    <a:pt x="8272320" y="2404922"/>
                  </a:lnTo>
                  <a:lnTo>
                    <a:pt x="8235235" y="2429698"/>
                  </a:lnTo>
                  <a:lnTo>
                    <a:pt x="8191500" y="243840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9372599" y="6705600"/>
              <a:ext cx="8305800" cy="2438400"/>
            </a:xfrm>
            <a:custGeom>
              <a:avLst/>
              <a:gdLst/>
              <a:ahLst/>
              <a:cxnLst/>
              <a:rect l="l" t="t" r="r" b="b"/>
              <a:pathLst>
                <a:path w="8305800" h="2438400">
                  <a:moveTo>
                    <a:pt x="8191499" y="2438399"/>
                  </a:moveTo>
                  <a:lnTo>
                    <a:pt x="114299" y="2438399"/>
                  </a:lnTo>
                  <a:lnTo>
                    <a:pt x="103040" y="2437855"/>
                  </a:lnTo>
                  <a:lnTo>
                    <a:pt x="60364" y="2424887"/>
                  </a:lnTo>
                  <a:lnTo>
                    <a:pt x="25900" y="2396575"/>
                  </a:lnTo>
                  <a:lnTo>
                    <a:pt x="4893" y="2357229"/>
                  </a:lnTo>
                  <a:lnTo>
                    <a:pt x="0" y="114299"/>
                  </a:lnTo>
                  <a:lnTo>
                    <a:pt x="543" y="103039"/>
                  </a:lnTo>
                  <a:lnTo>
                    <a:pt x="13511" y="60363"/>
                  </a:lnTo>
                  <a:lnTo>
                    <a:pt x="41823" y="25899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8191499" y="0"/>
                  </a:lnTo>
                  <a:lnTo>
                    <a:pt x="8235237" y="8700"/>
                  </a:lnTo>
                  <a:lnTo>
                    <a:pt x="8236984" y="9525"/>
                  </a:lnTo>
                  <a:lnTo>
                    <a:pt x="107420" y="9525"/>
                  </a:lnTo>
                  <a:lnTo>
                    <a:pt x="100607" y="10196"/>
                  </a:lnTo>
                  <a:lnTo>
                    <a:pt x="61810" y="23360"/>
                  </a:lnTo>
                  <a:lnTo>
                    <a:pt x="31005" y="50370"/>
                  </a:lnTo>
                  <a:lnTo>
                    <a:pt x="12880" y="87112"/>
                  </a:lnTo>
                  <a:lnTo>
                    <a:pt x="9525" y="107420"/>
                  </a:lnTo>
                  <a:lnTo>
                    <a:pt x="9525" y="2330979"/>
                  </a:lnTo>
                  <a:lnTo>
                    <a:pt x="20133" y="2370551"/>
                  </a:lnTo>
                  <a:lnTo>
                    <a:pt x="45077" y="2403051"/>
                  </a:lnTo>
                  <a:lnTo>
                    <a:pt x="80560" y="2423531"/>
                  </a:lnTo>
                  <a:lnTo>
                    <a:pt x="107420" y="2428874"/>
                  </a:lnTo>
                  <a:lnTo>
                    <a:pt x="8236981" y="2428874"/>
                  </a:lnTo>
                  <a:lnTo>
                    <a:pt x="8235235" y="2429698"/>
                  </a:lnTo>
                  <a:lnTo>
                    <a:pt x="8224623" y="2433505"/>
                  </a:lnTo>
                  <a:lnTo>
                    <a:pt x="8213796" y="2436224"/>
                  </a:lnTo>
                  <a:lnTo>
                    <a:pt x="8202754" y="2437855"/>
                  </a:lnTo>
                  <a:lnTo>
                    <a:pt x="8191499" y="2438399"/>
                  </a:lnTo>
                  <a:close/>
                </a:path>
                <a:path w="8305800" h="2438400">
                  <a:moveTo>
                    <a:pt x="8236981" y="2428874"/>
                  </a:moveTo>
                  <a:lnTo>
                    <a:pt x="8198379" y="2428874"/>
                  </a:lnTo>
                  <a:lnTo>
                    <a:pt x="8205193" y="2428203"/>
                  </a:lnTo>
                  <a:lnTo>
                    <a:pt x="8218688" y="2425519"/>
                  </a:lnTo>
                  <a:lnTo>
                    <a:pt x="8255428" y="2407394"/>
                  </a:lnTo>
                  <a:lnTo>
                    <a:pt x="8282438" y="2376589"/>
                  </a:lnTo>
                  <a:lnTo>
                    <a:pt x="8295603" y="2337793"/>
                  </a:lnTo>
                  <a:lnTo>
                    <a:pt x="8296274" y="2330979"/>
                  </a:lnTo>
                  <a:lnTo>
                    <a:pt x="8296274" y="107420"/>
                  </a:lnTo>
                  <a:lnTo>
                    <a:pt x="8285666" y="67848"/>
                  </a:lnTo>
                  <a:lnTo>
                    <a:pt x="8260722" y="35348"/>
                  </a:lnTo>
                  <a:lnTo>
                    <a:pt x="8225239" y="14867"/>
                  </a:lnTo>
                  <a:lnTo>
                    <a:pt x="8198379" y="9525"/>
                  </a:lnTo>
                  <a:lnTo>
                    <a:pt x="8236984" y="9525"/>
                  </a:lnTo>
                  <a:lnTo>
                    <a:pt x="8272319" y="33476"/>
                  </a:lnTo>
                  <a:lnTo>
                    <a:pt x="8297096" y="70558"/>
                  </a:lnTo>
                  <a:lnTo>
                    <a:pt x="8305799" y="114299"/>
                  </a:lnTo>
                  <a:lnTo>
                    <a:pt x="8305799" y="2324099"/>
                  </a:lnTo>
                  <a:lnTo>
                    <a:pt x="8297096" y="2367839"/>
                  </a:lnTo>
                  <a:lnTo>
                    <a:pt x="8272319" y="2404921"/>
                  </a:lnTo>
                  <a:lnTo>
                    <a:pt x="8245430" y="2424887"/>
                  </a:lnTo>
                  <a:lnTo>
                    <a:pt x="8236981" y="2428874"/>
                  </a:lnTo>
                  <a:close/>
                </a:path>
              </a:pathLst>
            </a:custGeom>
            <a:solidFill>
              <a:srgbClr val="FA913C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0724" y="6943725"/>
              <a:ext cx="7829549" cy="196214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6264632" y="9894947"/>
            <a:ext cx="1426845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95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13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13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  <a:r>
              <a:rPr sz="13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Metrics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0"/>
            <a:ext cx="18288000" cy="1028700"/>
            <a:chOff x="0" y="0"/>
            <a:chExt cx="18288000" cy="1028700"/>
          </a:xfrm>
        </p:grpSpPr>
        <p:sp>
          <p:nvSpPr>
            <p:cNvPr id="38" name="object 38"/>
            <p:cNvSpPr/>
            <p:nvPr/>
          </p:nvSpPr>
          <p:spPr>
            <a:xfrm>
              <a:off x="0" y="0"/>
              <a:ext cx="18288000" cy="1028700"/>
            </a:xfrm>
            <a:custGeom>
              <a:avLst/>
              <a:gdLst/>
              <a:ahLst/>
              <a:cxnLst/>
              <a:rect l="l" t="t" r="r" b="b"/>
              <a:pathLst>
                <a:path w="18288000" h="1028700">
                  <a:moveTo>
                    <a:pt x="18288000" y="1028700"/>
                  </a:moveTo>
                  <a:lnTo>
                    <a:pt x="0" y="1028700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02870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54050" y="403225"/>
              <a:ext cx="444500" cy="222250"/>
            </a:xfrm>
            <a:custGeom>
              <a:avLst/>
              <a:gdLst/>
              <a:ahLst/>
              <a:cxnLst/>
              <a:rect l="l" t="t" r="r" b="b"/>
              <a:pathLst>
                <a:path w="444500" h="222250">
                  <a:moveTo>
                    <a:pt x="444500" y="0"/>
                  </a:moveTo>
                  <a:lnTo>
                    <a:pt x="255587" y="188912"/>
                  </a:lnTo>
                  <a:lnTo>
                    <a:pt x="144462" y="77787"/>
                  </a:lnTo>
                  <a:lnTo>
                    <a:pt x="0" y="222250"/>
                  </a:lnTo>
                </a:path>
                <a:path w="444500" h="222250">
                  <a:moveTo>
                    <a:pt x="311150" y="0"/>
                  </a:moveTo>
                  <a:lnTo>
                    <a:pt x="444500" y="0"/>
                  </a:lnTo>
                  <a:lnTo>
                    <a:pt x="444500" y="133350"/>
                  </a:lnTo>
                </a:path>
              </a:pathLst>
            </a:custGeom>
            <a:ln w="44450">
              <a:solidFill>
                <a:srgbClr val="12870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1282700" y="63873"/>
            <a:ext cx="6912609" cy="802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9" dirty="0">
                <a:latin typeface="Times New Roman"/>
                <a:cs typeface="Times New Roman"/>
              </a:rPr>
              <a:t>Impact</a:t>
            </a:r>
            <a:r>
              <a:rPr spc="-335" dirty="0">
                <a:latin typeface="Times New Roman"/>
                <a:cs typeface="Times New Roman"/>
              </a:rPr>
              <a:t> </a:t>
            </a:r>
            <a:r>
              <a:rPr sz="4900" spc="-335" dirty="0">
                <a:latin typeface="Times New Roman"/>
                <a:cs typeface="Times New Roman"/>
              </a:rPr>
              <a:t>&amp;</a:t>
            </a:r>
            <a:r>
              <a:rPr sz="4900" spc="-290" dirty="0">
                <a:latin typeface="Times New Roman"/>
                <a:cs typeface="Times New Roman"/>
              </a:rPr>
              <a:t> </a:t>
            </a:r>
            <a:r>
              <a:rPr spc="-315" dirty="0">
                <a:latin typeface="Times New Roman"/>
                <a:cs typeface="Times New Roman"/>
              </a:rPr>
              <a:t>Growth</a:t>
            </a:r>
            <a:r>
              <a:rPr spc="-335" dirty="0">
                <a:latin typeface="Times New Roman"/>
                <a:cs typeface="Times New Roman"/>
              </a:rPr>
              <a:t> </a:t>
            </a:r>
            <a:r>
              <a:rPr spc="-125" dirty="0">
                <a:latin typeface="Times New Roman"/>
                <a:cs typeface="Times New Roman"/>
              </a:rPr>
              <a:t>Metrics</a:t>
            </a:r>
            <a:endParaRPr sz="4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8975" y="1670050"/>
            <a:ext cx="222250" cy="317500"/>
            <a:chOff x="688975" y="1670050"/>
            <a:chExt cx="222250" cy="317500"/>
          </a:xfrm>
        </p:grpSpPr>
        <p:sp>
          <p:nvSpPr>
            <p:cNvPr id="3" name="object 3"/>
            <p:cNvSpPr/>
            <p:nvPr/>
          </p:nvSpPr>
          <p:spPr>
            <a:xfrm>
              <a:off x="800099" y="1670050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h="317500">
                  <a:moveTo>
                    <a:pt x="0" y="0"/>
                  </a:moveTo>
                  <a:lnTo>
                    <a:pt x="0" y="317499"/>
                  </a:lnTo>
                </a:path>
              </a:pathLst>
            </a:custGeom>
            <a:ln w="31749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975" y="1701799"/>
              <a:ext cx="222250" cy="253999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609600" y="2133599"/>
            <a:ext cx="8305800" cy="2762250"/>
            <a:chOff x="609600" y="2133599"/>
            <a:chExt cx="8305800" cy="2762250"/>
          </a:xfrm>
        </p:grpSpPr>
        <p:sp>
          <p:nvSpPr>
            <p:cNvPr id="6" name="object 6"/>
            <p:cNvSpPr/>
            <p:nvPr/>
          </p:nvSpPr>
          <p:spPr>
            <a:xfrm>
              <a:off x="609600" y="2133599"/>
              <a:ext cx="8305800" cy="2762250"/>
            </a:xfrm>
            <a:custGeom>
              <a:avLst/>
              <a:gdLst/>
              <a:ahLst/>
              <a:cxnLst/>
              <a:rect l="l" t="t" r="r" b="b"/>
              <a:pathLst>
                <a:path w="8305800" h="2762250">
                  <a:moveTo>
                    <a:pt x="8191500" y="2762250"/>
                  </a:moveTo>
                  <a:lnTo>
                    <a:pt x="114300" y="2762250"/>
                  </a:lnTo>
                  <a:lnTo>
                    <a:pt x="103040" y="2761706"/>
                  </a:lnTo>
                  <a:lnTo>
                    <a:pt x="60364" y="2748737"/>
                  </a:lnTo>
                  <a:lnTo>
                    <a:pt x="25900" y="2720425"/>
                  </a:lnTo>
                  <a:lnTo>
                    <a:pt x="4893" y="2681079"/>
                  </a:lnTo>
                  <a:lnTo>
                    <a:pt x="0" y="26479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8191500" y="0"/>
                  </a:lnTo>
                  <a:lnTo>
                    <a:pt x="8235238" y="8700"/>
                  </a:lnTo>
                  <a:lnTo>
                    <a:pt x="8272320" y="33477"/>
                  </a:lnTo>
                  <a:lnTo>
                    <a:pt x="8297098" y="70559"/>
                  </a:lnTo>
                  <a:lnTo>
                    <a:pt x="8305800" y="114300"/>
                  </a:lnTo>
                  <a:lnTo>
                    <a:pt x="8305800" y="2647950"/>
                  </a:lnTo>
                  <a:lnTo>
                    <a:pt x="8297098" y="2691690"/>
                  </a:lnTo>
                  <a:lnTo>
                    <a:pt x="8272320" y="2728772"/>
                  </a:lnTo>
                  <a:lnTo>
                    <a:pt x="8235238" y="2753549"/>
                  </a:lnTo>
                  <a:lnTo>
                    <a:pt x="8191500" y="27622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609600" y="2133600"/>
              <a:ext cx="8305800" cy="2762250"/>
            </a:xfrm>
            <a:custGeom>
              <a:avLst/>
              <a:gdLst/>
              <a:ahLst/>
              <a:cxnLst/>
              <a:rect l="l" t="t" r="r" b="b"/>
              <a:pathLst>
                <a:path w="8305800" h="2762250">
                  <a:moveTo>
                    <a:pt x="8191499" y="2762249"/>
                  </a:moveTo>
                  <a:lnTo>
                    <a:pt x="114299" y="2762249"/>
                  </a:lnTo>
                  <a:lnTo>
                    <a:pt x="103040" y="2761705"/>
                  </a:lnTo>
                  <a:lnTo>
                    <a:pt x="60364" y="2748737"/>
                  </a:lnTo>
                  <a:lnTo>
                    <a:pt x="25900" y="2720425"/>
                  </a:lnTo>
                  <a:lnTo>
                    <a:pt x="4893" y="268107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3"/>
                  </a:lnTo>
                  <a:lnTo>
                    <a:pt x="114299" y="0"/>
                  </a:lnTo>
                  <a:lnTo>
                    <a:pt x="8191499" y="0"/>
                  </a:lnTo>
                  <a:lnTo>
                    <a:pt x="8235238" y="8700"/>
                  </a:lnTo>
                  <a:lnTo>
                    <a:pt x="8236985" y="9525"/>
                  </a:lnTo>
                  <a:lnTo>
                    <a:pt x="107420" y="9525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2"/>
                  </a:lnTo>
                  <a:lnTo>
                    <a:pt x="9525" y="107420"/>
                  </a:lnTo>
                  <a:lnTo>
                    <a:pt x="9525" y="2654829"/>
                  </a:lnTo>
                  <a:lnTo>
                    <a:pt x="20133" y="2694401"/>
                  </a:lnTo>
                  <a:lnTo>
                    <a:pt x="45077" y="2726901"/>
                  </a:lnTo>
                  <a:lnTo>
                    <a:pt x="80560" y="2747381"/>
                  </a:lnTo>
                  <a:lnTo>
                    <a:pt x="107420" y="2752724"/>
                  </a:lnTo>
                  <a:lnTo>
                    <a:pt x="8236984" y="2752724"/>
                  </a:lnTo>
                  <a:lnTo>
                    <a:pt x="8235238" y="2753549"/>
                  </a:lnTo>
                  <a:lnTo>
                    <a:pt x="8224628" y="2757355"/>
                  </a:lnTo>
                  <a:lnTo>
                    <a:pt x="8213802" y="2760074"/>
                  </a:lnTo>
                  <a:lnTo>
                    <a:pt x="8202759" y="2761705"/>
                  </a:lnTo>
                  <a:lnTo>
                    <a:pt x="8191499" y="2762249"/>
                  </a:lnTo>
                  <a:close/>
                </a:path>
                <a:path w="8305800" h="2762250">
                  <a:moveTo>
                    <a:pt x="8236984" y="2752724"/>
                  </a:moveTo>
                  <a:lnTo>
                    <a:pt x="8198379" y="2752724"/>
                  </a:lnTo>
                  <a:lnTo>
                    <a:pt x="8205192" y="2752053"/>
                  </a:lnTo>
                  <a:lnTo>
                    <a:pt x="8218687" y="2749369"/>
                  </a:lnTo>
                  <a:lnTo>
                    <a:pt x="8255428" y="2731244"/>
                  </a:lnTo>
                  <a:lnTo>
                    <a:pt x="8282438" y="2700439"/>
                  </a:lnTo>
                  <a:lnTo>
                    <a:pt x="8295602" y="2661643"/>
                  </a:lnTo>
                  <a:lnTo>
                    <a:pt x="8296274" y="2654829"/>
                  </a:lnTo>
                  <a:lnTo>
                    <a:pt x="8296274" y="107420"/>
                  </a:lnTo>
                  <a:lnTo>
                    <a:pt x="8285665" y="67848"/>
                  </a:lnTo>
                  <a:lnTo>
                    <a:pt x="8260722" y="35348"/>
                  </a:lnTo>
                  <a:lnTo>
                    <a:pt x="8225239" y="14867"/>
                  </a:lnTo>
                  <a:lnTo>
                    <a:pt x="8198379" y="9525"/>
                  </a:lnTo>
                  <a:lnTo>
                    <a:pt x="8236985" y="9525"/>
                  </a:lnTo>
                  <a:lnTo>
                    <a:pt x="8272320" y="33477"/>
                  </a:lnTo>
                  <a:lnTo>
                    <a:pt x="8297097" y="70559"/>
                  </a:lnTo>
                  <a:lnTo>
                    <a:pt x="8305799" y="114299"/>
                  </a:lnTo>
                  <a:lnTo>
                    <a:pt x="8305799" y="2647949"/>
                  </a:lnTo>
                  <a:lnTo>
                    <a:pt x="8297097" y="2691690"/>
                  </a:lnTo>
                  <a:lnTo>
                    <a:pt x="8272320" y="2728771"/>
                  </a:lnTo>
                  <a:lnTo>
                    <a:pt x="8245432" y="2748737"/>
                  </a:lnTo>
                  <a:lnTo>
                    <a:pt x="8236984" y="2752724"/>
                  </a:lnTo>
                  <a:close/>
                </a:path>
              </a:pathLst>
            </a:custGeom>
            <a:solidFill>
              <a:srgbClr val="FA913C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5" y="2295524"/>
              <a:ext cx="7981949" cy="243839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09600" y="5010149"/>
            <a:ext cx="8305800" cy="4133850"/>
            <a:chOff x="609600" y="5010149"/>
            <a:chExt cx="8305800" cy="41338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5010149"/>
              <a:ext cx="8305800" cy="4133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9600" y="5010150"/>
              <a:ext cx="8305800" cy="4133850"/>
            </a:xfrm>
            <a:custGeom>
              <a:avLst/>
              <a:gdLst/>
              <a:ahLst/>
              <a:cxnLst/>
              <a:rect l="l" t="t" r="r" b="b"/>
              <a:pathLst>
                <a:path w="8305800" h="4133850">
                  <a:moveTo>
                    <a:pt x="8229599" y="4133849"/>
                  </a:moveTo>
                  <a:lnTo>
                    <a:pt x="76199" y="4133849"/>
                  </a:lnTo>
                  <a:lnTo>
                    <a:pt x="68693" y="4133487"/>
                  </a:lnTo>
                  <a:lnTo>
                    <a:pt x="27882" y="4116582"/>
                  </a:lnTo>
                  <a:lnTo>
                    <a:pt x="3262" y="4079735"/>
                  </a:lnTo>
                  <a:lnTo>
                    <a:pt x="0" y="76199"/>
                  </a:lnTo>
                  <a:lnTo>
                    <a:pt x="362" y="68693"/>
                  </a:lnTo>
                  <a:lnTo>
                    <a:pt x="17266" y="27882"/>
                  </a:lnTo>
                  <a:lnTo>
                    <a:pt x="54113" y="3262"/>
                  </a:lnTo>
                  <a:lnTo>
                    <a:pt x="76199" y="0"/>
                  </a:lnTo>
                  <a:lnTo>
                    <a:pt x="8229599" y="0"/>
                  </a:lnTo>
                  <a:lnTo>
                    <a:pt x="82664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4062027"/>
                  </a:lnTo>
                  <a:lnTo>
                    <a:pt x="9833" y="4065155"/>
                  </a:lnTo>
                  <a:lnTo>
                    <a:pt x="9952" y="4066363"/>
                  </a:lnTo>
                  <a:lnTo>
                    <a:pt x="25957" y="4101700"/>
                  </a:lnTo>
                  <a:lnTo>
                    <a:pt x="58898" y="4122189"/>
                  </a:lnTo>
                  <a:lnTo>
                    <a:pt x="71822" y="4124324"/>
                  </a:lnTo>
                  <a:lnTo>
                    <a:pt x="8266417" y="4124324"/>
                  </a:lnTo>
                  <a:lnTo>
                    <a:pt x="8265554" y="4124841"/>
                  </a:lnTo>
                  <a:lnTo>
                    <a:pt x="8258756" y="4128048"/>
                  </a:lnTo>
                  <a:lnTo>
                    <a:pt x="8251682" y="4130586"/>
                  </a:lnTo>
                  <a:lnTo>
                    <a:pt x="8244464" y="4132399"/>
                  </a:lnTo>
                  <a:lnTo>
                    <a:pt x="8237102" y="4133487"/>
                  </a:lnTo>
                  <a:lnTo>
                    <a:pt x="8229599" y="4133849"/>
                  </a:lnTo>
                  <a:close/>
                </a:path>
                <a:path w="8305800" h="4133850">
                  <a:moveTo>
                    <a:pt x="8266417" y="4124324"/>
                  </a:moveTo>
                  <a:lnTo>
                    <a:pt x="8233977" y="4124324"/>
                  </a:lnTo>
                  <a:lnTo>
                    <a:pt x="8238313" y="4123897"/>
                  </a:lnTo>
                  <a:lnTo>
                    <a:pt x="8246901" y="4122189"/>
                  </a:lnTo>
                  <a:lnTo>
                    <a:pt x="8279841" y="4101700"/>
                  </a:lnTo>
                  <a:lnTo>
                    <a:pt x="8295847" y="4066363"/>
                  </a:lnTo>
                  <a:lnTo>
                    <a:pt x="8296274" y="4062027"/>
                  </a:lnTo>
                  <a:lnTo>
                    <a:pt x="8296274" y="71822"/>
                  </a:lnTo>
                  <a:lnTo>
                    <a:pt x="8295966" y="68693"/>
                  </a:lnTo>
                  <a:lnTo>
                    <a:pt x="8295847" y="67486"/>
                  </a:lnTo>
                  <a:lnTo>
                    <a:pt x="8279841" y="32149"/>
                  </a:lnTo>
                  <a:lnTo>
                    <a:pt x="8246901" y="11660"/>
                  </a:lnTo>
                  <a:lnTo>
                    <a:pt x="8233977" y="9525"/>
                  </a:lnTo>
                  <a:lnTo>
                    <a:pt x="8266420" y="9525"/>
                  </a:lnTo>
                  <a:lnTo>
                    <a:pt x="8296790" y="40242"/>
                  </a:lnTo>
                  <a:lnTo>
                    <a:pt x="8305799" y="76199"/>
                  </a:lnTo>
                  <a:lnTo>
                    <a:pt x="8305799" y="4057649"/>
                  </a:lnTo>
                  <a:lnTo>
                    <a:pt x="8292968" y="4099991"/>
                  </a:lnTo>
                  <a:lnTo>
                    <a:pt x="8272067" y="4120924"/>
                  </a:lnTo>
                  <a:lnTo>
                    <a:pt x="8266417" y="4124324"/>
                  </a:lnTo>
                  <a:close/>
                </a:path>
              </a:pathLst>
            </a:custGeom>
            <a:solidFill>
              <a:srgbClr val="FA913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71525" y="7343775"/>
              <a:ext cx="7981950" cy="419100"/>
            </a:xfrm>
            <a:custGeom>
              <a:avLst/>
              <a:gdLst/>
              <a:ahLst/>
              <a:cxnLst/>
              <a:rect l="l" t="t" r="r" b="b"/>
              <a:pathLst>
                <a:path w="7981950" h="419100">
                  <a:moveTo>
                    <a:pt x="7910752" y="419098"/>
                  </a:moveTo>
                  <a:lnTo>
                    <a:pt x="71196" y="419098"/>
                  </a:lnTo>
                  <a:lnTo>
                    <a:pt x="66241" y="418610"/>
                  </a:lnTo>
                  <a:lnTo>
                    <a:pt x="29705" y="403476"/>
                  </a:lnTo>
                  <a:lnTo>
                    <a:pt x="3885" y="367436"/>
                  </a:lnTo>
                  <a:lnTo>
                    <a:pt x="0" y="347902"/>
                  </a:lnTo>
                  <a:lnTo>
                    <a:pt x="0" y="342899"/>
                  </a:lnTo>
                  <a:lnTo>
                    <a:pt x="0" y="71195"/>
                  </a:lnTo>
                  <a:lnTo>
                    <a:pt x="15621" y="29703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7910752" y="0"/>
                  </a:lnTo>
                  <a:lnTo>
                    <a:pt x="7952242" y="15620"/>
                  </a:lnTo>
                  <a:lnTo>
                    <a:pt x="7978062" y="51659"/>
                  </a:lnTo>
                  <a:lnTo>
                    <a:pt x="7981949" y="71195"/>
                  </a:lnTo>
                  <a:lnTo>
                    <a:pt x="7981949" y="347902"/>
                  </a:lnTo>
                  <a:lnTo>
                    <a:pt x="7966326" y="389392"/>
                  </a:lnTo>
                  <a:lnTo>
                    <a:pt x="7930286" y="415212"/>
                  </a:lnTo>
                  <a:lnTo>
                    <a:pt x="7915707" y="418610"/>
                  </a:lnTo>
                  <a:lnTo>
                    <a:pt x="7910752" y="419098"/>
                  </a:lnTo>
                  <a:close/>
                </a:path>
              </a:pathLst>
            </a:custGeom>
            <a:solidFill>
              <a:srgbClr val="128708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83891" y="5129044"/>
            <a:ext cx="455739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Platform</a:t>
            </a:r>
            <a:r>
              <a:rPr sz="2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Fee</a:t>
            </a:r>
            <a:r>
              <a:rPr sz="195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: </a:t>
            </a:r>
            <a:r>
              <a:rPr sz="195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7-</a:t>
            </a:r>
            <a:r>
              <a:rPr sz="195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10%</a:t>
            </a:r>
            <a:r>
              <a:rPr sz="195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2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1524" y="5591175"/>
            <a:ext cx="3933825" cy="762000"/>
          </a:xfrm>
          <a:custGeom>
            <a:avLst/>
            <a:gdLst/>
            <a:ahLst/>
            <a:cxnLst/>
            <a:rect l="l" t="t" r="r" b="b"/>
            <a:pathLst>
              <a:path w="3933825" h="762000">
                <a:moveTo>
                  <a:pt x="3900777" y="761999"/>
                </a:moveTo>
                <a:lnTo>
                  <a:pt x="33047" y="761999"/>
                </a:lnTo>
                <a:lnTo>
                  <a:pt x="28187" y="761032"/>
                </a:lnTo>
                <a:lnTo>
                  <a:pt x="966" y="733811"/>
                </a:lnTo>
                <a:lnTo>
                  <a:pt x="0" y="728952"/>
                </a:lnTo>
                <a:lnTo>
                  <a:pt x="0" y="723900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900777" y="0"/>
                </a:lnTo>
                <a:lnTo>
                  <a:pt x="3932858" y="28187"/>
                </a:lnTo>
                <a:lnTo>
                  <a:pt x="3933824" y="33047"/>
                </a:lnTo>
                <a:lnTo>
                  <a:pt x="3933824" y="728952"/>
                </a:lnTo>
                <a:lnTo>
                  <a:pt x="3905637" y="761032"/>
                </a:lnTo>
                <a:lnTo>
                  <a:pt x="3900777" y="761999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3125" y="5664313"/>
            <a:ext cx="1202690" cy="5626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5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5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Negotiation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650" b="1" spc="-25" dirty="0">
                <a:solidFill>
                  <a:srgbClr val="FF9933"/>
                </a:solidFill>
                <a:latin typeface="Times New Roman"/>
                <a:cs typeface="Times New Roman"/>
              </a:rPr>
              <a:t>2%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19650" y="5591175"/>
            <a:ext cx="3933825" cy="762000"/>
          </a:xfrm>
          <a:custGeom>
            <a:avLst/>
            <a:gdLst/>
            <a:ahLst/>
            <a:cxnLst/>
            <a:rect l="l" t="t" r="r" b="b"/>
            <a:pathLst>
              <a:path w="3933825" h="762000">
                <a:moveTo>
                  <a:pt x="3900776" y="761999"/>
                </a:moveTo>
                <a:lnTo>
                  <a:pt x="33047" y="761999"/>
                </a:lnTo>
                <a:lnTo>
                  <a:pt x="28187" y="761032"/>
                </a:lnTo>
                <a:lnTo>
                  <a:pt x="966" y="733811"/>
                </a:lnTo>
                <a:lnTo>
                  <a:pt x="0" y="728952"/>
                </a:lnTo>
                <a:lnTo>
                  <a:pt x="0" y="723900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900776" y="0"/>
                </a:lnTo>
                <a:lnTo>
                  <a:pt x="3932857" y="28187"/>
                </a:lnTo>
                <a:lnTo>
                  <a:pt x="3933824" y="33047"/>
                </a:lnTo>
                <a:lnTo>
                  <a:pt x="3933824" y="728952"/>
                </a:lnTo>
                <a:lnTo>
                  <a:pt x="3905635" y="761032"/>
                </a:lnTo>
                <a:lnTo>
                  <a:pt x="3900776" y="761999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21250" y="5664313"/>
            <a:ext cx="2503170" cy="5626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5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1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Grading</a:t>
            </a:r>
            <a:r>
              <a:rPr sz="1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45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Compliance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650" b="1" spc="-25" dirty="0">
                <a:solidFill>
                  <a:srgbClr val="FF9933"/>
                </a:solidFill>
                <a:latin typeface="Times New Roman"/>
                <a:cs typeface="Times New Roman"/>
              </a:rPr>
              <a:t>2%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1524" y="6467475"/>
            <a:ext cx="3933825" cy="762000"/>
          </a:xfrm>
          <a:custGeom>
            <a:avLst/>
            <a:gdLst/>
            <a:ahLst/>
            <a:cxnLst/>
            <a:rect l="l" t="t" r="r" b="b"/>
            <a:pathLst>
              <a:path w="3933825" h="762000">
                <a:moveTo>
                  <a:pt x="3900777" y="761999"/>
                </a:moveTo>
                <a:lnTo>
                  <a:pt x="33047" y="761999"/>
                </a:lnTo>
                <a:lnTo>
                  <a:pt x="28187" y="761032"/>
                </a:lnTo>
                <a:lnTo>
                  <a:pt x="966" y="733812"/>
                </a:lnTo>
                <a:lnTo>
                  <a:pt x="0" y="728952"/>
                </a:lnTo>
                <a:lnTo>
                  <a:pt x="0" y="723900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900777" y="0"/>
                </a:lnTo>
                <a:lnTo>
                  <a:pt x="3932858" y="28186"/>
                </a:lnTo>
                <a:lnTo>
                  <a:pt x="3933824" y="33047"/>
                </a:lnTo>
                <a:lnTo>
                  <a:pt x="3933824" y="728952"/>
                </a:lnTo>
                <a:lnTo>
                  <a:pt x="3905637" y="761032"/>
                </a:lnTo>
                <a:lnTo>
                  <a:pt x="3900777" y="761999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3125" y="6540613"/>
            <a:ext cx="1885314" cy="5626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5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Logistics</a:t>
            </a:r>
            <a:r>
              <a:rPr sz="1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Coordination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650" b="1" spc="-25" dirty="0">
                <a:solidFill>
                  <a:srgbClr val="FF9933"/>
                </a:solidFill>
                <a:latin typeface="Times New Roman"/>
                <a:cs typeface="Times New Roman"/>
              </a:rPr>
              <a:t>2%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819650" y="6467475"/>
            <a:ext cx="3933825" cy="762000"/>
          </a:xfrm>
          <a:custGeom>
            <a:avLst/>
            <a:gdLst/>
            <a:ahLst/>
            <a:cxnLst/>
            <a:rect l="l" t="t" r="r" b="b"/>
            <a:pathLst>
              <a:path w="3933825" h="762000">
                <a:moveTo>
                  <a:pt x="3900776" y="761999"/>
                </a:moveTo>
                <a:lnTo>
                  <a:pt x="33047" y="761999"/>
                </a:lnTo>
                <a:lnTo>
                  <a:pt x="28187" y="761032"/>
                </a:lnTo>
                <a:lnTo>
                  <a:pt x="966" y="733812"/>
                </a:lnTo>
                <a:lnTo>
                  <a:pt x="0" y="728952"/>
                </a:lnTo>
                <a:lnTo>
                  <a:pt x="0" y="723900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900776" y="0"/>
                </a:lnTo>
                <a:lnTo>
                  <a:pt x="3932857" y="28186"/>
                </a:lnTo>
                <a:lnTo>
                  <a:pt x="3933824" y="33047"/>
                </a:lnTo>
                <a:lnTo>
                  <a:pt x="3933824" y="728952"/>
                </a:lnTo>
                <a:lnTo>
                  <a:pt x="3905635" y="761032"/>
                </a:lnTo>
                <a:lnTo>
                  <a:pt x="3900776" y="761999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21250" y="6540613"/>
            <a:ext cx="2618105" cy="5626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5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Payment</a:t>
            </a:r>
            <a:r>
              <a:rPr sz="1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Processing</a:t>
            </a:r>
            <a:r>
              <a:rPr sz="1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4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650" b="1" spc="-75" dirty="0">
                <a:solidFill>
                  <a:srgbClr val="FF9933"/>
                </a:solidFill>
                <a:latin typeface="Times New Roman"/>
                <a:cs typeface="Times New Roman"/>
              </a:rPr>
              <a:t>1-</a:t>
            </a:r>
            <a:r>
              <a:rPr sz="1650" b="1" spc="-25" dirty="0">
                <a:solidFill>
                  <a:srgbClr val="FF9933"/>
                </a:solidFill>
                <a:latin typeface="Times New Roman"/>
                <a:cs typeface="Times New Roman"/>
              </a:rPr>
              <a:t>3%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32260" y="7392699"/>
            <a:ext cx="4460240" cy="27186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75%</a:t>
            </a:r>
            <a:r>
              <a:rPr sz="16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lower</a:t>
            </a:r>
            <a:r>
              <a:rPr sz="16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16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traditional</a:t>
            </a:r>
            <a:r>
              <a:rPr sz="16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middlemen</a:t>
            </a:r>
            <a:r>
              <a:rPr sz="16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imes New Roman"/>
                <a:cs typeface="Times New Roman"/>
              </a:rPr>
              <a:t>(25-</a:t>
            </a:r>
            <a:r>
              <a:rPr sz="16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40%)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71524" y="8277225"/>
            <a:ext cx="76200" cy="609600"/>
            <a:chOff x="771524" y="8277225"/>
            <a:chExt cx="76200" cy="609600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524" y="8277225"/>
              <a:ext cx="76200" cy="761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524" y="8543925"/>
              <a:ext cx="76200" cy="761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524" y="8810625"/>
              <a:ext cx="76200" cy="761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58825" y="7733382"/>
            <a:ext cx="2858770" cy="122682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830"/>
              </a:spcBef>
            </a:pPr>
            <a:r>
              <a:rPr sz="15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Additional</a:t>
            </a:r>
            <a:r>
              <a:rPr sz="15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Revenue</a:t>
            </a:r>
            <a:r>
              <a:rPr sz="1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Streams</a:t>
            </a:r>
            <a:r>
              <a:rPr sz="14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1450">
              <a:latin typeface="Times New Roman"/>
              <a:cs typeface="Times New Roman"/>
            </a:endParaRPr>
          </a:p>
          <a:p>
            <a:pPr marL="165100" marR="5080">
              <a:lnSpc>
                <a:spcPct val="109400"/>
              </a:lnSpc>
              <a:spcBef>
                <a:spcPts val="620"/>
              </a:spcBef>
            </a:pPr>
            <a:r>
              <a:rPr sz="1600" spc="-120" dirty="0">
                <a:solidFill>
                  <a:srgbClr val="FFFFFF"/>
                </a:solidFill>
                <a:latin typeface="Times New Roman"/>
                <a:cs typeface="Times New Roman"/>
              </a:rPr>
              <a:t>Premium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Times New Roman"/>
                <a:cs typeface="Times New Roman"/>
              </a:rPr>
              <a:t>Artisan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Analytics </a:t>
            </a:r>
            <a:r>
              <a:rPr sz="1600" spc="-95" dirty="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5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4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Certification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Times New Roman"/>
                <a:cs typeface="Times New Roman"/>
              </a:rPr>
              <a:t>Programs 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White</a:t>
            </a:r>
            <a:r>
              <a:rPr sz="1450" spc="-5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600" spc="-105" dirty="0">
                <a:solidFill>
                  <a:srgbClr val="FFFFFF"/>
                </a:solidFill>
                <a:latin typeface="Times New Roman"/>
                <a:cs typeface="Times New Roman"/>
              </a:rPr>
              <a:t>Label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6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450" spc="-16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600" spc="-16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Solutions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404350" y="16700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317499" y="158749"/>
                </a:moveTo>
                <a:lnTo>
                  <a:pt x="312741" y="197332"/>
                </a:lnTo>
                <a:lnTo>
                  <a:pt x="298756" y="233585"/>
                </a:lnTo>
                <a:lnTo>
                  <a:pt x="276383" y="265353"/>
                </a:lnTo>
                <a:lnTo>
                  <a:pt x="246946" y="290745"/>
                </a:lnTo>
                <a:lnTo>
                  <a:pt x="212222" y="308224"/>
                </a:lnTo>
                <a:lnTo>
                  <a:pt x="174310" y="316737"/>
                </a:lnTo>
                <a:lnTo>
                  <a:pt x="158749" y="317499"/>
                </a:lnTo>
                <a:lnTo>
                  <a:pt x="150951" y="317309"/>
                </a:lnTo>
                <a:lnTo>
                  <a:pt x="112666" y="310666"/>
                </a:lnTo>
                <a:lnTo>
                  <a:pt x="77143" y="294920"/>
                </a:lnTo>
                <a:lnTo>
                  <a:pt x="46496" y="271003"/>
                </a:lnTo>
                <a:lnTo>
                  <a:pt x="22579" y="240356"/>
                </a:lnTo>
                <a:lnTo>
                  <a:pt x="6833" y="204833"/>
                </a:lnTo>
                <a:lnTo>
                  <a:pt x="190" y="166548"/>
                </a:lnTo>
                <a:lnTo>
                  <a:pt x="0" y="158749"/>
                </a:lnTo>
                <a:lnTo>
                  <a:pt x="190" y="150951"/>
                </a:lnTo>
                <a:lnTo>
                  <a:pt x="6833" y="112666"/>
                </a:lnTo>
                <a:lnTo>
                  <a:pt x="22579" y="77143"/>
                </a:lnTo>
                <a:lnTo>
                  <a:pt x="46496" y="46496"/>
                </a:lnTo>
                <a:lnTo>
                  <a:pt x="77143" y="22579"/>
                </a:lnTo>
                <a:lnTo>
                  <a:pt x="112666" y="6833"/>
                </a:lnTo>
                <a:lnTo>
                  <a:pt x="150951" y="190"/>
                </a:lnTo>
                <a:lnTo>
                  <a:pt x="158749" y="0"/>
                </a:lnTo>
                <a:lnTo>
                  <a:pt x="166548" y="190"/>
                </a:lnTo>
                <a:lnTo>
                  <a:pt x="204833" y="6833"/>
                </a:lnTo>
                <a:lnTo>
                  <a:pt x="240356" y="22579"/>
                </a:lnTo>
                <a:lnTo>
                  <a:pt x="271003" y="46496"/>
                </a:lnTo>
                <a:lnTo>
                  <a:pt x="294920" y="77143"/>
                </a:lnTo>
                <a:lnTo>
                  <a:pt x="310666" y="112666"/>
                </a:lnTo>
                <a:lnTo>
                  <a:pt x="317309" y="150951"/>
                </a:lnTo>
                <a:lnTo>
                  <a:pt x="317499" y="158749"/>
                </a:lnTo>
                <a:close/>
              </a:path>
              <a:path w="317500" h="317500">
                <a:moveTo>
                  <a:pt x="158749" y="0"/>
                </a:moveTo>
                <a:lnTo>
                  <a:pt x="131736" y="34386"/>
                </a:lnTo>
                <a:lnTo>
                  <a:pt x="111713" y="73260"/>
                </a:lnTo>
                <a:lnTo>
                  <a:pt x="99403" y="115219"/>
                </a:lnTo>
                <a:lnTo>
                  <a:pt x="95249" y="158749"/>
                </a:lnTo>
                <a:lnTo>
                  <a:pt x="95509" y="169706"/>
                </a:lnTo>
                <a:lnTo>
                  <a:pt x="101730" y="212990"/>
                </a:lnTo>
                <a:lnTo>
                  <a:pt x="116024" y="254316"/>
                </a:lnTo>
                <a:lnTo>
                  <a:pt x="137874" y="292193"/>
                </a:lnTo>
                <a:lnTo>
                  <a:pt x="158749" y="317499"/>
                </a:lnTo>
                <a:lnTo>
                  <a:pt x="166118" y="309386"/>
                </a:lnTo>
                <a:lnTo>
                  <a:pt x="191464" y="273753"/>
                </a:lnTo>
                <a:lnTo>
                  <a:pt x="209614" y="233969"/>
                </a:lnTo>
                <a:lnTo>
                  <a:pt x="219913" y="191471"/>
                </a:lnTo>
                <a:lnTo>
                  <a:pt x="222249" y="158749"/>
                </a:lnTo>
                <a:lnTo>
                  <a:pt x="221990" y="147793"/>
                </a:lnTo>
                <a:lnTo>
                  <a:pt x="215769" y="104509"/>
                </a:lnTo>
                <a:lnTo>
                  <a:pt x="201475" y="63183"/>
                </a:lnTo>
                <a:lnTo>
                  <a:pt x="179625" y="25306"/>
                </a:lnTo>
                <a:lnTo>
                  <a:pt x="158749" y="0"/>
                </a:lnTo>
              </a:path>
              <a:path w="317500" h="317500">
                <a:moveTo>
                  <a:pt x="0" y="158749"/>
                </a:moveTo>
                <a:lnTo>
                  <a:pt x="317499" y="158749"/>
                </a:lnTo>
              </a:path>
            </a:pathLst>
          </a:custGeom>
          <a:ln w="31749">
            <a:solidFill>
              <a:srgbClr val="2DD4BE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92200" y="1551529"/>
            <a:ext cx="12092940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75065" algn="l"/>
              </a:tabLst>
            </a:pPr>
            <a:r>
              <a:rPr sz="3050" b="1" spc="-155" dirty="0">
                <a:solidFill>
                  <a:srgbClr val="FF9933"/>
                </a:solidFill>
                <a:latin typeface="Times New Roman"/>
                <a:cs typeface="Times New Roman"/>
              </a:rPr>
              <a:t>Sustainable</a:t>
            </a:r>
            <a:r>
              <a:rPr sz="3050" b="1" spc="-15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200" dirty="0">
                <a:solidFill>
                  <a:srgbClr val="FF9933"/>
                </a:solidFill>
                <a:latin typeface="Times New Roman"/>
                <a:cs typeface="Times New Roman"/>
              </a:rPr>
              <a:t>Revenue</a:t>
            </a:r>
            <a:r>
              <a:rPr sz="3050" b="1" spc="-15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10" dirty="0">
                <a:solidFill>
                  <a:srgbClr val="FF9933"/>
                </a:solidFill>
                <a:latin typeface="Times New Roman"/>
                <a:cs typeface="Times New Roman"/>
              </a:rPr>
              <a:t>Model</a:t>
            </a:r>
            <a:r>
              <a:rPr sz="3050" b="1" dirty="0">
                <a:solidFill>
                  <a:srgbClr val="FF9933"/>
                </a:solidFill>
                <a:latin typeface="Times New Roman"/>
                <a:cs typeface="Times New Roman"/>
              </a:rPr>
              <a:t>	</a:t>
            </a:r>
            <a:r>
              <a:rPr sz="3050" b="1" spc="-105" dirty="0">
                <a:solidFill>
                  <a:srgbClr val="2DD4BE"/>
                </a:solidFill>
                <a:latin typeface="Times New Roman"/>
                <a:cs typeface="Times New Roman"/>
              </a:rPr>
              <a:t>Market</a:t>
            </a:r>
            <a:r>
              <a:rPr sz="3050" b="1" spc="-160" dirty="0">
                <a:solidFill>
                  <a:srgbClr val="2DD4BE"/>
                </a:solidFill>
                <a:latin typeface="Times New Roman"/>
                <a:cs typeface="Times New Roman"/>
              </a:rPr>
              <a:t> </a:t>
            </a:r>
            <a:r>
              <a:rPr sz="3050" b="1" spc="-125" dirty="0">
                <a:solidFill>
                  <a:srgbClr val="2DD4BE"/>
                </a:solidFill>
                <a:latin typeface="Times New Roman"/>
                <a:cs typeface="Times New Roman"/>
              </a:rPr>
              <a:t>Opportunity</a:t>
            </a:r>
            <a:endParaRPr sz="305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372599" y="2133599"/>
            <a:ext cx="8305800" cy="1352550"/>
            <a:chOff x="9372599" y="2133599"/>
            <a:chExt cx="8305800" cy="1352550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72599" y="2133599"/>
              <a:ext cx="8305800" cy="135255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372599" y="2133600"/>
              <a:ext cx="8305800" cy="1352550"/>
            </a:xfrm>
            <a:custGeom>
              <a:avLst/>
              <a:gdLst/>
              <a:ahLst/>
              <a:cxnLst/>
              <a:rect l="l" t="t" r="r" b="b"/>
              <a:pathLst>
                <a:path w="8305800" h="1352550">
                  <a:moveTo>
                    <a:pt x="8191499" y="1352549"/>
                  </a:moveTo>
                  <a:lnTo>
                    <a:pt x="114299" y="1352549"/>
                  </a:lnTo>
                  <a:lnTo>
                    <a:pt x="103040" y="1352006"/>
                  </a:lnTo>
                  <a:lnTo>
                    <a:pt x="60364" y="1339037"/>
                  </a:lnTo>
                  <a:lnTo>
                    <a:pt x="25900" y="1310725"/>
                  </a:lnTo>
                  <a:lnTo>
                    <a:pt x="4893" y="127137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3"/>
                  </a:lnTo>
                  <a:lnTo>
                    <a:pt x="114299" y="0"/>
                  </a:lnTo>
                  <a:lnTo>
                    <a:pt x="8191499" y="0"/>
                  </a:lnTo>
                  <a:lnTo>
                    <a:pt x="8235237" y="8700"/>
                  </a:lnTo>
                  <a:lnTo>
                    <a:pt x="8236985" y="9525"/>
                  </a:lnTo>
                  <a:lnTo>
                    <a:pt x="107420" y="9525"/>
                  </a:lnTo>
                  <a:lnTo>
                    <a:pt x="100607" y="10196"/>
                  </a:lnTo>
                  <a:lnTo>
                    <a:pt x="61810" y="23360"/>
                  </a:lnTo>
                  <a:lnTo>
                    <a:pt x="31005" y="50369"/>
                  </a:lnTo>
                  <a:lnTo>
                    <a:pt x="12880" y="87112"/>
                  </a:lnTo>
                  <a:lnTo>
                    <a:pt x="9525" y="107420"/>
                  </a:lnTo>
                  <a:lnTo>
                    <a:pt x="9525" y="1245129"/>
                  </a:lnTo>
                  <a:lnTo>
                    <a:pt x="20133" y="1284701"/>
                  </a:lnTo>
                  <a:lnTo>
                    <a:pt x="45077" y="1317201"/>
                  </a:lnTo>
                  <a:lnTo>
                    <a:pt x="80560" y="1337682"/>
                  </a:lnTo>
                  <a:lnTo>
                    <a:pt x="107420" y="1343025"/>
                  </a:lnTo>
                  <a:lnTo>
                    <a:pt x="8236984" y="1343025"/>
                  </a:lnTo>
                  <a:lnTo>
                    <a:pt x="8235237" y="1343849"/>
                  </a:lnTo>
                  <a:lnTo>
                    <a:pt x="8224627" y="1347655"/>
                  </a:lnTo>
                  <a:lnTo>
                    <a:pt x="8213800" y="1350374"/>
                  </a:lnTo>
                  <a:lnTo>
                    <a:pt x="8202758" y="1352006"/>
                  </a:lnTo>
                  <a:lnTo>
                    <a:pt x="8191499" y="1352549"/>
                  </a:lnTo>
                  <a:close/>
                </a:path>
                <a:path w="8305800" h="1352550">
                  <a:moveTo>
                    <a:pt x="8236984" y="1343025"/>
                  </a:moveTo>
                  <a:lnTo>
                    <a:pt x="8198379" y="1343025"/>
                  </a:lnTo>
                  <a:lnTo>
                    <a:pt x="8205193" y="1342353"/>
                  </a:lnTo>
                  <a:lnTo>
                    <a:pt x="8218688" y="1339669"/>
                  </a:lnTo>
                  <a:lnTo>
                    <a:pt x="8255428" y="1321545"/>
                  </a:lnTo>
                  <a:lnTo>
                    <a:pt x="8282438" y="1290739"/>
                  </a:lnTo>
                  <a:lnTo>
                    <a:pt x="8295603" y="1251943"/>
                  </a:lnTo>
                  <a:lnTo>
                    <a:pt x="8296274" y="1245129"/>
                  </a:lnTo>
                  <a:lnTo>
                    <a:pt x="8296274" y="107420"/>
                  </a:lnTo>
                  <a:lnTo>
                    <a:pt x="8285666" y="67848"/>
                  </a:lnTo>
                  <a:lnTo>
                    <a:pt x="8260722" y="35348"/>
                  </a:lnTo>
                  <a:lnTo>
                    <a:pt x="8225239" y="14867"/>
                  </a:lnTo>
                  <a:lnTo>
                    <a:pt x="8198379" y="9525"/>
                  </a:lnTo>
                  <a:lnTo>
                    <a:pt x="8236985" y="9525"/>
                  </a:lnTo>
                  <a:lnTo>
                    <a:pt x="8272319" y="33477"/>
                  </a:lnTo>
                  <a:lnTo>
                    <a:pt x="8297096" y="70559"/>
                  </a:lnTo>
                  <a:lnTo>
                    <a:pt x="8305799" y="114299"/>
                  </a:lnTo>
                  <a:lnTo>
                    <a:pt x="8305799" y="1238249"/>
                  </a:lnTo>
                  <a:lnTo>
                    <a:pt x="8297096" y="1281990"/>
                  </a:lnTo>
                  <a:lnTo>
                    <a:pt x="8272319" y="1319072"/>
                  </a:lnTo>
                  <a:lnTo>
                    <a:pt x="8245432" y="1339037"/>
                  </a:lnTo>
                  <a:lnTo>
                    <a:pt x="8236984" y="1343025"/>
                  </a:lnTo>
                  <a:close/>
                </a:path>
              </a:pathLst>
            </a:custGeom>
            <a:solidFill>
              <a:srgbClr val="2DD4BE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2788899" y="2460624"/>
              <a:ext cx="254000" cy="127000"/>
            </a:xfrm>
            <a:custGeom>
              <a:avLst/>
              <a:gdLst/>
              <a:ahLst/>
              <a:cxnLst/>
              <a:rect l="l" t="t" r="r" b="b"/>
              <a:pathLst>
                <a:path w="254000" h="127000">
                  <a:moveTo>
                    <a:pt x="254000" y="0"/>
                  </a:moveTo>
                  <a:lnTo>
                    <a:pt x="146050" y="107950"/>
                  </a:lnTo>
                  <a:lnTo>
                    <a:pt x="82550" y="44450"/>
                  </a:lnTo>
                  <a:lnTo>
                    <a:pt x="0" y="127000"/>
                  </a:lnTo>
                </a:path>
                <a:path w="254000" h="127000">
                  <a:moveTo>
                    <a:pt x="177800" y="0"/>
                  </a:moveTo>
                  <a:lnTo>
                    <a:pt x="254000" y="0"/>
                  </a:lnTo>
                  <a:lnTo>
                    <a:pt x="254000" y="76200"/>
                  </a:lnTo>
                </a:path>
              </a:pathLst>
            </a:custGeom>
            <a:ln w="25400">
              <a:solidFill>
                <a:srgbClr val="2DD4B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013654" y="2124994"/>
            <a:ext cx="3023870" cy="1173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72845">
              <a:lnSpc>
                <a:spcPts val="5030"/>
              </a:lnSpc>
              <a:spcBef>
                <a:spcPts val="114"/>
              </a:spcBef>
            </a:pPr>
            <a:r>
              <a:rPr sz="4300" b="1" spc="-395" dirty="0">
                <a:solidFill>
                  <a:srgbClr val="FFFFFF"/>
                </a:solidFill>
                <a:latin typeface="Times New Roman"/>
                <a:cs typeface="Times New Roman"/>
              </a:rPr>
              <a:t>$</a:t>
            </a:r>
            <a:r>
              <a:rPr sz="3950" b="1" spc="-395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r>
              <a:rPr sz="4300" b="1" spc="-39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4300">
              <a:latin typeface="Times New Roman"/>
              <a:cs typeface="Times New Roman"/>
            </a:endParaRPr>
          </a:p>
          <a:p>
            <a:pPr algn="ctr">
              <a:lnSpc>
                <a:spcPts val="2030"/>
              </a:lnSpc>
            </a:pPr>
            <a:r>
              <a:rPr sz="1800" spc="-13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imes New Roman"/>
                <a:cs typeface="Times New Roman"/>
              </a:rPr>
              <a:t>Ethical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imes New Roman"/>
                <a:cs typeface="Times New Roman"/>
              </a:rPr>
              <a:t>Handicrafts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Market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1450" dirty="0">
                <a:solidFill>
                  <a:srgbClr val="5DE9D4"/>
                </a:solidFill>
                <a:latin typeface="Times New Roman"/>
                <a:cs typeface="Times New Roman"/>
              </a:rPr>
              <a:t>8.5%</a:t>
            </a:r>
            <a:r>
              <a:rPr sz="1450" spc="-40" dirty="0">
                <a:solidFill>
                  <a:srgbClr val="5DE9D4"/>
                </a:solidFill>
                <a:latin typeface="Times New Roman"/>
                <a:cs typeface="Times New Roman"/>
              </a:rPr>
              <a:t> </a:t>
            </a:r>
            <a:r>
              <a:rPr sz="1450" spc="-20" dirty="0">
                <a:solidFill>
                  <a:srgbClr val="5DE9D4"/>
                </a:solidFill>
                <a:latin typeface="Times New Roman"/>
                <a:cs typeface="Times New Roman"/>
              </a:rPr>
              <a:t>CAGR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372599" y="3600449"/>
            <a:ext cx="4095750" cy="1085850"/>
            <a:chOff x="9372599" y="3600449"/>
            <a:chExt cx="4095750" cy="1085850"/>
          </a:xfrm>
        </p:grpSpPr>
        <p:sp>
          <p:nvSpPr>
            <p:cNvPr id="36" name="object 36"/>
            <p:cNvSpPr/>
            <p:nvPr/>
          </p:nvSpPr>
          <p:spPr>
            <a:xfrm>
              <a:off x="9372599" y="3600449"/>
              <a:ext cx="4095750" cy="1085850"/>
            </a:xfrm>
            <a:custGeom>
              <a:avLst/>
              <a:gdLst/>
              <a:ahLst/>
              <a:cxnLst/>
              <a:rect l="l" t="t" r="r" b="b"/>
              <a:pathLst>
                <a:path w="4095750" h="1085850">
                  <a:moveTo>
                    <a:pt x="4019550" y="1085850"/>
                  </a:moveTo>
                  <a:lnTo>
                    <a:pt x="76200" y="1085850"/>
                  </a:lnTo>
                  <a:lnTo>
                    <a:pt x="68693" y="1085487"/>
                  </a:lnTo>
                  <a:lnTo>
                    <a:pt x="27882" y="1068582"/>
                  </a:lnTo>
                  <a:lnTo>
                    <a:pt x="3262" y="1031736"/>
                  </a:lnTo>
                  <a:lnTo>
                    <a:pt x="0" y="10096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200" y="0"/>
                  </a:lnTo>
                  <a:lnTo>
                    <a:pt x="4019550" y="0"/>
                  </a:lnTo>
                  <a:lnTo>
                    <a:pt x="4061891" y="12829"/>
                  </a:lnTo>
                  <a:lnTo>
                    <a:pt x="4089949" y="47039"/>
                  </a:lnTo>
                  <a:lnTo>
                    <a:pt x="4095750" y="76200"/>
                  </a:lnTo>
                  <a:lnTo>
                    <a:pt x="4095750" y="1009650"/>
                  </a:lnTo>
                  <a:lnTo>
                    <a:pt x="4082919" y="1051992"/>
                  </a:lnTo>
                  <a:lnTo>
                    <a:pt x="4048709" y="1080049"/>
                  </a:lnTo>
                  <a:lnTo>
                    <a:pt x="4019550" y="10858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9372599" y="3600450"/>
              <a:ext cx="4095750" cy="1085850"/>
            </a:xfrm>
            <a:custGeom>
              <a:avLst/>
              <a:gdLst/>
              <a:ahLst/>
              <a:cxnLst/>
              <a:rect l="l" t="t" r="r" b="b"/>
              <a:pathLst>
                <a:path w="4095750" h="1085850">
                  <a:moveTo>
                    <a:pt x="4019549" y="1085849"/>
                  </a:moveTo>
                  <a:lnTo>
                    <a:pt x="76199" y="1085849"/>
                  </a:lnTo>
                  <a:lnTo>
                    <a:pt x="68693" y="1085487"/>
                  </a:lnTo>
                  <a:lnTo>
                    <a:pt x="27882" y="1068582"/>
                  </a:lnTo>
                  <a:lnTo>
                    <a:pt x="3262" y="1031736"/>
                  </a:lnTo>
                  <a:lnTo>
                    <a:pt x="0" y="10096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019549" y="0"/>
                  </a:lnTo>
                  <a:lnTo>
                    <a:pt x="4056369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014027"/>
                  </a:lnTo>
                  <a:lnTo>
                    <a:pt x="9833" y="1017156"/>
                  </a:lnTo>
                  <a:lnTo>
                    <a:pt x="9952" y="1018363"/>
                  </a:lnTo>
                  <a:lnTo>
                    <a:pt x="25958" y="1053700"/>
                  </a:lnTo>
                  <a:lnTo>
                    <a:pt x="58898" y="1074189"/>
                  </a:lnTo>
                  <a:lnTo>
                    <a:pt x="71822" y="1076324"/>
                  </a:lnTo>
                  <a:lnTo>
                    <a:pt x="4056369" y="1076324"/>
                  </a:lnTo>
                  <a:lnTo>
                    <a:pt x="4055505" y="1076841"/>
                  </a:lnTo>
                  <a:lnTo>
                    <a:pt x="4048708" y="1080049"/>
                  </a:lnTo>
                  <a:lnTo>
                    <a:pt x="4041635" y="1082587"/>
                  </a:lnTo>
                  <a:lnTo>
                    <a:pt x="4034417" y="1084399"/>
                  </a:lnTo>
                  <a:lnTo>
                    <a:pt x="4027055" y="1085487"/>
                  </a:lnTo>
                  <a:lnTo>
                    <a:pt x="4019549" y="1085849"/>
                  </a:lnTo>
                  <a:close/>
                </a:path>
                <a:path w="4095750" h="1085850">
                  <a:moveTo>
                    <a:pt x="4056369" y="1076324"/>
                  </a:moveTo>
                  <a:lnTo>
                    <a:pt x="4023928" y="1076324"/>
                  </a:lnTo>
                  <a:lnTo>
                    <a:pt x="4028264" y="1075897"/>
                  </a:lnTo>
                  <a:lnTo>
                    <a:pt x="4036851" y="1074189"/>
                  </a:lnTo>
                  <a:lnTo>
                    <a:pt x="4069791" y="1053700"/>
                  </a:lnTo>
                  <a:lnTo>
                    <a:pt x="4085798" y="1018363"/>
                  </a:lnTo>
                  <a:lnTo>
                    <a:pt x="4086225" y="1014027"/>
                  </a:lnTo>
                  <a:lnTo>
                    <a:pt x="4086225" y="71822"/>
                  </a:lnTo>
                  <a:lnTo>
                    <a:pt x="4085916" y="68693"/>
                  </a:lnTo>
                  <a:lnTo>
                    <a:pt x="4085798" y="67486"/>
                  </a:lnTo>
                  <a:lnTo>
                    <a:pt x="4069791" y="32149"/>
                  </a:lnTo>
                  <a:lnTo>
                    <a:pt x="4036851" y="11660"/>
                  </a:lnTo>
                  <a:lnTo>
                    <a:pt x="4023928" y="9525"/>
                  </a:lnTo>
                  <a:lnTo>
                    <a:pt x="4056369" y="9525"/>
                  </a:lnTo>
                  <a:lnTo>
                    <a:pt x="4086741" y="40243"/>
                  </a:lnTo>
                  <a:lnTo>
                    <a:pt x="4095749" y="76199"/>
                  </a:lnTo>
                  <a:lnTo>
                    <a:pt x="4095749" y="1009649"/>
                  </a:lnTo>
                  <a:lnTo>
                    <a:pt x="4082919" y="1051992"/>
                  </a:lnTo>
                  <a:lnTo>
                    <a:pt x="4062018" y="1072925"/>
                  </a:lnTo>
                  <a:lnTo>
                    <a:pt x="4056369" y="1076324"/>
                  </a:lnTo>
                  <a:close/>
                </a:path>
              </a:pathLst>
            </a:custGeom>
            <a:solidFill>
              <a:srgbClr val="BF83FB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24999" y="3905249"/>
              <a:ext cx="171450" cy="209547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9483725" y="3696999"/>
            <a:ext cx="2438400" cy="85788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17500">
              <a:lnSpc>
                <a:spcPts val="1900"/>
              </a:lnSpc>
              <a:spcBef>
                <a:spcPts val="140"/>
              </a:spcBef>
            </a:pPr>
            <a:r>
              <a:rPr sz="165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North</a:t>
            </a:r>
            <a:r>
              <a:rPr sz="165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America</a:t>
            </a:r>
            <a:endParaRPr sz="1650">
              <a:latin typeface="Times New Roman"/>
              <a:cs typeface="Times New Roman"/>
            </a:endParaRPr>
          </a:p>
          <a:p>
            <a:pPr marL="317500">
              <a:lnSpc>
                <a:spcPts val="2505"/>
              </a:lnSpc>
            </a:pPr>
            <a:r>
              <a:rPr sz="2150" b="1" spc="-10" dirty="0">
                <a:solidFill>
                  <a:srgbClr val="BF83FB"/>
                </a:solidFill>
                <a:latin typeface="Times New Roman"/>
                <a:cs typeface="Times New Roman"/>
              </a:rPr>
              <a:t>$</a:t>
            </a:r>
            <a:r>
              <a:rPr sz="1950" b="1" spc="-10" dirty="0">
                <a:solidFill>
                  <a:srgbClr val="BF83FB"/>
                </a:solidFill>
                <a:latin typeface="Times New Roman"/>
                <a:cs typeface="Times New Roman"/>
              </a:rPr>
              <a:t>6.2</a:t>
            </a:r>
            <a:r>
              <a:rPr sz="2150" b="1" spc="-10" dirty="0">
                <a:solidFill>
                  <a:srgbClr val="BF83FB"/>
                </a:solidFill>
                <a:latin typeface="Times New Roman"/>
                <a:cs typeface="Times New Roman"/>
              </a:rPr>
              <a:t>B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50" spc="-1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14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10" dirty="0">
                <a:solidFill>
                  <a:srgbClr val="FFFFFF"/>
                </a:solidFill>
                <a:latin typeface="Times New Roman"/>
                <a:cs typeface="Times New Roman"/>
              </a:rPr>
              <a:t>demand</a:t>
            </a:r>
            <a:r>
              <a:rPr sz="14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45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75" dirty="0">
                <a:solidFill>
                  <a:srgbClr val="FFFFFF"/>
                </a:solidFill>
                <a:latin typeface="Times New Roman"/>
                <a:cs typeface="Times New Roman"/>
              </a:rPr>
              <a:t>authentic</a:t>
            </a:r>
            <a:r>
              <a:rPr sz="14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60" dirty="0">
                <a:solidFill>
                  <a:srgbClr val="FFFFFF"/>
                </a:solidFill>
                <a:latin typeface="Times New Roman"/>
                <a:cs typeface="Times New Roman"/>
              </a:rPr>
              <a:t>crafts</a:t>
            </a:r>
            <a:r>
              <a:rPr sz="1300" spc="-6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582650" y="3600449"/>
            <a:ext cx="4095750" cy="1085850"/>
            <a:chOff x="13582650" y="3600449"/>
            <a:chExt cx="4095750" cy="1085850"/>
          </a:xfrm>
        </p:grpSpPr>
        <p:sp>
          <p:nvSpPr>
            <p:cNvPr id="41" name="object 41"/>
            <p:cNvSpPr/>
            <p:nvPr/>
          </p:nvSpPr>
          <p:spPr>
            <a:xfrm>
              <a:off x="13582650" y="3600449"/>
              <a:ext cx="4095750" cy="1085850"/>
            </a:xfrm>
            <a:custGeom>
              <a:avLst/>
              <a:gdLst/>
              <a:ahLst/>
              <a:cxnLst/>
              <a:rect l="l" t="t" r="r" b="b"/>
              <a:pathLst>
                <a:path w="4095750" h="1085850">
                  <a:moveTo>
                    <a:pt x="4019550" y="1085850"/>
                  </a:moveTo>
                  <a:lnTo>
                    <a:pt x="76200" y="1085850"/>
                  </a:lnTo>
                  <a:lnTo>
                    <a:pt x="68693" y="1085487"/>
                  </a:lnTo>
                  <a:lnTo>
                    <a:pt x="27881" y="1068582"/>
                  </a:lnTo>
                  <a:lnTo>
                    <a:pt x="3261" y="1031736"/>
                  </a:lnTo>
                  <a:lnTo>
                    <a:pt x="0" y="1009650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4019550" y="0"/>
                  </a:lnTo>
                  <a:lnTo>
                    <a:pt x="4061889" y="12829"/>
                  </a:lnTo>
                  <a:lnTo>
                    <a:pt x="4089946" y="47039"/>
                  </a:lnTo>
                  <a:lnTo>
                    <a:pt x="4095750" y="76200"/>
                  </a:lnTo>
                  <a:lnTo>
                    <a:pt x="4095750" y="1009650"/>
                  </a:lnTo>
                  <a:lnTo>
                    <a:pt x="4082916" y="1051992"/>
                  </a:lnTo>
                  <a:lnTo>
                    <a:pt x="4048707" y="1080049"/>
                  </a:lnTo>
                  <a:lnTo>
                    <a:pt x="4019550" y="10858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13582650" y="3600450"/>
              <a:ext cx="4095750" cy="1085850"/>
            </a:xfrm>
            <a:custGeom>
              <a:avLst/>
              <a:gdLst/>
              <a:ahLst/>
              <a:cxnLst/>
              <a:rect l="l" t="t" r="r" b="b"/>
              <a:pathLst>
                <a:path w="4095750" h="1085850">
                  <a:moveTo>
                    <a:pt x="4019549" y="1085849"/>
                  </a:moveTo>
                  <a:lnTo>
                    <a:pt x="76199" y="1085849"/>
                  </a:lnTo>
                  <a:lnTo>
                    <a:pt x="68693" y="1085487"/>
                  </a:lnTo>
                  <a:lnTo>
                    <a:pt x="27881" y="1068582"/>
                  </a:lnTo>
                  <a:lnTo>
                    <a:pt x="3261" y="1031736"/>
                  </a:lnTo>
                  <a:lnTo>
                    <a:pt x="0" y="1009649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4019549" y="0"/>
                  </a:lnTo>
                  <a:lnTo>
                    <a:pt x="4056368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014027"/>
                  </a:lnTo>
                  <a:lnTo>
                    <a:pt x="9833" y="1017156"/>
                  </a:lnTo>
                  <a:lnTo>
                    <a:pt x="9952" y="1018363"/>
                  </a:lnTo>
                  <a:lnTo>
                    <a:pt x="25958" y="1053700"/>
                  </a:lnTo>
                  <a:lnTo>
                    <a:pt x="58898" y="1074189"/>
                  </a:lnTo>
                  <a:lnTo>
                    <a:pt x="71822" y="1076324"/>
                  </a:lnTo>
                  <a:lnTo>
                    <a:pt x="4056367" y="1076324"/>
                  </a:lnTo>
                  <a:lnTo>
                    <a:pt x="4055503" y="1076841"/>
                  </a:lnTo>
                  <a:lnTo>
                    <a:pt x="4048707" y="1080049"/>
                  </a:lnTo>
                  <a:lnTo>
                    <a:pt x="4041634" y="1082587"/>
                  </a:lnTo>
                  <a:lnTo>
                    <a:pt x="4034417" y="1084399"/>
                  </a:lnTo>
                  <a:lnTo>
                    <a:pt x="4027055" y="1085487"/>
                  </a:lnTo>
                  <a:lnTo>
                    <a:pt x="4019549" y="1085849"/>
                  </a:lnTo>
                  <a:close/>
                </a:path>
                <a:path w="4095750" h="1085850">
                  <a:moveTo>
                    <a:pt x="4056367" y="1076324"/>
                  </a:moveTo>
                  <a:lnTo>
                    <a:pt x="4023928" y="1076324"/>
                  </a:lnTo>
                  <a:lnTo>
                    <a:pt x="4028263" y="1075897"/>
                  </a:lnTo>
                  <a:lnTo>
                    <a:pt x="4036851" y="1074189"/>
                  </a:lnTo>
                  <a:lnTo>
                    <a:pt x="4069791" y="1053700"/>
                  </a:lnTo>
                  <a:lnTo>
                    <a:pt x="4085797" y="1018363"/>
                  </a:lnTo>
                  <a:lnTo>
                    <a:pt x="4086224" y="1014027"/>
                  </a:lnTo>
                  <a:lnTo>
                    <a:pt x="4086224" y="71822"/>
                  </a:lnTo>
                  <a:lnTo>
                    <a:pt x="4085916" y="68693"/>
                  </a:lnTo>
                  <a:lnTo>
                    <a:pt x="4085797" y="67486"/>
                  </a:lnTo>
                  <a:lnTo>
                    <a:pt x="4069791" y="32149"/>
                  </a:lnTo>
                  <a:lnTo>
                    <a:pt x="4036851" y="11660"/>
                  </a:lnTo>
                  <a:lnTo>
                    <a:pt x="4023928" y="9525"/>
                  </a:lnTo>
                  <a:lnTo>
                    <a:pt x="4056368" y="9525"/>
                  </a:lnTo>
                  <a:lnTo>
                    <a:pt x="4086738" y="40243"/>
                  </a:lnTo>
                  <a:lnTo>
                    <a:pt x="4095749" y="76199"/>
                  </a:lnTo>
                  <a:lnTo>
                    <a:pt x="4095749" y="1009649"/>
                  </a:lnTo>
                  <a:lnTo>
                    <a:pt x="4082916" y="1051992"/>
                  </a:lnTo>
                  <a:lnTo>
                    <a:pt x="4062017" y="1072925"/>
                  </a:lnTo>
                  <a:lnTo>
                    <a:pt x="4056367" y="1076324"/>
                  </a:lnTo>
                  <a:close/>
                </a:path>
              </a:pathLst>
            </a:custGeom>
            <a:solidFill>
              <a:srgbClr val="BF83FB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35050" y="3905249"/>
              <a:ext cx="171450" cy="209547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3693775" y="3696999"/>
            <a:ext cx="2463165" cy="85788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17500">
              <a:lnSpc>
                <a:spcPts val="1900"/>
              </a:lnSpc>
              <a:spcBef>
                <a:spcPts val="140"/>
              </a:spcBef>
            </a:pPr>
            <a:r>
              <a:rPr sz="16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Europe</a:t>
            </a:r>
            <a:endParaRPr sz="1650">
              <a:latin typeface="Times New Roman"/>
              <a:cs typeface="Times New Roman"/>
            </a:endParaRPr>
          </a:p>
          <a:p>
            <a:pPr marL="317500">
              <a:lnSpc>
                <a:spcPts val="2505"/>
              </a:lnSpc>
            </a:pPr>
            <a:r>
              <a:rPr sz="2150" b="1" spc="-10" dirty="0">
                <a:solidFill>
                  <a:srgbClr val="BF83FB"/>
                </a:solidFill>
                <a:latin typeface="Times New Roman"/>
                <a:cs typeface="Times New Roman"/>
              </a:rPr>
              <a:t>$</a:t>
            </a:r>
            <a:r>
              <a:rPr sz="1950" b="1" spc="-10" dirty="0">
                <a:solidFill>
                  <a:srgbClr val="BF83FB"/>
                </a:solidFill>
                <a:latin typeface="Times New Roman"/>
                <a:cs typeface="Times New Roman"/>
              </a:rPr>
              <a:t>7.8</a:t>
            </a:r>
            <a:r>
              <a:rPr sz="2150" b="1" spc="-10" dirty="0">
                <a:solidFill>
                  <a:srgbClr val="BF83FB"/>
                </a:solidFill>
                <a:latin typeface="Times New Roman"/>
                <a:cs typeface="Times New Roman"/>
              </a:rPr>
              <a:t>B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50" spc="-90" dirty="0">
                <a:solidFill>
                  <a:srgbClr val="FFFFFF"/>
                </a:solidFill>
                <a:latin typeface="Times New Roman"/>
                <a:cs typeface="Times New Roman"/>
              </a:rPr>
              <a:t>Strong</a:t>
            </a:r>
            <a:r>
              <a:rPr sz="14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70" dirty="0">
                <a:solidFill>
                  <a:srgbClr val="FFFFFF"/>
                </a:solidFill>
                <a:latin typeface="Times New Roman"/>
                <a:cs typeface="Times New Roman"/>
              </a:rPr>
              <a:t>ethical</a:t>
            </a:r>
            <a:r>
              <a:rPr sz="14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85" dirty="0">
                <a:solidFill>
                  <a:srgbClr val="FFFFFF"/>
                </a:solidFill>
                <a:latin typeface="Times New Roman"/>
                <a:cs typeface="Times New Roman"/>
              </a:rPr>
              <a:t>consumption</a:t>
            </a:r>
            <a:r>
              <a:rPr sz="14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65" dirty="0">
                <a:solidFill>
                  <a:srgbClr val="FFFFFF"/>
                </a:solidFill>
                <a:latin typeface="Times New Roman"/>
                <a:cs typeface="Times New Roman"/>
              </a:rPr>
              <a:t>trend</a:t>
            </a:r>
            <a:r>
              <a:rPr sz="1300" spc="-6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9372599" y="4800599"/>
            <a:ext cx="4095750" cy="1085850"/>
            <a:chOff x="9372599" y="4800599"/>
            <a:chExt cx="4095750" cy="1085850"/>
          </a:xfrm>
        </p:grpSpPr>
        <p:sp>
          <p:nvSpPr>
            <p:cNvPr id="46" name="object 46"/>
            <p:cNvSpPr/>
            <p:nvPr/>
          </p:nvSpPr>
          <p:spPr>
            <a:xfrm>
              <a:off x="9372599" y="4800599"/>
              <a:ext cx="4095750" cy="1085850"/>
            </a:xfrm>
            <a:custGeom>
              <a:avLst/>
              <a:gdLst/>
              <a:ahLst/>
              <a:cxnLst/>
              <a:rect l="l" t="t" r="r" b="b"/>
              <a:pathLst>
                <a:path w="4095750" h="1085850">
                  <a:moveTo>
                    <a:pt x="4019550" y="1085850"/>
                  </a:moveTo>
                  <a:lnTo>
                    <a:pt x="76200" y="1085850"/>
                  </a:lnTo>
                  <a:lnTo>
                    <a:pt x="68693" y="1085487"/>
                  </a:lnTo>
                  <a:lnTo>
                    <a:pt x="27882" y="1068582"/>
                  </a:lnTo>
                  <a:lnTo>
                    <a:pt x="3262" y="1031736"/>
                  </a:lnTo>
                  <a:lnTo>
                    <a:pt x="0" y="10096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200" y="0"/>
                  </a:lnTo>
                  <a:lnTo>
                    <a:pt x="4019550" y="0"/>
                  </a:lnTo>
                  <a:lnTo>
                    <a:pt x="4061891" y="12829"/>
                  </a:lnTo>
                  <a:lnTo>
                    <a:pt x="4089949" y="47039"/>
                  </a:lnTo>
                  <a:lnTo>
                    <a:pt x="4095750" y="76200"/>
                  </a:lnTo>
                  <a:lnTo>
                    <a:pt x="4095750" y="1009650"/>
                  </a:lnTo>
                  <a:lnTo>
                    <a:pt x="4082919" y="1051992"/>
                  </a:lnTo>
                  <a:lnTo>
                    <a:pt x="4048709" y="1080049"/>
                  </a:lnTo>
                  <a:lnTo>
                    <a:pt x="4019550" y="10858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9372599" y="4800600"/>
              <a:ext cx="4095750" cy="1085850"/>
            </a:xfrm>
            <a:custGeom>
              <a:avLst/>
              <a:gdLst/>
              <a:ahLst/>
              <a:cxnLst/>
              <a:rect l="l" t="t" r="r" b="b"/>
              <a:pathLst>
                <a:path w="4095750" h="1085850">
                  <a:moveTo>
                    <a:pt x="4019549" y="1085849"/>
                  </a:moveTo>
                  <a:lnTo>
                    <a:pt x="76199" y="1085849"/>
                  </a:lnTo>
                  <a:lnTo>
                    <a:pt x="68693" y="1085487"/>
                  </a:lnTo>
                  <a:lnTo>
                    <a:pt x="27882" y="1068582"/>
                  </a:lnTo>
                  <a:lnTo>
                    <a:pt x="3262" y="1031736"/>
                  </a:lnTo>
                  <a:lnTo>
                    <a:pt x="0" y="10096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019549" y="0"/>
                  </a:lnTo>
                  <a:lnTo>
                    <a:pt x="4056369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014027"/>
                  </a:lnTo>
                  <a:lnTo>
                    <a:pt x="23194" y="1050332"/>
                  </a:lnTo>
                  <a:lnTo>
                    <a:pt x="54729" y="1072924"/>
                  </a:lnTo>
                  <a:lnTo>
                    <a:pt x="71822" y="1076325"/>
                  </a:lnTo>
                  <a:lnTo>
                    <a:pt x="4056368" y="1076325"/>
                  </a:lnTo>
                  <a:lnTo>
                    <a:pt x="4055505" y="1076841"/>
                  </a:lnTo>
                  <a:lnTo>
                    <a:pt x="4048708" y="1080049"/>
                  </a:lnTo>
                  <a:lnTo>
                    <a:pt x="4041635" y="1082587"/>
                  </a:lnTo>
                  <a:lnTo>
                    <a:pt x="4034417" y="1084399"/>
                  </a:lnTo>
                  <a:lnTo>
                    <a:pt x="4027055" y="1085487"/>
                  </a:lnTo>
                  <a:lnTo>
                    <a:pt x="4019549" y="1085849"/>
                  </a:lnTo>
                  <a:close/>
                </a:path>
                <a:path w="4095750" h="1085850">
                  <a:moveTo>
                    <a:pt x="4056368" y="1076325"/>
                  </a:moveTo>
                  <a:lnTo>
                    <a:pt x="4023928" y="1076325"/>
                  </a:lnTo>
                  <a:lnTo>
                    <a:pt x="4028264" y="1075897"/>
                  </a:lnTo>
                  <a:lnTo>
                    <a:pt x="4036851" y="1074189"/>
                  </a:lnTo>
                  <a:lnTo>
                    <a:pt x="4069791" y="1053700"/>
                  </a:lnTo>
                  <a:lnTo>
                    <a:pt x="4085798" y="1018363"/>
                  </a:lnTo>
                  <a:lnTo>
                    <a:pt x="4086225" y="1014027"/>
                  </a:lnTo>
                  <a:lnTo>
                    <a:pt x="4086225" y="71822"/>
                  </a:lnTo>
                  <a:lnTo>
                    <a:pt x="4072555" y="35517"/>
                  </a:lnTo>
                  <a:lnTo>
                    <a:pt x="4040706" y="12829"/>
                  </a:lnTo>
                  <a:lnTo>
                    <a:pt x="4023928" y="9525"/>
                  </a:lnTo>
                  <a:lnTo>
                    <a:pt x="4056369" y="9525"/>
                  </a:lnTo>
                  <a:lnTo>
                    <a:pt x="4086741" y="40242"/>
                  </a:lnTo>
                  <a:lnTo>
                    <a:pt x="4095749" y="76199"/>
                  </a:lnTo>
                  <a:lnTo>
                    <a:pt x="4095749" y="1009649"/>
                  </a:lnTo>
                  <a:lnTo>
                    <a:pt x="4082919" y="1051992"/>
                  </a:lnTo>
                  <a:lnTo>
                    <a:pt x="4062018" y="1072924"/>
                  </a:lnTo>
                  <a:lnTo>
                    <a:pt x="4056368" y="1076325"/>
                  </a:lnTo>
                  <a:close/>
                </a:path>
              </a:pathLst>
            </a:custGeom>
            <a:solidFill>
              <a:srgbClr val="BF83FB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24999" y="5105399"/>
              <a:ext cx="171450" cy="209547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9483725" y="4897149"/>
            <a:ext cx="2094230" cy="85788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17500">
              <a:lnSpc>
                <a:spcPts val="1900"/>
              </a:lnSpc>
              <a:spcBef>
                <a:spcPts val="140"/>
              </a:spcBef>
            </a:pPr>
            <a:r>
              <a:rPr sz="16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Asia-</a:t>
            </a:r>
            <a:r>
              <a:rPr sz="16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Pacific</a:t>
            </a:r>
            <a:endParaRPr sz="1650">
              <a:latin typeface="Times New Roman"/>
              <a:cs typeface="Times New Roman"/>
            </a:endParaRPr>
          </a:p>
          <a:p>
            <a:pPr marL="317500">
              <a:lnSpc>
                <a:spcPts val="2505"/>
              </a:lnSpc>
            </a:pPr>
            <a:r>
              <a:rPr sz="2150" b="1" spc="-10" dirty="0">
                <a:solidFill>
                  <a:srgbClr val="BF83FB"/>
                </a:solidFill>
                <a:latin typeface="Times New Roman"/>
                <a:cs typeface="Times New Roman"/>
              </a:rPr>
              <a:t>$</a:t>
            </a:r>
            <a:r>
              <a:rPr sz="1950" b="1" spc="-10" dirty="0">
                <a:solidFill>
                  <a:srgbClr val="BF83FB"/>
                </a:solidFill>
                <a:latin typeface="Times New Roman"/>
                <a:cs typeface="Times New Roman"/>
              </a:rPr>
              <a:t>2.5</a:t>
            </a:r>
            <a:r>
              <a:rPr sz="2150" b="1" spc="-10" dirty="0">
                <a:solidFill>
                  <a:srgbClr val="BF83FB"/>
                </a:solidFill>
                <a:latin typeface="Times New Roman"/>
                <a:cs typeface="Times New Roman"/>
              </a:rPr>
              <a:t>B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50" spc="-110" dirty="0">
                <a:solidFill>
                  <a:srgbClr val="FFFFFF"/>
                </a:solidFill>
                <a:latin typeface="Times New Roman"/>
                <a:cs typeface="Times New Roman"/>
              </a:rPr>
              <a:t>Emerging</a:t>
            </a:r>
            <a:r>
              <a:rPr sz="14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05" dirty="0">
                <a:solidFill>
                  <a:srgbClr val="FFFFFF"/>
                </a:solidFill>
                <a:latin typeface="Times New Roman"/>
                <a:cs typeface="Times New Roman"/>
              </a:rPr>
              <a:t>premium</a:t>
            </a:r>
            <a:r>
              <a:rPr sz="14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90" dirty="0">
                <a:solidFill>
                  <a:srgbClr val="FFFFFF"/>
                </a:solidFill>
                <a:latin typeface="Times New Roman"/>
                <a:cs typeface="Times New Roman"/>
              </a:rPr>
              <a:t>segment</a:t>
            </a:r>
            <a:r>
              <a:rPr sz="1300" spc="-9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3582650" y="4800599"/>
            <a:ext cx="4095750" cy="1085850"/>
            <a:chOff x="13582650" y="4800599"/>
            <a:chExt cx="4095750" cy="1085850"/>
          </a:xfrm>
        </p:grpSpPr>
        <p:sp>
          <p:nvSpPr>
            <p:cNvPr id="51" name="object 51"/>
            <p:cNvSpPr/>
            <p:nvPr/>
          </p:nvSpPr>
          <p:spPr>
            <a:xfrm>
              <a:off x="13582650" y="4800599"/>
              <a:ext cx="4095750" cy="1085850"/>
            </a:xfrm>
            <a:custGeom>
              <a:avLst/>
              <a:gdLst/>
              <a:ahLst/>
              <a:cxnLst/>
              <a:rect l="l" t="t" r="r" b="b"/>
              <a:pathLst>
                <a:path w="4095750" h="1085850">
                  <a:moveTo>
                    <a:pt x="4019550" y="1085850"/>
                  </a:moveTo>
                  <a:lnTo>
                    <a:pt x="76200" y="1085850"/>
                  </a:lnTo>
                  <a:lnTo>
                    <a:pt x="68693" y="1085487"/>
                  </a:lnTo>
                  <a:lnTo>
                    <a:pt x="27881" y="1068582"/>
                  </a:lnTo>
                  <a:lnTo>
                    <a:pt x="3261" y="1031736"/>
                  </a:lnTo>
                  <a:lnTo>
                    <a:pt x="0" y="1009650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4019550" y="0"/>
                  </a:lnTo>
                  <a:lnTo>
                    <a:pt x="4061889" y="12829"/>
                  </a:lnTo>
                  <a:lnTo>
                    <a:pt x="4089946" y="47039"/>
                  </a:lnTo>
                  <a:lnTo>
                    <a:pt x="4095750" y="76200"/>
                  </a:lnTo>
                  <a:lnTo>
                    <a:pt x="4095750" y="1009650"/>
                  </a:lnTo>
                  <a:lnTo>
                    <a:pt x="4082916" y="1051992"/>
                  </a:lnTo>
                  <a:lnTo>
                    <a:pt x="4048707" y="1080049"/>
                  </a:lnTo>
                  <a:lnTo>
                    <a:pt x="4019550" y="10858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13582650" y="4800600"/>
              <a:ext cx="4095750" cy="1085850"/>
            </a:xfrm>
            <a:custGeom>
              <a:avLst/>
              <a:gdLst/>
              <a:ahLst/>
              <a:cxnLst/>
              <a:rect l="l" t="t" r="r" b="b"/>
              <a:pathLst>
                <a:path w="4095750" h="1085850">
                  <a:moveTo>
                    <a:pt x="4019549" y="1085849"/>
                  </a:moveTo>
                  <a:lnTo>
                    <a:pt x="76199" y="1085849"/>
                  </a:lnTo>
                  <a:lnTo>
                    <a:pt x="68693" y="1085487"/>
                  </a:lnTo>
                  <a:lnTo>
                    <a:pt x="27881" y="1068582"/>
                  </a:lnTo>
                  <a:lnTo>
                    <a:pt x="3261" y="1031736"/>
                  </a:lnTo>
                  <a:lnTo>
                    <a:pt x="0" y="1009649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4019549" y="0"/>
                  </a:lnTo>
                  <a:lnTo>
                    <a:pt x="4056368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1014027"/>
                  </a:lnTo>
                  <a:lnTo>
                    <a:pt x="23194" y="1050332"/>
                  </a:lnTo>
                  <a:lnTo>
                    <a:pt x="54729" y="1072924"/>
                  </a:lnTo>
                  <a:lnTo>
                    <a:pt x="71822" y="1076325"/>
                  </a:lnTo>
                  <a:lnTo>
                    <a:pt x="4056366" y="1076325"/>
                  </a:lnTo>
                  <a:lnTo>
                    <a:pt x="4055503" y="1076841"/>
                  </a:lnTo>
                  <a:lnTo>
                    <a:pt x="4048707" y="1080049"/>
                  </a:lnTo>
                  <a:lnTo>
                    <a:pt x="4041634" y="1082587"/>
                  </a:lnTo>
                  <a:lnTo>
                    <a:pt x="4034417" y="1084399"/>
                  </a:lnTo>
                  <a:lnTo>
                    <a:pt x="4027055" y="1085487"/>
                  </a:lnTo>
                  <a:lnTo>
                    <a:pt x="4019549" y="1085849"/>
                  </a:lnTo>
                  <a:close/>
                </a:path>
                <a:path w="4095750" h="1085850">
                  <a:moveTo>
                    <a:pt x="4056366" y="1076325"/>
                  </a:moveTo>
                  <a:lnTo>
                    <a:pt x="4023928" y="1076325"/>
                  </a:lnTo>
                  <a:lnTo>
                    <a:pt x="4028263" y="1075897"/>
                  </a:lnTo>
                  <a:lnTo>
                    <a:pt x="4036851" y="1074189"/>
                  </a:lnTo>
                  <a:lnTo>
                    <a:pt x="4069791" y="1053700"/>
                  </a:lnTo>
                  <a:lnTo>
                    <a:pt x="4085797" y="1018363"/>
                  </a:lnTo>
                  <a:lnTo>
                    <a:pt x="4086224" y="1014027"/>
                  </a:lnTo>
                  <a:lnTo>
                    <a:pt x="4086224" y="71822"/>
                  </a:lnTo>
                  <a:lnTo>
                    <a:pt x="4085916" y="68693"/>
                  </a:lnTo>
                  <a:lnTo>
                    <a:pt x="4085797" y="67486"/>
                  </a:lnTo>
                  <a:lnTo>
                    <a:pt x="4069791" y="32149"/>
                  </a:lnTo>
                  <a:lnTo>
                    <a:pt x="4036851" y="11660"/>
                  </a:lnTo>
                  <a:lnTo>
                    <a:pt x="4023928" y="9525"/>
                  </a:lnTo>
                  <a:lnTo>
                    <a:pt x="4056368" y="9525"/>
                  </a:lnTo>
                  <a:lnTo>
                    <a:pt x="4086738" y="40242"/>
                  </a:lnTo>
                  <a:lnTo>
                    <a:pt x="4095749" y="76199"/>
                  </a:lnTo>
                  <a:lnTo>
                    <a:pt x="4095749" y="1009649"/>
                  </a:lnTo>
                  <a:lnTo>
                    <a:pt x="4082916" y="1051992"/>
                  </a:lnTo>
                  <a:lnTo>
                    <a:pt x="4062016" y="1072924"/>
                  </a:lnTo>
                  <a:lnTo>
                    <a:pt x="4056366" y="1076325"/>
                  </a:lnTo>
                  <a:close/>
                </a:path>
              </a:pathLst>
            </a:custGeom>
            <a:solidFill>
              <a:srgbClr val="BF83FB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35050" y="5105399"/>
              <a:ext cx="171450" cy="209547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13693775" y="4897149"/>
            <a:ext cx="1976120" cy="85788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17500">
              <a:lnSpc>
                <a:spcPts val="1900"/>
              </a:lnSpc>
              <a:spcBef>
                <a:spcPts val="140"/>
              </a:spcBef>
            </a:pPr>
            <a:r>
              <a:rPr sz="165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Rest</a:t>
            </a:r>
            <a:r>
              <a:rPr sz="165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World</a:t>
            </a:r>
            <a:endParaRPr sz="1650">
              <a:latin typeface="Times New Roman"/>
              <a:cs typeface="Times New Roman"/>
            </a:endParaRPr>
          </a:p>
          <a:p>
            <a:pPr marL="317500">
              <a:lnSpc>
                <a:spcPts val="2505"/>
              </a:lnSpc>
            </a:pPr>
            <a:r>
              <a:rPr sz="2150" b="1" spc="-10" dirty="0">
                <a:solidFill>
                  <a:srgbClr val="BF83FB"/>
                </a:solidFill>
                <a:latin typeface="Times New Roman"/>
                <a:cs typeface="Times New Roman"/>
              </a:rPr>
              <a:t>$</a:t>
            </a:r>
            <a:r>
              <a:rPr sz="1950" b="1" spc="-10" dirty="0">
                <a:solidFill>
                  <a:srgbClr val="BF83FB"/>
                </a:solidFill>
                <a:latin typeface="Times New Roman"/>
                <a:cs typeface="Times New Roman"/>
              </a:rPr>
              <a:t>1.5</a:t>
            </a:r>
            <a:r>
              <a:rPr sz="2150" b="1" spc="-10" dirty="0">
                <a:solidFill>
                  <a:srgbClr val="BF83FB"/>
                </a:solidFill>
                <a:latin typeface="Times New Roman"/>
                <a:cs typeface="Times New Roman"/>
              </a:rPr>
              <a:t>B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50" spc="-100" dirty="0">
                <a:solidFill>
                  <a:srgbClr val="FFFFFF"/>
                </a:solidFill>
                <a:latin typeface="Times New Roman"/>
                <a:cs typeface="Times New Roman"/>
              </a:rPr>
              <a:t>Growing</a:t>
            </a:r>
            <a:r>
              <a:rPr sz="14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75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14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00" dirty="0">
                <a:solidFill>
                  <a:srgbClr val="FFFFFF"/>
                </a:solidFill>
                <a:latin typeface="Times New Roman"/>
                <a:cs typeface="Times New Roman"/>
              </a:rPr>
              <a:t>awareness</a:t>
            </a:r>
            <a:r>
              <a:rPr sz="1300" spc="-10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9372599" y="6000749"/>
            <a:ext cx="8305800" cy="819150"/>
            <a:chOff x="9372599" y="6000749"/>
            <a:chExt cx="8305800" cy="819150"/>
          </a:xfrm>
        </p:grpSpPr>
        <p:sp>
          <p:nvSpPr>
            <p:cNvPr id="56" name="object 56"/>
            <p:cNvSpPr/>
            <p:nvPr/>
          </p:nvSpPr>
          <p:spPr>
            <a:xfrm>
              <a:off x="9372599" y="6000749"/>
              <a:ext cx="8305800" cy="819150"/>
            </a:xfrm>
            <a:custGeom>
              <a:avLst/>
              <a:gdLst/>
              <a:ahLst/>
              <a:cxnLst/>
              <a:rect l="l" t="t" r="r" b="b"/>
              <a:pathLst>
                <a:path w="8305800" h="819150">
                  <a:moveTo>
                    <a:pt x="8229600" y="819150"/>
                  </a:moveTo>
                  <a:lnTo>
                    <a:pt x="76200" y="819150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6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12829" y="33856"/>
                  </a:lnTo>
                  <a:lnTo>
                    <a:pt x="47038" y="5799"/>
                  </a:lnTo>
                  <a:lnTo>
                    <a:pt x="76200" y="0"/>
                  </a:lnTo>
                  <a:lnTo>
                    <a:pt x="8229600" y="0"/>
                  </a:lnTo>
                  <a:lnTo>
                    <a:pt x="8271939" y="12829"/>
                  </a:lnTo>
                  <a:lnTo>
                    <a:pt x="8299996" y="47039"/>
                  </a:lnTo>
                  <a:lnTo>
                    <a:pt x="8305800" y="76200"/>
                  </a:lnTo>
                  <a:lnTo>
                    <a:pt x="8305800" y="742950"/>
                  </a:lnTo>
                  <a:lnTo>
                    <a:pt x="8292966" y="785291"/>
                  </a:lnTo>
                  <a:lnTo>
                    <a:pt x="8258757" y="813349"/>
                  </a:lnTo>
                  <a:lnTo>
                    <a:pt x="8229600" y="819150"/>
                  </a:lnTo>
                  <a:close/>
                </a:path>
              </a:pathLst>
            </a:custGeom>
            <a:solidFill>
              <a:srgbClr val="FF9933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9372599" y="6000749"/>
              <a:ext cx="8305800" cy="819150"/>
            </a:xfrm>
            <a:custGeom>
              <a:avLst/>
              <a:gdLst/>
              <a:ahLst/>
              <a:cxnLst/>
              <a:rect l="l" t="t" r="r" b="b"/>
              <a:pathLst>
                <a:path w="8305800" h="819150">
                  <a:moveTo>
                    <a:pt x="8229599" y="819149"/>
                  </a:moveTo>
                  <a:lnTo>
                    <a:pt x="76199" y="819149"/>
                  </a:lnTo>
                  <a:lnTo>
                    <a:pt x="68693" y="818787"/>
                  </a:lnTo>
                  <a:lnTo>
                    <a:pt x="27882" y="801882"/>
                  </a:lnTo>
                  <a:lnTo>
                    <a:pt x="3262" y="765036"/>
                  </a:lnTo>
                  <a:lnTo>
                    <a:pt x="0" y="74294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8229599" y="0"/>
                  </a:lnTo>
                  <a:lnTo>
                    <a:pt x="8266418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747328"/>
                  </a:lnTo>
                  <a:lnTo>
                    <a:pt x="9833" y="750456"/>
                  </a:lnTo>
                  <a:lnTo>
                    <a:pt x="9952" y="751663"/>
                  </a:lnTo>
                  <a:lnTo>
                    <a:pt x="25958" y="787000"/>
                  </a:lnTo>
                  <a:lnTo>
                    <a:pt x="58898" y="807489"/>
                  </a:lnTo>
                  <a:lnTo>
                    <a:pt x="71822" y="809625"/>
                  </a:lnTo>
                  <a:lnTo>
                    <a:pt x="8266416" y="809625"/>
                  </a:lnTo>
                  <a:lnTo>
                    <a:pt x="8265553" y="810141"/>
                  </a:lnTo>
                  <a:lnTo>
                    <a:pt x="8258756" y="813349"/>
                  </a:lnTo>
                  <a:lnTo>
                    <a:pt x="8251684" y="815886"/>
                  </a:lnTo>
                  <a:lnTo>
                    <a:pt x="8244467" y="817699"/>
                  </a:lnTo>
                  <a:lnTo>
                    <a:pt x="8237105" y="818787"/>
                  </a:lnTo>
                  <a:lnTo>
                    <a:pt x="8229599" y="819149"/>
                  </a:lnTo>
                  <a:close/>
                </a:path>
                <a:path w="8305800" h="819150">
                  <a:moveTo>
                    <a:pt x="8266416" y="809625"/>
                  </a:moveTo>
                  <a:lnTo>
                    <a:pt x="8233978" y="809625"/>
                  </a:lnTo>
                  <a:lnTo>
                    <a:pt x="8238313" y="809197"/>
                  </a:lnTo>
                  <a:lnTo>
                    <a:pt x="8246901" y="807489"/>
                  </a:lnTo>
                  <a:lnTo>
                    <a:pt x="8279841" y="787000"/>
                  </a:lnTo>
                  <a:lnTo>
                    <a:pt x="8295847" y="751663"/>
                  </a:lnTo>
                  <a:lnTo>
                    <a:pt x="8296274" y="747328"/>
                  </a:lnTo>
                  <a:lnTo>
                    <a:pt x="8296274" y="71822"/>
                  </a:lnTo>
                  <a:lnTo>
                    <a:pt x="8295966" y="68693"/>
                  </a:lnTo>
                  <a:lnTo>
                    <a:pt x="8295847" y="67486"/>
                  </a:lnTo>
                  <a:lnTo>
                    <a:pt x="8279841" y="32149"/>
                  </a:lnTo>
                  <a:lnTo>
                    <a:pt x="8246901" y="11660"/>
                  </a:lnTo>
                  <a:lnTo>
                    <a:pt x="8233978" y="9525"/>
                  </a:lnTo>
                  <a:lnTo>
                    <a:pt x="8266418" y="9525"/>
                  </a:lnTo>
                  <a:lnTo>
                    <a:pt x="8296788" y="40242"/>
                  </a:lnTo>
                  <a:lnTo>
                    <a:pt x="8305799" y="76199"/>
                  </a:lnTo>
                  <a:lnTo>
                    <a:pt x="8305799" y="742949"/>
                  </a:lnTo>
                  <a:lnTo>
                    <a:pt x="8292966" y="785291"/>
                  </a:lnTo>
                  <a:lnTo>
                    <a:pt x="8272066" y="806224"/>
                  </a:lnTo>
                  <a:lnTo>
                    <a:pt x="8266416" y="809625"/>
                  </a:lnTo>
                  <a:close/>
                </a:path>
              </a:pathLst>
            </a:custGeom>
            <a:solidFill>
              <a:srgbClr val="FA913C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9483725" y="6036903"/>
            <a:ext cx="3096895" cy="600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10"/>
              </a:spcBef>
            </a:pPr>
            <a:r>
              <a:rPr sz="15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Current</a:t>
            </a:r>
            <a:r>
              <a:rPr sz="1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Indian</a:t>
            </a:r>
            <a:r>
              <a:rPr sz="1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Export</a:t>
            </a:r>
            <a:r>
              <a:rPr sz="145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45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14" dirty="0">
                <a:solidFill>
                  <a:srgbClr val="FFFFFF"/>
                </a:solidFill>
                <a:latin typeface="Times New Roman"/>
                <a:cs typeface="Times New Roman"/>
              </a:rPr>
              <a:t>$</a:t>
            </a:r>
            <a:r>
              <a:rPr sz="1450" spc="-114" dirty="0">
                <a:solidFill>
                  <a:srgbClr val="FFFFFF"/>
                </a:solidFill>
                <a:latin typeface="Times New Roman"/>
                <a:cs typeface="Times New Roman"/>
              </a:rPr>
              <a:t>3.5</a:t>
            </a:r>
            <a:r>
              <a:rPr sz="1600" spc="-114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Times New Roman"/>
                <a:cs typeface="Times New Roman"/>
              </a:rPr>
              <a:t>annually </a:t>
            </a:r>
            <a:r>
              <a:rPr sz="15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sz="1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Potential</a:t>
            </a:r>
            <a:r>
              <a:rPr sz="145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4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30" dirty="0">
                <a:solidFill>
                  <a:srgbClr val="128708"/>
                </a:solidFill>
                <a:latin typeface="Times New Roman"/>
                <a:cs typeface="Times New Roman"/>
              </a:rPr>
              <a:t>$</a:t>
            </a:r>
            <a:r>
              <a:rPr sz="1450" b="1" spc="-30" dirty="0">
                <a:solidFill>
                  <a:srgbClr val="128708"/>
                </a:solidFill>
                <a:latin typeface="Times New Roman"/>
                <a:cs typeface="Times New Roman"/>
              </a:rPr>
              <a:t>15-</a:t>
            </a:r>
            <a:r>
              <a:rPr sz="1450" b="1" dirty="0">
                <a:solidFill>
                  <a:srgbClr val="128708"/>
                </a:solidFill>
                <a:latin typeface="Times New Roman"/>
                <a:cs typeface="Times New Roman"/>
              </a:rPr>
              <a:t>20</a:t>
            </a:r>
            <a:r>
              <a:rPr sz="1600" b="1" dirty="0">
                <a:solidFill>
                  <a:srgbClr val="128708"/>
                </a:solidFill>
                <a:latin typeface="Times New Roman"/>
                <a:cs typeface="Times New Roman"/>
              </a:rPr>
              <a:t>M</a:t>
            </a:r>
            <a:r>
              <a:rPr sz="1600" b="1" spc="-95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1600" b="1" spc="-120" dirty="0">
                <a:solidFill>
                  <a:srgbClr val="128708"/>
                </a:solidFill>
                <a:latin typeface="Times New Roman"/>
                <a:cs typeface="Times New Roman"/>
              </a:rPr>
              <a:t>in</a:t>
            </a:r>
            <a:r>
              <a:rPr sz="1600" b="1" spc="-95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1600" b="1" spc="-130" dirty="0">
                <a:solidFill>
                  <a:srgbClr val="128708"/>
                </a:solidFill>
                <a:latin typeface="Times New Roman"/>
                <a:cs typeface="Times New Roman"/>
              </a:rPr>
              <a:t>Year</a:t>
            </a:r>
            <a:r>
              <a:rPr sz="1600" b="1" spc="-100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1450" b="1" spc="15" dirty="0">
                <a:solidFill>
                  <a:srgbClr val="128708"/>
                </a:solidFill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359900" y="6905749"/>
            <a:ext cx="15684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Why</a:t>
            </a:r>
            <a:r>
              <a:rPr sz="17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This </a:t>
            </a:r>
            <a:r>
              <a:rPr sz="17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Scales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9372599" y="7277100"/>
            <a:ext cx="4114800" cy="628650"/>
            <a:chOff x="9372599" y="7277100"/>
            <a:chExt cx="4114800" cy="628650"/>
          </a:xfrm>
        </p:grpSpPr>
        <p:sp>
          <p:nvSpPr>
            <p:cNvPr id="61" name="object 61"/>
            <p:cNvSpPr/>
            <p:nvPr/>
          </p:nvSpPr>
          <p:spPr>
            <a:xfrm>
              <a:off x="9372599" y="7277100"/>
              <a:ext cx="4114800" cy="628650"/>
            </a:xfrm>
            <a:custGeom>
              <a:avLst/>
              <a:gdLst/>
              <a:ahLst/>
              <a:cxnLst/>
              <a:rect l="l" t="t" r="r" b="b"/>
              <a:pathLst>
                <a:path w="4114800" h="628650">
                  <a:moveTo>
                    <a:pt x="4038600" y="628650"/>
                  </a:moveTo>
                  <a:lnTo>
                    <a:pt x="76200" y="628650"/>
                  </a:lnTo>
                  <a:lnTo>
                    <a:pt x="68693" y="628287"/>
                  </a:lnTo>
                  <a:lnTo>
                    <a:pt x="27882" y="611382"/>
                  </a:lnTo>
                  <a:lnTo>
                    <a:pt x="3262" y="574536"/>
                  </a:lnTo>
                  <a:lnTo>
                    <a:pt x="0" y="552450"/>
                  </a:lnTo>
                  <a:lnTo>
                    <a:pt x="0" y="76200"/>
                  </a:lnTo>
                  <a:lnTo>
                    <a:pt x="12829" y="33856"/>
                  </a:lnTo>
                  <a:lnTo>
                    <a:pt x="47038" y="5799"/>
                  </a:lnTo>
                  <a:lnTo>
                    <a:pt x="76200" y="0"/>
                  </a:lnTo>
                  <a:lnTo>
                    <a:pt x="4038600" y="0"/>
                  </a:lnTo>
                  <a:lnTo>
                    <a:pt x="4080941" y="12829"/>
                  </a:lnTo>
                  <a:lnTo>
                    <a:pt x="4108996" y="47038"/>
                  </a:lnTo>
                  <a:lnTo>
                    <a:pt x="4114800" y="76200"/>
                  </a:lnTo>
                  <a:lnTo>
                    <a:pt x="4114800" y="552450"/>
                  </a:lnTo>
                  <a:lnTo>
                    <a:pt x="4101968" y="594791"/>
                  </a:lnTo>
                  <a:lnTo>
                    <a:pt x="4067759" y="622849"/>
                  </a:lnTo>
                  <a:lnTo>
                    <a:pt x="4038600" y="628650"/>
                  </a:lnTo>
                  <a:close/>
                </a:path>
              </a:pathLst>
            </a:custGeom>
            <a:solidFill>
              <a:srgbClr val="128708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9372599" y="7277100"/>
              <a:ext cx="4114800" cy="628650"/>
            </a:xfrm>
            <a:custGeom>
              <a:avLst/>
              <a:gdLst/>
              <a:ahLst/>
              <a:cxnLst/>
              <a:rect l="l" t="t" r="r" b="b"/>
              <a:pathLst>
                <a:path w="4114800" h="628650">
                  <a:moveTo>
                    <a:pt x="4038599" y="628649"/>
                  </a:moveTo>
                  <a:lnTo>
                    <a:pt x="76199" y="628649"/>
                  </a:lnTo>
                  <a:lnTo>
                    <a:pt x="68693" y="628287"/>
                  </a:lnTo>
                  <a:lnTo>
                    <a:pt x="27882" y="611382"/>
                  </a:lnTo>
                  <a:lnTo>
                    <a:pt x="3262" y="574536"/>
                  </a:lnTo>
                  <a:lnTo>
                    <a:pt x="0" y="55244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4038599" y="0"/>
                  </a:lnTo>
                  <a:lnTo>
                    <a:pt x="4075420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556828"/>
                  </a:lnTo>
                  <a:lnTo>
                    <a:pt x="23194" y="593132"/>
                  </a:lnTo>
                  <a:lnTo>
                    <a:pt x="54729" y="615725"/>
                  </a:lnTo>
                  <a:lnTo>
                    <a:pt x="71822" y="619125"/>
                  </a:lnTo>
                  <a:lnTo>
                    <a:pt x="4075418" y="619125"/>
                  </a:lnTo>
                  <a:lnTo>
                    <a:pt x="4074555" y="619641"/>
                  </a:lnTo>
                  <a:lnTo>
                    <a:pt x="4067758" y="622849"/>
                  </a:lnTo>
                  <a:lnTo>
                    <a:pt x="4060685" y="625386"/>
                  </a:lnTo>
                  <a:lnTo>
                    <a:pt x="4053467" y="627199"/>
                  </a:lnTo>
                  <a:lnTo>
                    <a:pt x="4046105" y="628287"/>
                  </a:lnTo>
                  <a:lnTo>
                    <a:pt x="4038599" y="628649"/>
                  </a:lnTo>
                  <a:close/>
                </a:path>
                <a:path w="4114800" h="628650">
                  <a:moveTo>
                    <a:pt x="4075418" y="619125"/>
                  </a:moveTo>
                  <a:lnTo>
                    <a:pt x="4042977" y="619125"/>
                  </a:lnTo>
                  <a:lnTo>
                    <a:pt x="4047313" y="618698"/>
                  </a:lnTo>
                  <a:lnTo>
                    <a:pt x="4055901" y="616989"/>
                  </a:lnTo>
                  <a:lnTo>
                    <a:pt x="4088841" y="596500"/>
                  </a:lnTo>
                  <a:lnTo>
                    <a:pt x="4104848" y="561163"/>
                  </a:lnTo>
                  <a:lnTo>
                    <a:pt x="4105275" y="556828"/>
                  </a:lnTo>
                  <a:lnTo>
                    <a:pt x="4105275" y="71822"/>
                  </a:lnTo>
                  <a:lnTo>
                    <a:pt x="4091605" y="35517"/>
                  </a:lnTo>
                  <a:lnTo>
                    <a:pt x="4059754" y="12829"/>
                  </a:lnTo>
                  <a:lnTo>
                    <a:pt x="4042977" y="9525"/>
                  </a:lnTo>
                  <a:lnTo>
                    <a:pt x="4075420" y="9525"/>
                  </a:lnTo>
                  <a:lnTo>
                    <a:pt x="4105789" y="40242"/>
                  </a:lnTo>
                  <a:lnTo>
                    <a:pt x="4114799" y="76199"/>
                  </a:lnTo>
                  <a:lnTo>
                    <a:pt x="4114799" y="552449"/>
                  </a:lnTo>
                  <a:lnTo>
                    <a:pt x="4101968" y="594791"/>
                  </a:lnTo>
                  <a:lnTo>
                    <a:pt x="4081068" y="615725"/>
                  </a:lnTo>
                  <a:lnTo>
                    <a:pt x="4075418" y="619125"/>
                  </a:lnTo>
                  <a:close/>
                </a:path>
              </a:pathLst>
            </a:custGeom>
            <a:solidFill>
              <a:srgbClr val="4ADE8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63" name="object 6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66262" y="7408862"/>
              <a:ext cx="174625" cy="174625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9712325" y="7337311"/>
            <a:ext cx="3167380" cy="450893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40"/>
              </a:spcBef>
            </a:pPr>
            <a:r>
              <a:rPr sz="1450" spc="-75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4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65" dirty="0">
                <a:solidFill>
                  <a:srgbClr val="FFFFFF"/>
                </a:solidFill>
                <a:latin typeface="Times New Roman"/>
                <a:cs typeface="Times New Roman"/>
              </a:rPr>
              <a:t>effects</a:t>
            </a:r>
            <a:r>
              <a:rPr sz="1300" spc="-6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3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05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4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80" dirty="0">
                <a:solidFill>
                  <a:srgbClr val="FFFFFF"/>
                </a:solidFill>
                <a:latin typeface="Times New Roman"/>
                <a:cs typeface="Times New Roman"/>
              </a:rPr>
              <a:t>artisans</a:t>
            </a:r>
            <a:r>
              <a:rPr sz="14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65" dirty="0">
                <a:solidFill>
                  <a:srgbClr val="FFFFFF"/>
                </a:solidFill>
                <a:latin typeface="Times New Roman"/>
                <a:cs typeface="Times New Roman"/>
              </a:rPr>
              <a:t>attract</a:t>
            </a:r>
            <a:r>
              <a:rPr sz="14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10" dirty="0">
                <a:solidFill>
                  <a:srgbClr val="FFFFFF"/>
                </a:solidFill>
                <a:latin typeface="Times New Roman"/>
                <a:cs typeface="Times New Roman"/>
              </a:rPr>
              <a:t>more </a:t>
            </a:r>
            <a:r>
              <a:rPr sz="1450" spc="-10" dirty="0">
                <a:solidFill>
                  <a:srgbClr val="FFFFFF"/>
                </a:solidFill>
                <a:latin typeface="Times New Roman"/>
                <a:cs typeface="Times New Roman"/>
              </a:rPr>
              <a:t>buyers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3563598" y="7277100"/>
            <a:ext cx="4114800" cy="628650"/>
            <a:chOff x="13563598" y="7277100"/>
            <a:chExt cx="4114800" cy="628650"/>
          </a:xfrm>
        </p:grpSpPr>
        <p:sp>
          <p:nvSpPr>
            <p:cNvPr id="66" name="object 66"/>
            <p:cNvSpPr/>
            <p:nvPr/>
          </p:nvSpPr>
          <p:spPr>
            <a:xfrm>
              <a:off x="13563599" y="7277100"/>
              <a:ext cx="4114800" cy="628650"/>
            </a:xfrm>
            <a:custGeom>
              <a:avLst/>
              <a:gdLst/>
              <a:ahLst/>
              <a:cxnLst/>
              <a:rect l="l" t="t" r="r" b="b"/>
              <a:pathLst>
                <a:path w="4114800" h="628650">
                  <a:moveTo>
                    <a:pt x="4038600" y="628650"/>
                  </a:moveTo>
                  <a:lnTo>
                    <a:pt x="76200" y="628650"/>
                  </a:lnTo>
                  <a:lnTo>
                    <a:pt x="68693" y="628287"/>
                  </a:lnTo>
                  <a:lnTo>
                    <a:pt x="27881" y="611382"/>
                  </a:lnTo>
                  <a:lnTo>
                    <a:pt x="3261" y="574536"/>
                  </a:lnTo>
                  <a:lnTo>
                    <a:pt x="0" y="552450"/>
                  </a:lnTo>
                  <a:lnTo>
                    <a:pt x="0" y="76200"/>
                  </a:lnTo>
                  <a:lnTo>
                    <a:pt x="12829" y="33856"/>
                  </a:lnTo>
                  <a:lnTo>
                    <a:pt x="47039" y="5799"/>
                  </a:lnTo>
                  <a:lnTo>
                    <a:pt x="76200" y="0"/>
                  </a:lnTo>
                  <a:lnTo>
                    <a:pt x="4038600" y="0"/>
                  </a:lnTo>
                  <a:lnTo>
                    <a:pt x="4080939" y="12829"/>
                  </a:lnTo>
                  <a:lnTo>
                    <a:pt x="4108996" y="47038"/>
                  </a:lnTo>
                  <a:lnTo>
                    <a:pt x="4114800" y="76200"/>
                  </a:lnTo>
                  <a:lnTo>
                    <a:pt x="4114800" y="552450"/>
                  </a:lnTo>
                  <a:lnTo>
                    <a:pt x="4101966" y="594791"/>
                  </a:lnTo>
                  <a:lnTo>
                    <a:pt x="4067757" y="622849"/>
                  </a:lnTo>
                  <a:lnTo>
                    <a:pt x="4038600" y="628650"/>
                  </a:lnTo>
                  <a:close/>
                </a:path>
              </a:pathLst>
            </a:custGeom>
            <a:solidFill>
              <a:srgbClr val="128708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13563598" y="7277100"/>
              <a:ext cx="4114800" cy="628650"/>
            </a:xfrm>
            <a:custGeom>
              <a:avLst/>
              <a:gdLst/>
              <a:ahLst/>
              <a:cxnLst/>
              <a:rect l="l" t="t" r="r" b="b"/>
              <a:pathLst>
                <a:path w="4114800" h="628650">
                  <a:moveTo>
                    <a:pt x="4038599" y="628649"/>
                  </a:moveTo>
                  <a:lnTo>
                    <a:pt x="76199" y="628649"/>
                  </a:lnTo>
                  <a:lnTo>
                    <a:pt x="68693" y="628287"/>
                  </a:lnTo>
                  <a:lnTo>
                    <a:pt x="27881" y="611382"/>
                  </a:lnTo>
                  <a:lnTo>
                    <a:pt x="3261" y="574536"/>
                  </a:lnTo>
                  <a:lnTo>
                    <a:pt x="0" y="76199"/>
                  </a:lnTo>
                  <a:lnTo>
                    <a:pt x="361" y="68693"/>
                  </a:lnTo>
                  <a:lnTo>
                    <a:pt x="17265" y="27881"/>
                  </a:lnTo>
                  <a:lnTo>
                    <a:pt x="54113" y="3262"/>
                  </a:lnTo>
                  <a:lnTo>
                    <a:pt x="76199" y="0"/>
                  </a:lnTo>
                  <a:lnTo>
                    <a:pt x="4038599" y="0"/>
                  </a:lnTo>
                  <a:lnTo>
                    <a:pt x="4075419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556828"/>
                  </a:lnTo>
                  <a:lnTo>
                    <a:pt x="23194" y="593132"/>
                  </a:lnTo>
                  <a:lnTo>
                    <a:pt x="54729" y="615725"/>
                  </a:lnTo>
                  <a:lnTo>
                    <a:pt x="71822" y="619125"/>
                  </a:lnTo>
                  <a:lnTo>
                    <a:pt x="4075416" y="619125"/>
                  </a:lnTo>
                  <a:lnTo>
                    <a:pt x="4074553" y="619641"/>
                  </a:lnTo>
                  <a:lnTo>
                    <a:pt x="4067757" y="622849"/>
                  </a:lnTo>
                  <a:lnTo>
                    <a:pt x="4060684" y="625386"/>
                  </a:lnTo>
                  <a:lnTo>
                    <a:pt x="4053467" y="627199"/>
                  </a:lnTo>
                  <a:lnTo>
                    <a:pt x="4046105" y="628287"/>
                  </a:lnTo>
                  <a:lnTo>
                    <a:pt x="4038599" y="628649"/>
                  </a:lnTo>
                  <a:close/>
                </a:path>
                <a:path w="4114800" h="628650">
                  <a:moveTo>
                    <a:pt x="4075416" y="619125"/>
                  </a:moveTo>
                  <a:lnTo>
                    <a:pt x="4042978" y="619125"/>
                  </a:lnTo>
                  <a:lnTo>
                    <a:pt x="4047313" y="618698"/>
                  </a:lnTo>
                  <a:lnTo>
                    <a:pt x="4055901" y="616989"/>
                  </a:lnTo>
                  <a:lnTo>
                    <a:pt x="4088841" y="596500"/>
                  </a:lnTo>
                  <a:lnTo>
                    <a:pt x="4104848" y="561163"/>
                  </a:lnTo>
                  <a:lnTo>
                    <a:pt x="4105275" y="556828"/>
                  </a:lnTo>
                  <a:lnTo>
                    <a:pt x="4105275" y="71822"/>
                  </a:lnTo>
                  <a:lnTo>
                    <a:pt x="4091605" y="35517"/>
                  </a:lnTo>
                  <a:lnTo>
                    <a:pt x="4059754" y="12829"/>
                  </a:lnTo>
                  <a:lnTo>
                    <a:pt x="4042978" y="9525"/>
                  </a:lnTo>
                  <a:lnTo>
                    <a:pt x="4075419" y="9525"/>
                  </a:lnTo>
                  <a:lnTo>
                    <a:pt x="4105788" y="40242"/>
                  </a:lnTo>
                  <a:lnTo>
                    <a:pt x="4114799" y="76199"/>
                  </a:lnTo>
                  <a:lnTo>
                    <a:pt x="4114799" y="552449"/>
                  </a:lnTo>
                  <a:lnTo>
                    <a:pt x="4101966" y="594791"/>
                  </a:lnTo>
                  <a:lnTo>
                    <a:pt x="4081066" y="615725"/>
                  </a:lnTo>
                  <a:lnTo>
                    <a:pt x="4075416" y="619125"/>
                  </a:lnTo>
                  <a:close/>
                </a:path>
              </a:pathLst>
            </a:custGeom>
            <a:solidFill>
              <a:srgbClr val="4ADE8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68" name="object 6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664505" y="7408314"/>
              <a:ext cx="160138" cy="175721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13903325" y="7337311"/>
            <a:ext cx="3263900" cy="450893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40"/>
              </a:spcBef>
            </a:pPr>
            <a:r>
              <a:rPr sz="1450" spc="-125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4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95" dirty="0">
                <a:solidFill>
                  <a:srgbClr val="FFFFFF"/>
                </a:solidFill>
                <a:latin typeface="Times New Roman"/>
                <a:cs typeface="Times New Roman"/>
              </a:rPr>
              <a:t>improves</a:t>
            </a:r>
            <a:r>
              <a:rPr sz="14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6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4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85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300" spc="-8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3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90" dirty="0">
                <a:solidFill>
                  <a:srgbClr val="FFFFFF"/>
                </a:solidFill>
                <a:latin typeface="Times New Roman"/>
                <a:cs typeface="Times New Roman"/>
              </a:rPr>
              <a:t>enhancing</a:t>
            </a:r>
            <a:r>
              <a:rPr sz="14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95" dirty="0">
                <a:solidFill>
                  <a:srgbClr val="FFFFFF"/>
                </a:solidFill>
                <a:latin typeface="Times New Roman"/>
                <a:cs typeface="Times New Roman"/>
              </a:rPr>
              <a:t>matching</a:t>
            </a:r>
            <a:r>
              <a:rPr sz="14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37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Times New Roman"/>
                <a:cs typeface="Times New Roman"/>
              </a:rPr>
              <a:t>pricing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9372599" y="7981950"/>
            <a:ext cx="4114800" cy="628650"/>
            <a:chOff x="9372599" y="7981950"/>
            <a:chExt cx="4114800" cy="628650"/>
          </a:xfrm>
        </p:grpSpPr>
        <p:sp>
          <p:nvSpPr>
            <p:cNvPr id="71" name="object 71"/>
            <p:cNvSpPr/>
            <p:nvPr/>
          </p:nvSpPr>
          <p:spPr>
            <a:xfrm>
              <a:off x="9372599" y="7981950"/>
              <a:ext cx="4114800" cy="628650"/>
            </a:xfrm>
            <a:custGeom>
              <a:avLst/>
              <a:gdLst/>
              <a:ahLst/>
              <a:cxnLst/>
              <a:rect l="l" t="t" r="r" b="b"/>
              <a:pathLst>
                <a:path w="4114800" h="628650">
                  <a:moveTo>
                    <a:pt x="4038600" y="628650"/>
                  </a:moveTo>
                  <a:lnTo>
                    <a:pt x="76200" y="628650"/>
                  </a:lnTo>
                  <a:lnTo>
                    <a:pt x="68693" y="628287"/>
                  </a:lnTo>
                  <a:lnTo>
                    <a:pt x="27882" y="611382"/>
                  </a:lnTo>
                  <a:lnTo>
                    <a:pt x="3262" y="574536"/>
                  </a:lnTo>
                  <a:lnTo>
                    <a:pt x="0" y="5524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200" y="0"/>
                  </a:lnTo>
                  <a:lnTo>
                    <a:pt x="4038600" y="0"/>
                  </a:lnTo>
                  <a:lnTo>
                    <a:pt x="4080941" y="12829"/>
                  </a:lnTo>
                  <a:lnTo>
                    <a:pt x="4108996" y="47038"/>
                  </a:lnTo>
                  <a:lnTo>
                    <a:pt x="4114800" y="76200"/>
                  </a:lnTo>
                  <a:lnTo>
                    <a:pt x="4114800" y="552450"/>
                  </a:lnTo>
                  <a:lnTo>
                    <a:pt x="4101968" y="594791"/>
                  </a:lnTo>
                  <a:lnTo>
                    <a:pt x="4067759" y="622849"/>
                  </a:lnTo>
                  <a:lnTo>
                    <a:pt x="4038600" y="628650"/>
                  </a:lnTo>
                  <a:close/>
                </a:path>
              </a:pathLst>
            </a:custGeom>
            <a:solidFill>
              <a:srgbClr val="128708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9372599" y="7981950"/>
              <a:ext cx="4114800" cy="628650"/>
            </a:xfrm>
            <a:custGeom>
              <a:avLst/>
              <a:gdLst/>
              <a:ahLst/>
              <a:cxnLst/>
              <a:rect l="l" t="t" r="r" b="b"/>
              <a:pathLst>
                <a:path w="4114800" h="628650">
                  <a:moveTo>
                    <a:pt x="4038599" y="628649"/>
                  </a:moveTo>
                  <a:lnTo>
                    <a:pt x="76199" y="628649"/>
                  </a:lnTo>
                  <a:lnTo>
                    <a:pt x="68693" y="628287"/>
                  </a:lnTo>
                  <a:lnTo>
                    <a:pt x="27882" y="611382"/>
                  </a:lnTo>
                  <a:lnTo>
                    <a:pt x="3262" y="574536"/>
                  </a:lnTo>
                  <a:lnTo>
                    <a:pt x="0" y="5524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038599" y="0"/>
                  </a:lnTo>
                  <a:lnTo>
                    <a:pt x="4075419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556828"/>
                  </a:lnTo>
                  <a:lnTo>
                    <a:pt x="9833" y="559956"/>
                  </a:lnTo>
                  <a:lnTo>
                    <a:pt x="9952" y="561163"/>
                  </a:lnTo>
                  <a:lnTo>
                    <a:pt x="25958" y="596500"/>
                  </a:lnTo>
                  <a:lnTo>
                    <a:pt x="58898" y="616989"/>
                  </a:lnTo>
                  <a:lnTo>
                    <a:pt x="71822" y="619125"/>
                  </a:lnTo>
                  <a:lnTo>
                    <a:pt x="4075417" y="619125"/>
                  </a:lnTo>
                  <a:lnTo>
                    <a:pt x="4074555" y="619641"/>
                  </a:lnTo>
                  <a:lnTo>
                    <a:pt x="4067758" y="622849"/>
                  </a:lnTo>
                  <a:lnTo>
                    <a:pt x="4060685" y="625386"/>
                  </a:lnTo>
                  <a:lnTo>
                    <a:pt x="4053467" y="627199"/>
                  </a:lnTo>
                  <a:lnTo>
                    <a:pt x="4046105" y="628287"/>
                  </a:lnTo>
                  <a:lnTo>
                    <a:pt x="4038599" y="628649"/>
                  </a:lnTo>
                  <a:close/>
                </a:path>
                <a:path w="4114800" h="628650">
                  <a:moveTo>
                    <a:pt x="4075417" y="619125"/>
                  </a:moveTo>
                  <a:lnTo>
                    <a:pt x="4042977" y="619125"/>
                  </a:lnTo>
                  <a:lnTo>
                    <a:pt x="4047313" y="618698"/>
                  </a:lnTo>
                  <a:lnTo>
                    <a:pt x="4055901" y="616989"/>
                  </a:lnTo>
                  <a:lnTo>
                    <a:pt x="4088841" y="596500"/>
                  </a:lnTo>
                  <a:lnTo>
                    <a:pt x="4104848" y="561163"/>
                  </a:lnTo>
                  <a:lnTo>
                    <a:pt x="4105275" y="556828"/>
                  </a:lnTo>
                  <a:lnTo>
                    <a:pt x="4105275" y="71822"/>
                  </a:lnTo>
                  <a:lnTo>
                    <a:pt x="4091605" y="35517"/>
                  </a:lnTo>
                  <a:lnTo>
                    <a:pt x="4059756" y="12829"/>
                  </a:lnTo>
                  <a:lnTo>
                    <a:pt x="4042977" y="9525"/>
                  </a:lnTo>
                  <a:lnTo>
                    <a:pt x="4075419" y="9525"/>
                  </a:lnTo>
                  <a:lnTo>
                    <a:pt x="4105789" y="40242"/>
                  </a:lnTo>
                  <a:lnTo>
                    <a:pt x="4114799" y="76199"/>
                  </a:lnTo>
                  <a:lnTo>
                    <a:pt x="4114799" y="552449"/>
                  </a:lnTo>
                  <a:lnTo>
                    <a:pt x="4101968" y="594791"/>
                  </a:lnTo>
                  <a:lnTo>
                    <a:pt x="4081067" y="615725"/>
                  </a:lnTo>
                  <a:lnTo>
                    <a:pt x="4075417" y="619125"/>
                  </a:lnTo>
                  <a:close/>
                </a:path>
              </a:pathLst>
            </a:custGeom>
            <a:solidFill>
              <a:srgbClr val="4ADE8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73" name="object 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66262" y="8113712"/>
              <a:ext cx="174625" cy="174625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9712325" y="8042161"/>
            <a:ext cx="3275329" cy="450893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40"/>
              </a:spcBef>
            </a:pPr>
            <a:r>
              <a:rPr sz="1450" spc="-110" dirty="0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sz="14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95" dirty="0">
                <a:solidFill>
                  <a:srgbClr val="FFFFFF"/>
                </a:solidFill>
                <a:latin typeface="Times New Roman"/>
                <a:cs typeface="Times New Roman"/>
              </a:rPr>
              <a:t>marginal</a:t>
            </a:r>
            <a:r>
              <a:rPr sz="14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7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14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90" dirty="0">
                <a:solidFill>
                  <a:srgbClr val="FFFFFF"/>
                </a:solidFill>
                <a:latin typeface="Times New Roman"/>
                <a:cs typeface="Times New Roman"/>
              </a:rPr>
              <a:t>allows</a:t>
            </a:r>
            <a:r>
              <a:rPr sz="14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45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55" dirty="0">
                <a:solidFill>
                  <a:srgbClr val="FFFFFF"/>
                </a:solidFill>
                <a:latin typeface="Times New Roman"/>
                <a:cs typeface="Times New Roman"/>
              </a:rPr>
              <a:t>infinite</a:t>
            </a:r>
            <a:r>
              <a:rPr sz="14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75" dirty="0">
                <a:solidFill>
                  <a:srgbClr val="FFFFFF"/>
                </a:solidFill>
                <a:latin typeface="Times New Roman"/>
                <a:cs typeface="Times New Roman"/>
              </a:rPr>
              <a:t>software </a:t>
            </a:r>
            <a:r>
              <a:rPr sz="1450" spc="-10" dirty="0">
                <a:solidFill>
                  <a:srgbClr val="FFFFFF"/>
                </a:solidFill>
                <a:latin typeface="Times New Roman"/>
                <a:cs typeface="Times New Roman"/>
              </a:rPr>
              <a:t>scaling</a:t>
            </a:r>
            <a:r>
              <a:rPr sz="13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3563598" y="7981950"/>
            <a:ext cx="4114800" cy="628650"/>
            <a:chOff x="13563598" y="7981950"/>
            <a:chExt cx="4114800" cy="628650"/>
          </a:xfrm>
        </p:grpSpPr>
        <p:sp>
          <p:nvSpPr>
            <p:cNvPr id="76" name="object 76"/>
            <p:cNvSpPr/>
            <p:nvPr/>
          </p:nvSpPr>
          <p:spPr>
            <a:xfrm>
              <a:off x="13563599" y="7981950"/>
              <a:ext cx="4114800" cy="628650"/>
            </a:xfrm>
            <a:custGeom>
              <a:avLst/>
              <a:gdLst/>
              <a:ahLst/>
              <a:cxnLst/>
              <a:rect l="l" t="t" r="r" b="b"/>
              <a:pathLst>
                <a:path w="4114800" h="628650">
                  <a:moveTo>
                    <a:pt x="4038600" y="628650"/>
                  </a:moveTo>
                  <a:lnTo>
                    <a:pt x="76200" y="628650"/>
                  </a:lnTo>
                  <a:lnTo>
                    <a:pt x="68693" y="628287"/>
                  </a:lnTo>
                  <a:lnTo>
                    <a:pt x="27881" y="611382"/>
                  </a:lnTo>
                  <a:lnTo>
                    <a:pt x="3261" y="574536"/>
                  </a:lnTo>
                  <a:lnTo>
                    <a:pt x="0" y="552450"/>
                  </a:lnTo>
                  <a:lnTo>
                    <a:pt x="0" y="76200"/>
                  </a:lnTo>
                  <a:lnTo>
                    <a:pt x="12829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4038600" y="0"/>
                  </a:lnTo>
                  <a:lnTo>
                    <a:pt x="4080939" y="12829"/>
                  </a:lnTo>
                  <a:lnTo>
                    <a:pt x="4108996" y="47038"/>
                  </a:lnTo>
                  <a:lnTo>
                    <a:pt x="4114800" y="76200"/>
                  </a:lnTo>
                  <a:lnTo>
                    <a:pt x="4114800" y="552450"/>
                  </a:lnTo>
                  <a:lnTo>
                    <a:pt x="4101966" y="594791"/>
                  </a:lnTo>
                  <a:lnTo>
                    <a:pt x="4067757" y="622849"/>
                  </a:lnTo>
                  <a:lnTo>
                    <a:pt x="4038600" y="628650"/>
                  </a:lnTo>
                  <a:close/>
                </a:path>
              </a:pathLst>
            </a:custGeom>
            <a:solidFill>
              <a:srgbClr val="128708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13563598" y="7981950"/>
              <a:ext cx="4114800" cy="628650"/>
            </a:xfrm>
            <a:custGeom>
              <a:avLst/>
              <a:gdLst/>
              <a:ahLst/>
              <a:cxnLst/>
              <a:rect l="l" t="t" r="r" b="b"/>
              <a:pathLst>
                <a:path w="4114800" h="628650">
                  <a:moveTo>
                    <a:pt x="4038599" y="628649"/>
                  </a:moveTo>
                  <a:lnTo>
                    <a:pt x="76199" y="628649"/>
                  </a:lnTo>
                  <a:lnTo>
                    <a:pt x="68693" y="628287"/>
                  </a:lnTo>
                  <a:lnTo>
                    <a:pt x="27881" y="611382"/>
                  </a:lnTo>
                  <a:lnTo>
                    <a:pt x="3261" y="574536"/>
                  </a:lnTo>
                  <a:lnTo>
                    <a:pt x="0" y="76199"/>
                  </a:lnTo>
                  <a:lnTo>
                    <a:pt x="361" y="68693"/>
                  </a:lnTo>
                  <a:lnTo>
                    <a:pt x="17265" y="27882"/>
                  </a:lnTo>
                  <a:lnTo>
                    <a:pt x="54113" y="3262"/>
                  </a:lnTo>
                  <a:lnTo>
                    <a:pt x="76199" y="0"/>
                  </a:lnTo>
                  <a:lnTo>
                    <a:pt x="4038599" y="0"/>
                  </a:lnTo>
                  <a:lnTo>
                    <a:pt x="4075418" y="9525"/>
                  </a:lnTo>
                  <a:lnTo>
                    <a:pt x="71822" y="9525"/>
                  </a:lnTo>
                  <a:lnTo>
                    <a:pt x="67486" y="9952"/>
                  </a:lnTo>
                  <a:lnTo>
                    <a:pt x="32149" y="25958"/>
                  </a:lnTo>
                  <a:lnTo>
                    <a:pt x="11660" y="58898"/>
                  </a:lnTo>
                  <a:lnTo>
                    <a:pt x="9525" y="71822"/>
                  </a:lnTo>
                  <a:lnTo>
                    <a:pt x="9525" y="556828"/>
                  </a:lnTo>
                  <a:lnTo>
                    <a:pt x="9833" y="559956"/>
                  </a:lnTo>
                  <a:lnTo>
                    <a:pt x="9952" y="561163"/>
                  </a:lnTo>
                  <a:lnTo>
                    <a:pt x="25958" y="596500"/>
                  </a:lnTo>
                  <a:lnTo>
                    <a:pt x="58898" y="616989"/>
                  </a:lnTo>
                  <a:lnTo>
                    <a:pt x="71822" y="619125"/>
                  </a:lnTo>
                  <a:lnTo>
                    <a:pt x="4075416" y="619125"/>
                  </a:lnTo>
                  <a:lnTo>
                    <a:pt x="4074553" y="619641"/>
                  </a:lnTo>
                  <a:lnTo>
                    <a:pt x="4067757" y="622849"/>
                  </a:lnTo>
                  <a:lnTo>
                    <a:pt x="4060684" y="625386"/>
                  </a:lnTo>
                  <a:lnTo>
                    <a:pt x="4053467" y="627199"/>
                  </a:lnTo>
                  <a:lnTo>
                    <a:pt x="4046105" y="628287"/>
                  </a:lnTo>
                  <a:lnTo>
                    <a:pt x="4038599" y="628649"/>
                  </a:lnTo>
                  <a:close/>
                </a:path>
                <a:path w="4114800" h="628650">
                  <a:moveTo>
                    <a:pt x="4075416" y="619125"/>
                  </a:moveTo>
                  <a:lnTo>
                    <a:pt x="4042978" y="619125"/>
                  </a:lnTo>
                  <a:lnTo>
                    <a:pt x="4047313" y="618698"/>
                  </a:lnTo>
                  <a:lnTo>
                    <a:pt x="4055901" y="616989"/>
                  </a:lnTo>
                  <a:lnTo>
                    <a:pt x="4088841" y="596500"/>
                  </a:lnTo>
                  <a:lnTo>
                    <a:pt x="4104848" y="561163"/>
                  </a:lnTo>
                  <a:lnTo>
                    <a:pt x="4105275" y="556828"/>
                  </a:lnTo>
                  <a:lnTo>
                    <a:pt x="4105275" y="71822"/>
                  </a:lnTo>
                  <a:lnTo>
                    <a:pt x="4104967" y="68693"/>
                  </a:lnTo>
                  <a:lnTo>
                    <a:pt x="4104848" y="67486"/>
                  </a:lnTo>
                  <a:lnTo>
                    <a:pt x="4088841" y="32149"/>
                  </a:lnTo>
                  <a:lnTo>
                    <a:pt x="4055901" y="11660"/>
                  </a:lnTo>
                  <a:lnTo>
                    <a:pt x="4042978" y="9525"/>
                  </a:lnTo>
                  <a:lnTo>
                    <a:pt x="4075418" y="9525"/>
                  </a:lnTo>
                  <a:lnTo>
                    <a:pt x="4105788" y="40242"/>
                  </a:lnTo>
                  <a:lnTo>
                    <a:pt x="4114799" y="76199"/>
                  </a:lnTo>
                  <a:lnTo>
                    <a:pt x="4114799" y="552449"/>
                  </a:lnTo>
                  <a:lnTo>
                    <a:pt x="4101966" y="594791"/>
                  </a:lnTo>
                  <a:lnTo>
                    <a:pt x="4081066" y="615725"/>
                  </a:lnTo>
                  <a:lnTo>
                    <a:pt x="4075416" y="619125"/>
                  </a:lnTo>
                  <a:close/>
                </a:path>
              </a:pathLst>
            </a:custGeom>
            <a:solidFill>
              <a:srgbClr val="4ADE8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657262" y="8121650"/>
              <a:ext cx="174625" cy="158750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13903325" y="8042161"/>
            <a:ext cx="2949575" cy="2359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5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sz="1450" spc="-105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300" spc="-105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3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90" dirty="0">
                <a:solidFill>
                  <a:srgbClr val="FFFFFF"/>
                </a:solidFill>
                <a:latin typeface="Times New Roman"/>
                <a:cs typeface="Times New Roman"/>
              </a:rPr>
              <a:t>addressable</a:t>
            </a:r>
            <a:r>
              <a:rPr sz="14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85" dirty="0">
                <a:solidFill>
                  <a:srgbClr val="FFFFFF"/>
                </a:solidFill>
                <a:latin typeface="Times New Roman"/>
                <a:cs typeface="Times New Roman"/>
              </a:rPr>
              <a:t>artisan</a:t>
            </a:r>
            <a:r>
              <a:rPr sz="14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00" dirty="0">
                <a:solidFill>
                  <a:srgbClr val="FFFFFF"/>
                </a:solidFill>
                <a:latin typeface="Times New Roman"/>
                <a:cs typeface="Times New Roman"/>
              </a:rPr>
              <a:t>market</a:t>
            </a:r>
            <a:r>
              <a:rPr sz="14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7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4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85" dirty="0">
                <a:solidFill>
                  <a:srgbClr val="FFFFFF"/>
                </a:solidFill>
                <a:latin typeface="Times New Roman"/>
                <a:cs typeface="Times New Roman"/>
              </a:rPr>
              <a:t>India</a:t>
            </a:r>
            <a:r>
              <a:rPr sz="1300" spc="-8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6200635" y="9880486"/>
            <a:ext cx="1490980" cy="2359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85" dirty="0">
                <a:solidFill>
                  <a:srgbClr val="FFFFFF"/>
                </a:solidFill>
                <a:latin typeface="Times New Roman"/>
                <a:cs typeface="Times New Roman"/>
              </a:rPr>
              <a:t>09</a:t>
            </a:r>
            <a:r>
              <a:rPr sz="13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13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05" dirty="0">
                <a:solidFill>
                  <a:srgbClr val="FFFFFF"/>
                </a:solidFill>
                <a:latin typeface="Times New Roman"/>
                <a:cs typeface="Times New Roman"/>
              </a:rPr>
              <a:t>Business</a:t>
            </a:r>
            <a:r>
              <a:rPr sz="14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85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0" y="0"/>
            <a:ext cx="18288000" cy="1028700"/>
            <a:chOff x="0" y="0"/>
            <a:chExt cx="18288000" cy="1028700"/>
          </a:xfrm>
        </p:grpSpPr>
        <p:sp>
          <p:nvSpPr>
            <p:cNvPr id="82" name="object 82"/>
            <p:cNvSpPr/>
            <p:nvPr/>
          </p:nvSpPr>
          <p:spPr>
            <a:xfrm>
              <a:off x="0" y="0"/>
              <a:ext cx="18288000" cy="1028700"/>
            </a:xfrm>
            <a:custGeom>
              <a:avLst/>
              <a:gdLst/>
              <a:ahLst/>
              <a:cxnLst/>
              <a:rect l="l" t="t" r="r" b="b"/>
              <a:pathLst>
                <a:path w="18288000" h="1028700">
                  <a:moveTo>
                    <a:pt x="18288000" y="1028700"/>
                  </a:moveTo>
                  <a:lnTo>
                    <a:pt x="0" y="1028700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02870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742950" y="336550"/>
              <a:ext cx="266700" cy="355600"/>
            </a:xfrm>
            <a:custGeom>
              <a:avLst/>
              <a:gdLst/>
              <a:ahLst/>
              <a:cxnLst/>
              <a:rect l="l" t="t" r="r" b="b"/>
              <a:pathLst>
                <a:path w="266700" h="355600">
                  <a:moveTo>
                    <a:pt x="133350" y="355600"/>
                  </a:moveTo>
                  <a:lnTo>
                    <a:pt x="133350" y="133350"/>
                  </a:lnTo>
                </a:path>
                <a:path w="266700" h="355600">
                  <a:moveTo>
                    <a:pt x="266700" y="355600"/>
                  </a:moveTo>
                  <a:lnTo>
                    <a:pt x="266700" y="0"/>
                  </a:lnTo>
                </a:path>
                <a:path w="266700" h="355600">
                  <a:moveTo>
                    <a:pt x="0" y="355600"/>
                  </a:moveTo>
                  <a:lnTo>
                    <a:pt x="0" y="266700"/>
                  </a:lnTo>
                </a:path>
              </a:pathLst>
            </a:custGeom>
            <a:ln w="44450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84" name="object 84"/>
          <p:cNvSpPr txBox="1">
            <a:spLocks noGrp="1"/>
          </p:cNvSpPr>
          <p:nvPr>
            <p:ph type="title"/>
          </p:nvPr>
        </p:nvSpPr>
        <p:spPr>
          <a:xfrm>
            <a:off x="977900" y="-12326"/>
            <a:ext cx="14570710" cy="873957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95"/>
              </a:spcBef>
            </a:pPr>
            <a:r>
              <a:rPr spc="-330" dirty="0">
                <a:latin typeface="Times New Roman"/>
                <a:cs typeface="Times New Roman"/>
              </a:rPr>
              <a:t>Revenue </a:t>
            </a:r>
            <a:r>
              <a:rPr spc="-229" dirty="0">
                <a:latin typeface="Times New Roman"/>
                <a:cs typeface="Times New Roman"/>
              </a:rPr>
              <a:t>Model</a:t>
            </a:r>
            <a:r>
              <a:rPr spc="-330" dirty="0">
                <a:latin typeface="Times New Roman"/>
                <a:cs typeface="Times New Roman"/>
              </a:rPr>
              <a:t> </a:t>
            </a:r>
            <a:r>
              <a:rPr sz="4900" spc="-335" dirty="0">
                <a:latin typeface="Times New Roman"/>
                <a:cs typeface="Times New Roman"/>
              </a:rPr>
              <a:t>&amp;</a:t>
            </a:r>
            <a:r>
              <a:rPr sz="4900" spc="-285" dirty="0">
                <a:latin typeface="Times New Roman"/>
                <a:cs typeface="Times New Roman"/>
              </a:rPr>
              <a:t> </a:t>
            </a:r>
            <a:r>
              <a:rPr spc="-170" dirty="0">
                <a:latin typeface="Times New Roman"/>
                <a:cs typeface="Times New Roman"/>
              </a:rPr>
              <a:t>Market</a:t>
            </a:r>
            <a:r>
              <a:rPr spc="-330" dirty="0">
                <a:latin typeface="Times New Roman"/>
                <a:cs typeface="Times New Roman"/>
              </a:rPr>
              <a:t> </a:t>
            </a:r>
            <a:r>
              <a:rPr spc="-195" dirty="0">
                <a:latin typeface="Times New Roman"/>
                <a:cs typeface="Times New Roman"/>
              </a:rPr>
              <a:t>Opportunity</a:t>
            </a:r>
            <a:endParaRPr sz="4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7253" y="98028"/>
            <a:ext cx="11913870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>
                <a:solidFill>
                  <a:srgbClr val="FF9933"/>
                </a:solidFill>
                <a:latin typeface="Times New Roman"/>
                <a:cs typeface="Times New Roman"/>
              </a:rPr>
              <a:t>Empowering</a:t>
            </a:r>
            <a:r>
              <a:rPr spc="-30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pc="-250" dirty="0">
                <a:solidFill>
                  <a:srgbClr val="FF9933"/>
                </a:solidFill>
                <a:latin typeface="Times New Roman"/>
                <a:cs typeface="Times New Roman"/>
              </a:rPr>
              <a:t>Artisans</a:t>
            </a:r>
            <a:r>
              <a:rPr sz="5200" b="0" spc="-250" dirty="0">
                <a:solidFill>
                  <a:srgbClr val="FF9933"/>
                </a:solidFill>
                <a:latin typeface="Times New Roman"/>
                <a:cs typeface="Times New Roman"/>
              </a:rPr>
              <a:t>,</a:t>
            </a:r>
            <a:r>
              <a:rPr sz="5200" b="0" spc="-76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pc="-254" dirty="0">
                <a:solidFill>
                  <a:srgbClr val="FF9933"/>
                </a:solidFill>
                <a:latin typeface="Times New Roman"/>
                <a:cs typeface="Times New Roman"/>
              </a:rPr>
              <a:t>Preserving</a:t>
            </a:r>
            <a:r>
              <a:rPr spc="-30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pc="-135" dirty="0">
                <a:solidFill>
                  <a:srgbClr val="FF9933"/>
                </a:solidFill>
                <a:latin typeface="Times New Roman"/>
                <a:cs typeface="Times New Roman"/>
              </a:rPr>
              <a:t>Heritage</a:t>
            </a:r>
            <a:endParaRPr sz="5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53832" y="841954"/>
            <a:ext cx="6180455" cy="10839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2700" spc="-17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r>
              <a:rPr sz="27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75" dirty="0">
                <a:solidFill>
                  <a:srgbClr val="FFFFFF"/>
                </a:solidFill>
                <a:latin typeface="Times New Roman"/>
                <a:cs typeface="Times New Roman"/>
              </a:rPr>
              <a:t>Meets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50" dirty="0">
                <a:solidFill>
                  <a:srgbClr val="FFFFFF"/>
                </a:solidFill>
                <a:latin typeface="Times New Roman"/>
                <a:cs typeface="Times New Roman"/>
              </a:rPr>
              <a:t>Tradition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65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7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9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  <a:endParaRPr sz="2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010"/>
              </a:spcBef>
            </a:pPr>
            <a:r>
              <a:rPr sz="255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sz="255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b="1" spc="-155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550" b="1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Deliver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34450" y="9591675"/>
            <a:ext cx="419100" cy="381000"/>
            <a:chOff x="8934450" y="9591675"/>
            <a:chExt cx="419100" cy="381000"/>
          </a:xfrm>
        </p:grpSpPr>
        <p:sp>
          <p:nvSpPr>
            <p:cNvPr id="5" name="object 5"/>
            <p:cNvSpPr/>
            <p:nvPr/>
          </p:nvSpPr>
          <p:spPr>
            <a:xfrm>
              <a:off x="8953500" y="9610725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190500" y="342900"/>
                  </a:moveTo>
                  <a:lnTo>
                    <a:pt x="57150" y="209550"/>
                  </a:lnTo>
                  <a:lnTo>
                    <a:pt x="17859" y="163234"/>
                  </a:lnTo>
                  <a:lnTo>
                    <a:pt x="0" y="104775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13835" y="52285"/>
                  </a:lnTo>
                  <a:lnTo>
                    <a:pt x="40844" y="21479"/>
                  </a:lnTo>
                  <a:lnTo>
                    <a:pt x="77586" y="3355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128295" y="1934"/>
                  </a:lnTo>
                  <a:lnTo>
                    <a:pt x="149494" y="8334"/>
                  </a:lnTo>
                  <a:lnTo>
                    <a:pt x="169765" y="20091"/>
                  </a:lnTo>
                  <a:lnTo>
                    <a:pt x="190500" y="38100"/>
                  </a:lnTo>
                  <a:lnTo>
                    <a:pt x="211234" y="20091"/>
                  </a:lnTo>
                  <a:lnTo>
                    <a:pt x="231505" y="8334"/>
                  </a:lnTo>
                  <a:lnTo>
                    <a:pt x="252704" y="1934"/>
                  </a:lnTo>
                  <a:lnTo>
                    <a:pt x="276225" y="0"/>
                  </a:lnTo>
                  <a:lnTo>
                    <a:pt x="283104" y="0"/>
                  </a:lnTo>
                  <a:lnTo>
                    <a:pt x="322676" y="10608"/>
                  </a:lnTo>
                  <a:lnTo>
                    <a:pt x="355176" y="35552"/>
                  </a:lnTo>
                  <a:lnTo>
                    <a:pt x="375657" y="71035"/>
                  </a:lnTo>
                  <a:lnTo>
                    <a:pt x="381000" y="104775"/>
                  </a:lnTo>
                  <a:lnTo>
                    <a:pt x="376061" y="135638"/>
                  </a:lnTo>
                  <a:lnTo>
                    <a:pt x="363069" y="163091"/>
                  </a:lnTo>
                  <a:lnTo>
                    <a:pt x="344754" y="187579"/>
                  </a:lnTo>
                  <a:lnTo>
                    <a:pt x="323850" y="209550"/>
                  </a:lnTo>
                  <a:lnTo>
                    <a:pt x="190500" y="34290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953500" y="9610725"/>
              <a:ext cx="381000" cy="342900"/>
            </a:xfrm>
            <a:custGeom>
              <a:avLst/>
              <a:gdLst/>
              <a:ahLst/>
              <a:cxnLst/>
              <a:rect l="l" t="t" r="r" b="b"/>
              <a:pathLst>
                <a:path w="381000" h="342900">
                  <a:moveTo>
                    <a:pt x="323850" y="209550"/>
                  </a:moveTo>
                  <a:lnTo>
                    <a:pt x="344754" y="187579"/>
                  </a:lnTo>
                  <a:lnTo>
                    <a:pt x="363069" y="163091"/>
                  </a:lnTo>
                  <a:lnTo>
                    <a:pt x="376061" y="135638"/>
                  </a:lnTo>
                  <a:lnTo>
                    <a:pt x="381000" y="104775"/>
                  </a:lnTo>
                  <a:lnTo>
                    <a:pt x="380999" y="97895"/>
                  </a:lnTo>
                  <a:lnTo>
                    <a:pt x="370391" y="58323"/>
                  </a:lnTo>
                  <a:lnTo>
                    <a:pt x="363342" y="46565"/>
                  </a:lnTo>
                  <a:lnTo>
                    <a:pt x="359520" y="40844"/>
                  </a:lnTo>
                  <a:lnTo>
                    <a:pt x="328714" y="13835"/>
                  </a:lnTo>
                  <a:lnTo>
                    <a:pt x="296665" y="2013"/>
                  </a:lnTo>
                  <a:lnTo>
                    <a:pt x="289918" y="671"/>
                  </a:lnTo>
                  <a:lnTo>
                    <a:pt x="283104" y="0"/>
                  </a:lnTo>
                  <a:lnTo>
                    <a:pt x="276225" y="0"/>
                  </a:lnTo>
                  <a:lnTo>
                    <a:pt x="252704" y="1934"/>
                  </a:lnTo>
                  <a:lnTo>
                    <a:pt x="231505" y="8334"/>
                  </a:lnTo>
                  <a:lnTo>
                    <a:pt x="211234" y="20091"/>
                  </a:lnTo>
                  <a:lnTo>
                    <a:pt x="190500" y="38100"/>
                  </a:lnTo>
                  <a:lnTo>
                    <a:pt x="169765" y="20091"/>
                  </a:lnTo>
                  <a:lnTo>
                    <a:pt x="149494" y="8334"/>
                  </a:lnTo>
                  <a:lnTo>
                    <a:pt x="128295" y="1934"/>
                  </a:lnTo>
                  <a:lnTo>
                    <a:pt x="104775" y="0"/>
                  </a:lnTo>
                  <a:lnTo>
                    <a:pt x="97895" y="0"/>
                  </a:lnTo>
                  <a:lnTo>
                    <a:pt x="91081" y="671"/>
                  </a:lnTo>
                  <a:lnTo>
                    <a:pt x="84334" y="2013"/>
                  </a:lnTo>
                  <a:lnTo>
                    <a:pt x="77586" y="3355"/>
                  </a:lnTo>
                  <a:lnTo>
                    <a:pt x="71035" y="5342"/>
                  </a:lnTo>
                  <a:lnTo>
                    <a:pt x="64679" y="7975"/>
                  </a:lnTo>
                  <a:lnTo>
                    <a:pt x="58323" y="10608"/>
                  </a:lnTo>
                  <a:lnTo>
                    <a:pt x="52285" y="13835"/>
                  </a:lnTo>
                  <a:lnTo>
                    <a:pt x="46565" y="17657"/>
                  </a:lnTo>
                  <a:lnTo>
                    <a:pt x="40844" y="21479"/>
                  </a:lnTo>
                  <a:lnTo>
                    <a:pt x="13835" y="52285"/>
                  </a:lnTo>
                  <a:lnTo>
                    <a:pt x="7975" y="64679"/>
                  </a:lnTo>
                  <a:lnTo>
                    <a:pt x="5342" y="71035"/>
                  </a:lnTo>
                  <a:lnTo>
                    <a:pt x="3355" y="77586"/>
                  </a:lnTo>
                  <a:lnTo>
                    <a:pt x="2013" y="84334"/>
                  </a:lnTo>
                  <a:lnTo>
                    <a:pt x="671" y="91081"/>
                  </a:lnTo>
                  <a:lnTo>
                    <a:pt x="0" y="97895"/>
                  </a:lnTo>
                  <a:lnTo>
                    <a:pt x="0" y="104775"/>
                  </a:lnTo>
                  <a:lnTo>
                    <a:pt x="4911" y="135746"/>
                  </a:lnTo>
                  <a:lnTo>
                    <a:pt x="17859" y="163234"/>
                  </a:lnTo>
                  <a:lnTo>
                    <a:pt x="36165" y="187687"/>
                  </a:lnTo>
                  <a:lnTo>
                    <a:pt x="57150" y="209550"/>
                  </a:lnTo>
                  <a:lnTo>
                    <a:pt x="190500" y="342900"/>
                  </a:lnTo>
                  <a:lnTo>
                    <a:pt x="323850" y="209550"/>
                  </a:lnTo>
                  <a:close/>
                </a:path>
              </a:pathLst>
            </a:custGeom>
            <a:ln w="38100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762375" y="2066924"/>
            <a:ext cx="3438525" cy="1352550"/>
            <a:chOff x="3762375" y="2066924"/>
            <a:chExt cx="3438525" cy="1352550"/>
          </a:xfrm>
        </p:grpSpPr>
        <p:sp>
          <p:nvSpPr>
            <p:cNvPr id="8" name="object 8"/>
            <p:cNvSpPr/>
            <p:nvPr/>
          </p:nvSpPr>
          <p:spPr>
            <a:xfrm>
              <a:off x="3762375" y="2066924"/>
              <a:ext cx="3438525" cy="1352550"/>
            </a:xfrm>
            <a:custGeom>
              <a:avLst/>
              <a:gdLst/>
              <a:ahLst/>
              <a:cxnLst/>
              <a:rect l="l" t="t" r="r" b="b"/>
              <a:pathLst>
                <a:path w="3438525" h="1352550">
                  <a:moveTo>
                    <a:pt x="3324225" y="1352550"/>
                  </a:moveTo>
                  <a:lnTo>
                    <a:pt x="114300" y="1352550"/>
                  </a:lnTo>
                  <a:lnTo>
                    <a:pt x="103040" y="1352006"/>
                  </a:lnTo>
                  <a:lnTo>
                    <a:pt x="60364" y="1339038"/>
                  </a:lnTo>
                  <a:lnTo>
                    <a:pt x="25900" y="1310725"/>
                  </a:lnTo>
                  <a:lnTo>
                    <a:pt x="4894" y="1271379"/>
                  </a:lnTo>
                  <a:lnTo>
                    <a:pt x="0" y="12382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3324225" y="0"/>
                  </a:lnTo>
                  <a:lnTo>
                    <a:pt x="3367965" y="8700"/>
                  </a:lnTo>
                  <a:lnTo>
                    <a:pt x="3405047" y="33477"/>
                  </a:lnTo>
                  <a:lnTo>
                    <a:pt x="3429824" y="70559"/>
                  </a:lnTo>
                  <a:lnTo>
                    <a:pt x="3438525" y="114300"/>
                  </a:lnTo>
                  <a:lnTo>
                    <a:pt x="3438525" y="1238250"/>
                  </a:lnTo>
                  <a:lnTo>
                    <a:pt x="3429824" y="1281990"/>
                  </a:lnTo>
                  <a:lnTo>
                    <a:pt x="3405047" y="1319072"/>
                  </a:lnTo>
                  <a:lnTo>
                    <a:pt x="3367965" y="1343849"/>
                  </a:lnTo>
                  <a:lnTo>
                    <a:pt x="3324225" y="13525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762375" y="2066925"/>
              <a:ext cx="3438525" cy="1352550"/>
            </a:xfrm>
            <a:custGeom>
              <a:avLst/>
              <a:gdLst/>
              <a:ahLst/>
              <a:cxnLst/>
              <a:rect l="l" t="t" r="r" b="b"/>
              <a:pathLst>
                <a:path w="3438525" h="1352550">
                  <a:moveTo>
                    <a:pt x="3324224" y="1352549"/>
                  </a:moveTo>
                  <a:lnTo>
                    <a:pt x="114299" y="1352549"/>
                  </a:lnTo>
                  <a:lnTo>
                    <a:pt x="103040" y="1352006"/>
                  </a:lnTo>
                  <a:lnTo>
                    <a:pt x="60364" y="1339038"/>
                  </a:lnTo>
                  <a:lnTo>
                    <a:pt x="25900" y="1310725"/>
                  </a:lnTo>
                  <a:lnTo>
                    <a:pt x="4894" y="1271379"/>
                  </a:lnTo>
                  <a:lnTo>
                    <a:pt x="0" y="1238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324224" y="0"/>
                  </a:lnTo>
                  <a:lnTo>
                    <a:pt x="3367965" y="8700"/>
                  </a:lnTo>
                  <a:lnTo>
                    <a:pt x="336971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45129"/>
                  </a:lnTo>
                  <a:lnTo>
                    <a:pt x="20133" y="1284701"/>
                  </a:lnTo>
                  <a:lnTo>
                    <a:pt x="45077" y="1317201"/>
                  </a:lnTo>
                  <a:lnTo>
                    <a:pt x="80560" y="1337682"/>
                  </a:lnTo>
                  <a:lnTo>
                    <a:pt x="107420" y="1343024"/>
                  </a:lnTo>
                  <a:lnTo>
                    <a:pt x="3369711" y="1343024"/>
                  </a:lnTo>
                  <a:lnTo>
                    <a:pt x="3367964" y="1343849"/>
                  </a:lnTo>
                  <a:lnTo>
                    <a:pt x="3357354" y="1347655"/>
                  </a:lnTo>
                  <a:lnTo>
                    <a:pt x="3346527" y="1350374"/>
                  </a:lnTo>
                  <a:lnTo>
                    <a:pt x="3335484" y="1352006"/>
                  </a:lnTo>
                  <a:lnTo>
                    <a:pt x="3324224" y="1352549"/>
                  </a:lnTo>
                  <a:close/>
                </a:path>
                <a:path w="3438525" h="1352550">
                  <a:moveTo>
                    <a:pt x="3369711" y="1343024"/>
                  </a:moveTo>
                  <a:lnTo>
                    <a:pt x="3331104" y="1343024"/>
                  </a:lnTo>
                  <a:lnTo>
                    <a:pt x="3337917" y="1342353"/>
                  </a:lnTo>
                  <a:lnTo>
                    <a:pt x="3351412" y="1339669"/>
                  </a:lnTo>
                  <a:lnTo>
                    <a:pt x="3388154" y="1321545"/>
                  </a:lnTo>
                  <a:lnTo>
                    <a:pt x="3415163" y="1290739"/>
                  </a:lnTo>
                  <a:lnTo>
                    <a:pt x="3428328" y="1251943"/>
                  </a:lnTo>
                  <a:lnTo>
                    <a:pt x="3428999" y="1245129"/>
                  </a:lnTo>
                  <a:lnTo>
                    <a:pt x="3428999" y="107420"/>
                  </a:lnTo>
                  <a:lnTo>
                    <a:pt x="3418391" y="67848"/>
                  </a:lnTo>
                  <a:lnTo>
                    <a:pt x="3393447" y="35348"/>
                  </a:lnTo>
                  <a:lnTo>
                    <a:pt x="3357964" y="14867"/>
                  </a:lnTo>
                  <a:lnTo>
                    <a:pt x="3331104" y="9524"/>
                  </a:lnTo>
                  <a:lnTo>
                    <a:pt x="3369712" y="9524"/>
                  </a:lnTo>
                  <a:lnTo>
                    <a:pt x="3405046" y="33477"/>
                  </a:lnTo>
                  <a:lnTo>
                    <a:pt x="3429824" y="70559"/>
                  </a:lnTo>
                  <a:lnTo>
                    <a:pt x="3438524" y="114299"/>
                  </a:lnTo>
                  <a:lnTo>
                    <a:pt x="3438524" y="1238249"/>
                  </a:lnTo>
                  <a:lnTo>
                    <a:pt x="3429824" y="1281990"/>
                  </a:lnTo>
                  <a:lnTo>
                    <a:pt x="3405046" y="1319072"/>
                  </a:lnTo>
                  <a:lnTo>
                    <a:pt x="3378159" y="1339038"/>
                  </a:lnTo>
                  <a:lnTo>
                    <a:pt x="3369711" y="1343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318125" y="2339975"/>
              <a:ext cx="317500" cy="158750"/>
            </a:xfrm>
            <a:custGeom>
              <a:avLst/>
              <a:gdLst/>
              <a:ahLst/>
              <a:cxnLst/>
              <a:rect l="l" t="t" r="r" b="b"/>
              <a:pathLst>
                <a:path w="317500" h="158750">
                  <a:moveTo>
                    <a:pt x="317499" y="0"/>
                  </a:moveTo>
                  <a:lnTo>
                    <a:pt x="182562" y="134937"/>
                  </a:lnTo>
                  <a:lnTo>
                    <a:pt x="103187" y="55562"/>
                  </a:lnTo>
                  <a:lnTo>
                    <a:pt x="0" y="158749"/>
                  </a:lnTo>
                </a:path>
                <a:path w="317500" h="158750">
                  <a:moveTo>
                    <a:pt x="222249" y="0"/>
                  </a:moveTo>
                  <a:lnTo>
                    <a:pt x="317499" y="0"/>
                  </a:lnTo>
                  <a:lnTo>
                    <a:pt x="317499" y="95249"/>
                  </a:lnTo>
                </a:path>
              </a:pathLst>
            </a:custGeom>
            <a:ln w="31749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290814" y="2558358"/>
            <a:ext cx="2379345" cy="6921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655"/>
              </a:spcBef>
            </a:pPr>
            <a:r>
              <a:rPr sz="19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1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15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95" dirty="0">
                <a:solidFill>
                  <a:srgbClr val="FFFFFF"/>
                </a:solidFill>
                <a:latin typeface="Times New Roman"/>
                <a:cs typeface="Times New Roman"/>
              </a:rPr>
              <a:t>Earnings</a:t>
            </a:r>
            <a:r>
              <a:rPr sz="215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4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50" spc="-80" dirty="0">
                <a:solidFill>
                  <a:srgbClr val="FFFFFF"/>
                </a:solidFill>
                <a:latin typeface="Times New Roman"/>
                <a:cs typeface="Times New Roman"/>
              </a:rPr>
              <a:t>Artisans</a:t>
            </a:r>
            <a:r>
              <a:rPr sz="14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95" dirty="0">
                <a:solidFill>
                  <a:srgbClr val="FFFFFF"/>
                </a:solidFill>
                <a:latin typeface="Times New Roman"/>
                <a:cs typeface="Times New Roman"/>
              </a:rPr>
              <a:t>earn</a:t>
            </a:r>
            <a:r>
              <a:rPr sz="14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70-75%</a:t>
            </a:r>
            <a:r>
              <a:rPr sz="13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85" dirty="0">
                <a:solidFill>
                  <a:srgbClr val="FFFFFF"/>
                </a:solidFill>
                <a:latin typeface="Times New Roman"/>
                <a:cs typeface="Times New Roman"/>
              </a:rPr>
              <a:t>vs</a:t>
            </a:r>
            <a:r>
              <a:rPr sz="14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45" dirty="0">
                <a:solidFill>
                  <a:srgbClr val="FFFFFF"/>
                </a:solidFill>
                <a:latin typeface="Times New Roman"/>
                <a:cs typeface="Times New Roman"/>
              </a:rPr>
              <a:t>12-</a:t>
            </a:r>
            <a:r>
              <a:rPr sz="1300" spc="-55" dirty="0">
                <a:solidFill>
                  <a:srgbClr val="FFFFFF"/>
                </a:solidFill>
                <a:latin typeface="Times New Roman"/>
                <a:cs typeface="Times New Roman"/>
              </a:rPr>
              <a:t>18%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29499" y="2066924"/>
            <a:ext cx="3429000" cy="1352550"/>
            <a:chOff x="7429499" y="2066924"/>
            <a:chExt cx="3429000" cy="1352550"/>
          </a:xfrm>
        </p:grpSpPr>
        <p:sp>
          <p:nvSpPr>
            <p:cNvPr id="13" name="object 13"/>
            <p:cNvSpPr/>
            <p:nvPr/>
          </p:nvSpPr>
          <p:spPr>
            <a:xfrm>
              <a:off x="7429499" y="2066924"/>
              <a:ext cx="3429000" cy="1352550"/>
            </a:xfrm>
            <a:custGeom>
              <a:avLst/>
              <a:gdLst/>
              <a:ahLst/>
              <a:cxnLst/>
              <a:rect l="l" t="t" r="r" b="b"/>
              <a:pathLst>
                <a:path w="3429000" h="1352550">
                  <a:moveTo>
                    <a:pt x="3314700" y="1352550"/>
                  </a:moveTo>
                  <a:lnTo>
                    <a:pt x="114300" y="1352550"/>
                  </a:lnTo>
                  <a:lnTo>
                    <a:pt x="103040" y="1352006"/>
                  </a:lnTo>
                  <a:lnTo>
                    <a:pt x="60364" y="1339038"/>
                  </a:lnTo>
                  <a:lnTo>
                    <a:pt x="25900" y="1310725"/>
                  </a:lnTo>
                  <a:lnTo>
                    <a:pt x="4894" y="1271379"/>
                  </a:lnTo>
                  <a:lnTo>
                    <a:pt x="0" y="12382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3314700" y="0"/>
                  </a:lnTo>
                  <a:lnTo>
                    <a:pt x="3358440" y="8700"/>
                  </a:lnTo>
                  <a:lnTo>
                    <a:pt x="3395522" y="33477"/>
                  </a:lnTo>
                  <a:lnTo>
                    <a:pt x="3420299" y="70559"/>
                  </a:lnTo>
                  <a:lnTo>
                    <a:pt x="3429000" y="114300"/>
                  </a:lnTo>
                  <a:lnTo>
                    <a:pt x="3429000" y="1238250"/>
                  </a:lnTo>
                  <a:lnTo>
                    <a:pt x="3420299" y="1281990"/>
                  </a:lnTo>
                  <a:lnTo>
                    <a:pt x="3395522" y="1319072"/>
                  </a:lnTo>
                  <a:lnTo>
                    <a:pt x="3358440" y="1343849"/>
                  </a:lnTo>
                  <a:lnTo>
                    <a:pt x="3314700" y="13525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7429499" y="2066925"/>
              <a:ext cx="3429000" cy="1352550"/>
            </a:xfrm>
            <a:custGeom>
              <a:avLst/>
              <a:gdLst/>
              <a:ahLst/>
              <a:cxnLst/>
              <a:rect l="l" t="t" r="r" b="b"/>
              <a:pathLst>
                <a:path w="3429000" h="1352550">
                  <a:moveTo>
                    <a:pt x="3314699" y="1352549"/>
                  </a:moveTo>
                  <a:lnTo>
                    <a:pt x="114299" y="1352549"/>
                  </a:lnTo>
                  <a:lnTo>
                    <a:pt x="103040" y="1352006"/>
                  </a:lnTo>
                  <a:lnTo>
                    <a:pt x="60364" y="1339038"/>
                  </a:lnTo>
                  <a:lnTo>
                    <a:pt x="25900" y="1310725"/>
                  </a:lnTo>
                  <a:lnTo>
                    <a:pt x="4894" y="1271379"/>
                  </a:lnTo>
                  <a:lnTo>
                    <a:pt x="0" y="1238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314699" y="0"/>
                  </a:lnTo>
                  <a:lnTo>
                    <a:pt x="3358440" y="8700"/>
                  </a:lnTo>
                  <a:lnTo>
                    <a:pt x="33601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45129"/>
                  </a:lnTo>
                  <a:lnTo>
                    <a:pt x="20133" y="1284701"/>
                  </a:lnTo>
                  <a:lnTo>
                    <a:pt x="45077" y="1317201"/>
                  </a:lnTo>
                  <a:lnTo>
                    <a:pt x="80560" y="1337682"/>
                  </a:lnTo>
                  <a:lnTo>
                    <a:pt x="107420" y="1343024"/>
                  </a:lnTo>
                  <a:lnTo>
                    <a:pt x="3360186" y="1343024"/>
                  </a:lnTo>
                  <a:lnTo>
                    <a:pt x="3358439" y="1343849"/>
                  </a:lnTo>
                  <a:lnTo>
                    <a:pt x="3347829" y="1347655"/>
                  </a:lnTo>
                  <a:lnTo>
                    <a:pt x="3337002" y="1350374"/>
                  </a:lnTo>
                  <a:lnTo>
                    <a:pt x="3325959" y="1352006"/>
                  </a:lnTo>
                  <a:lnTo>
                    <a:pt x="3314699" y="1352549"/>
                  </a:lnTo>
                  <a:close/>
                </a:path>
                <a:path w="3429000" h="1352550">
                  <a:moveTo>
                    <a:pt x="3360186" y="1343024"/>
                  </a:moveTo>
                  <a:lnTo>
                    <a:pt x="3321579" y="1343024"/>
                  </a:lnTo>
                  <a:lnTo>
                    <a:pt x="3328392" y="1342353"/>
                  </a:lnTo>
                  <a:lnTo>
                    <a:pt x="3341887" y="1339669"/>
                  </a:lnTo>
                  <a:lnTo>
                    <a:pt x="3378629" y="1321545"/>
                  </a:lnTo>
                  <a:lnTo>
                    <a:pt x="3405638" y="1290739"/>
                  </a:lnTo>
                  <a:lnTo>
                    <a:pt x="3418803" y="1251943"/>
                  </a:lnTo>
                  <a:lnTo>
                    <a:pt x="3419474" y="1245129"/>
                  </a:lnTo>
                  <a:lnTo>
                    <a:pt x="3419474" y="107420"/>
                  </a:lnTo>
                  <a:lnTo>
                    <a:pt x="3408866" y="67848"/>
                  </a:lnTo>
                  <a:lnTo>
                    <a:pt x="3383921" y="35348"/>
                  </a:lnTo>
                  <a:lnTo>
                    <a:pt x="3348439" y="14867"/>
                  </a:lnTo>
                  <a:lnTo>
                    <a:pt x="3321579" y="9524"/>
                  </a:lnTo>
                  <a:lnTo>
                    <a:pt x="3360187" y="9524"/>
                  </a:lnTo>
                  <a:lnTo>
                    <a:pt x="3395521" y="33477"/>
                  </a:lnTo>
                  <a:lnTo>
                    <a:pt x="3420299" y="70559"/>
                  </a:lnTo>
                  <a:lnTo>
                    <a:pt x="3428999" y="114299"/>
                  </a:lnTo>
                  <a:lnTo>
                    <a:pt x="3428999" y="1238249"/>
                  </a:lnTo>
                  <a:lnTo>
                    <a:pt x="3420299" y="1281990"/>
                  </a:lnTo>
                  <a:lnTo>
                    <a:pt x="3395521" y="1319072"/>
                  </a:lnTo>
                  <a:lnTo>
                    <a:pt x="3368634" y="1339038"/>
                  </a:lnTo>
                  <a:lnTo>
                    <a:pt x="3360186" y="1343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9000820" y="2260353"/>
              <a:ext cx="286385" cy="318135"/>
            </a:xfrm>
            <a:custGeom>
              <a:avLst/>
              <a:gdLst/>
              <a:ahLst/>
              <a:cxnLst/>
              <a:rect l="l" t="t" r="r" b="b"/>
              <a:pathLst>
                <a:path w="286384" h="318135">
                  <a:moveTo>
                    <a:pt x="16179" y="190746"/>
                  </a:moveTo>
                  <a:lnTo>
                    <a:pt x="13113" y="190756"/>
                  </a:lnTo>
                  <a:lnTo>
                    <a:pt x="10282" y="189946"/>
                  </a:lnTo>
                  <a:lnTo>
                    <a:pt x="7685" y="188316"/>
                  </a:lnTo>
                  <a:lnTo>
                    <a:pt x="5088" y="186686"/>
                  </a:lnTo>
                  <a:lnTo>
                    <a:pt x="3128" y="184489"/>
                  </a:lnTo>
                  <a:lnTo>
                    <a:pt x="1805" y="181723"/>
                  </a:lnTo>
                  <a:lnTo>
                    <a:pt x="481" y="178958"/>
                  </a:lnTo>
                  <a:lnTo>
                    <a:pt x="0" y="176052"/>
                  </a:lnTo>
                  <a:lnTo>
                    <a:pt x="359" y="173008"/>
                  </a:lnTo>
                  <a:lnTo>
                    <a:pt x="719" y="169963"/>
                  </a:lnTo>
                  <a:lnTo>
                    <a:pt x="1865" y="167250"/>
                  </a:lnTo>
                  <a:lnTo>
                    <a:pt x="3796" y="164869"/>
                  </a:lnTo>
                  <a:lnTo>
                    <a:pt x="160959" y="2944"/>
                  </a:lnTo>
                  <a:lnTo>
                    <a:pt x="162173" y="1543"/>
                  </a:lnTo>
                  <a:lnTo>
                    <a:pt x="163691" y="674"/>
                  </a:lnTo>
                  <a:lnTo>
                    <a:pt x="165515" y="337"/>
                  </a:lnTo>
                  <a:lnTo>
                    <a:pt x="167338" y="0"/>
                  </a:lnTo>
                  <a:lnTo>
                    <a:pt x="169067" y="268"/>
                  </a:lnTo>
                  <a:lnTo>
                    <a:pt x="170702" y="1143"/>
                  </a:lnTo>
                  <a:lnTo>
                    <a:pt x="172337" y="2017"/>
                  </a:lnTo>
                  <a:lnTo>
                    <a:pt x="173520" y="3306"/>
                  </a:lnTo>
                  <a:lnTo>
                    <a:pt x="174251" y="5010"/>
                  </a:lnTo>
                  <a:lnTo>
                    <a:pt x="174983" y="6714"/>
                  </a:lnTo>
                  <a:lnTo>
                    <a:pt x="175103" y="8459"/>
                  </a:lnTo>
                  <a:lnTo>
                    <a:pt x="174611" y="10247"/>
                  </a:lnTo>
                  <a:lnTo>
                    <a:pt x="144131" y="105814"/>
                  </a:lnTo>
                  <a:lnTo>
                    <a:pt x="143219" y="108256"/>
                  </a:lnTo>
                  <a:lnTo>
                    <a:pt x="142926" y="110769"/>
                  </a:lnTo>
                  <a:lnTo>
                    <a:pt x="143252" y="113355"/>
                  </a:lnTo>
                  <a:lnTo>
                    <a:pt x="143577" y="115941"/>
                  </a:lnTo>
                  <a:lnTo>
                    <a:pt x="144485" y="118303"/>
                  </a:lnTo>
                  <a:lnTo>
                    <a:pt x="145974" y="120442"/>
                  </a:lnTo>
                  <a:lnTo>
                    <a:pt x="147463" y="122581"/>
                  </a:lnTo>
                  <a:lnTo>
                    <a:pt x="149364" y="124252"/>
                  </a:lnTo>
                  <a:lnTo>
                    <a:pt x="151676" y="125454"/>
                  </a:lnTo>
                  <a:lnTo>
                    <a:pt x="153988" y="126657"/>
                  </a:lnTo>
                  <a:lnTo>
                    <a:pt x="156448" y="127254"/>
                  </a:lnTo>
                  <a:lnTo>
                    <a:pt x="159054" y="127246"/>
                  </a:lnTo>
                  <a:lnTo>
                    <a:pt x="270179" y="127246"/>
                  </a:lnTo>
                  <a:lnTo>
                    <a:pt x="284553" y="136268"/>
                  </a:lnTo>
                  <a:lnTo>
                    <a:pt x="285876" y="139034"/>
                  </a:lnTo>
                  <a:lnTo>
                    <a:pt x="286358" y="141939"/>
                  </a:lnTo>
                  <a:lnTo>
                    <a:pt x="285998" y="144983"/>
                  </a:lnTo>
                  <a:lnTo>
                    <a:pt x="285638" y="148028"/>
                  </a:lnTo>
                  <a:lnTo>
                    <a:pt x="284493" y="150741"/>
                  </a:lnTo>
                  <a:lnTo>
                    <a:pt x="282561" y="153122"/>
                  </a:lnTo>
                  <a:lnTo>
                    <a:pt x="125399" y="315047"/>
                  </a:lnTo>
                  <a:lnTo>
                    <a:pt x="124185" y="316448"/>
                  </a:lnTo>
                  <a:lnTo>
                    <a:pt x="122666" y="317317"/>
                  </a:lnTo>
                  <a:lnTo>
                    <a:pt x="120843" y="317655"/>
                  </a:lnTo>
                  <a:lnTo>
                    <a:pt x="119020" y="317992"/>
                  </a:lnTo>
                  <a:lnTo>
                    <a:pt x="117291" y="317723"/>
                  </a:lnTo>
                  <a:lnTo>
                    <a:pt x="115656" y="316849"/>
                  </a:lnTo>
                  <a:lnTo>
                    <a:pt x="114021" y="315974"/>
                  </a:lnTo>
                  <a:lnTo>
                    <a:pt x="112838" y="314685"/>
                  </a:lnTo>
                  <a:lnTo>
                    <a:pt x="112106" y="312981"/>
                  </a:lnTo>
                  <a:lnTo>
                    <a:pt x="111374" y="311278"/>
                  </a:lnTo>
                  <a:lnTo>
                    <a:pt x="111255" y="309532"/>
                  </a:lnTo>
                  <a:lnTo>
                    <a:pt x="111746" y="307744"/>
                  </a:lnTo>
                  <a:lnTo>
                    <a:pt x="142226" y="212177"/>
                  </a:lnTo>
                  <a:lnTo>
                    <a:pt x="143138" y="209736"/>
                  </a:lnTo>
                  <a:lnTo>
                    <a:pt x="143432" y="207222"/>
                  </a:lnTo>
                  <a:lnTo>
                    <a:pt x="143106" y="204636"/>
                  </a:lnTo>
                  <a:lnTo>
                    <a:pt x="142780" y="202050"/>
                  </a:lnTo>
                  <a:lnTo>
                    <a:pt x="141873" y="199688"/>
                  </a:lnTo>
                  <a:lnTo>
                    <a:pt x="140383" y="197549"/>
                  </a:lnTo>
                  <a:lnTo>
                    <a:pt x="138894" y="195410"/>
                  </a:lnTo>
                  <a:lnTo>
                    <a:pt x="136993" y="193740"/>
                  </a:lnTo>
                  <a:lnTo>
                    <a:pt x="134681" y="192537"/>
                  </a:lnTo>
                  <a:lnTo>
                    <a:pt x="132369" y="191334"/>
                  </a:lnTo>
                  <a:lnTo>
                    <a:pt x="129910" y="190737"/>
                  </a:lnTo>
                  <a:lnTo>
                    <a:pt x="127304" y="190746"/>
                  </a:lnTo>
                  <a:lnTo>
                    <a:pt x="16179" y="190746"/>
                  </a:lnTo>
                  <a:close/>
                </a:path>
              </a:pathLst>
            </a:custGeom>
            <a:ln w="31749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575748" y="2558358"/>
            <a:ext cx="3136900" cy="6921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sz="21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9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150" b="1" spc="-195" dirty="0">
                <a:solidFill>
                  <a:srgbClr val="FFFFFF"/>
                </a:solidFill>
                <a:latin typeface="Times New Roman"/>
                <a:cs typeface="Times New Roman"/>
              </a:rPr>
              <a:t>Powered</a:t>
            </a:r>
            <a:r>
              <a:rPr sz="215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Platform</a:t>
            </a:r>
            <a:endParaRPr sz="2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450" spc="-145" dirty="0">
                <a:solidFill>
                  <a:srgbClr val="FFFFFF"/>
                </a:solidFill>
                <a:latin typeface="Times New Roman"/>
                <a:cs typeface="Times New Roman"/>
              </a:rPr>
              <a:t>GPT</a:t>
            </a:r>
            <a:r>
              <a:rPr sz="1300" spc="-14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300" spc="5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13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70" dirty="0">
                <a:solidFill>
                  <a:srgbClr val="FFFFFF"/>
                </a:solidFill>
                <a:latin typeface="Times New Roman"/>
                <a:cs typeface="Times New Roman"/>
              </a:rPr>
              <a:t>negotiation</a:t>
            </a:r>
            <a:r>
              <a:rPr sz="1300" spc="-7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3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50" dirty="0">
                <a:solidFill>
                  <a:srgbClr val="FFFFFF"/>
                </a:solidFill>
                <a:latin typeface="Times New Roman"/>
                <a:cs typeface="Times New Roman"/>
              </a:rPr>
              <a:t>YOLOv</a:t>
            </a:r>
            <a:r>
              <a:rPr sz="1300" spc="-15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13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65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14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50" dirty="0">
                <a:solidFill>
                  <a:srgbClr val="FFFFFF"/>
                </a:solidFill>
                <a:latin typeface="Times New Roman"/>
                <a:cs typeface="Times New Roman"/>
              </a:rPr>
              <a:t>grading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087100" y="2066924"/>
            <a:ext cx="3438525" cy="1352550"/>
            <a:chOff x="11087100" y="2066924"/>
            <a:chExt cx="3438525" cy="1352550"/>
          </a:xfrm>
        </p:grpSpPr>
        <p:sp>
          <p:nvSpPr>
            <p:cNvPr id="18" name="object 18"/>
            <p:cNvSpPr/>
            <p:nvPr/>
          </p:nvSpPr>
          <p:spPr>
            <a:xfrm>
              <a:off x="11087100" y="2066924"/>
              <a:ext cx="3438525" cy="1352550"/>
            </a:xfrm>
            <a:custGeom>
              <a:avLst/>
              <a:gdLst/>
              <a:ahLst/>
              <a:cxnLst/>
              <a:rect l="l" t="t" r="r" b="b"/>
              <a:pathLst>
                <a:path w="3438525" h="1352550">
                  <a:moveTo>
                    <a:pt x="3324225" y="1352550"/>
                  </a:moveTo>
                  <a:lnTo>
                    <a:pt x="114300" y="1352550"/>
                  </a:lnTo>
                  <a:lnTo>
                    <a:pt x="103040" y="1352006"/>
                  </a:lnTo>
                  <a:lnTo>
                    <a:pt x="60364" y="1339038"/>
                  </a:lnTo>
                  <a:lnTo>
                    <a:pt x="25900" y="1310725"/>
                  </a:lnTo>
                  <a:lnTo>
                    <a:pt x="4894" y="1271379"/>
                  </a:lnTo>
                  <a:lnTo>
                    <a:pt x="0" y="12382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3324225" y="0"/>
                  </a:lnTo>
                  <a:lnTo>
                    <a:pt x="3367965" y="8700"/>
                  </a:lnTo>
                  <a:lnTo>
                    <a:pt x="3405047" y="33477"/>
                  </a:lnTo>
                  <a:lnTo>
                    <a:pt x="3429824" y="70559"/>
                  </a:lnTo>
                  <a:lnTo>
                    <a:pt x="3438525" y="114300"/>
                  </a:lnTo>
                  <a:lnTo>
                    <a:pt x="3438525" y="1238250"/>
                  </a:lnTo>
                  <a:lnTo>
                    <a:pt x="3429824" y="1281990"/>
                  </a:lnTo>
                  <a:lnTo>
                    <a:pt x="3405047" y="1319072"/>
                  </a:lnTo>
                  <a:lnTo>
                    <a:pt x="3367965" y="1343849"/>
                  </a:lnTo>
                  <a:lnTo>
                    <a:pt x="3324225" y="13525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1087100" y="2066925"/>
              <a:ext cx="3438525" cy="1352550"/>
            </a:xfrm>
            <a:custGeom>
              <a:avLst/>
              <a:gdLst/>
              <a:ahLst/>
              <a:cxnLst/>
              <a:rect l="l" t="t" r="r" b="b"/>
              <a:pathLst>
                <a:path w="3438525" h="1352550">
                  <a:moveTo>
                    <a:pt x="3324224" y="1352549"/>
                  </a:moveTo>
                  <a:lnTo>
                    <a:pt x="114299" y="1352549"/>
                  </a:lnTo>
                  <a:lnTo>
                    <a:pt x="103040" y="1352006"/>
                  </a:lnTo>
                  <a:lnTo>
                    <a:pt x="60364" y="1339038"/>
                  </a:lnTo>
                  <a:lnTo>
                    <a:pt x="25900" y="1310725"/>
                  </a:lnTo>
                  <a:lnTo>
                    <a:pt x="4894" y="1271379"/>
                  </a:lnTo>
                  <a:lnTo>
                    <a:pt x="0" y="1238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324224" y="0"/>
                  </a:lnTo>
                  <a:lnTo>
                    <a:pt x="3367965" y="8700"/>
                  </a:lnTo>
                  <a:lnTo>
                    <a:pt x="336971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45129"/>
                  </a:lnTo>
                  <a:lnTo>
                    <a:pt x="20133" y="1284701"/>
                  </a:lnTo>
                  <a:lnTo>
                    <a:pt x="45077" y="1317201"/>
                  </a:lnTo>
                  <a:lnTo>
                    <a:pt x="80560" y="1337682"/>
                  </a:lnTo>
                  <a:lnTo>
                    <a:pt x="107420" y="1343024"/>
                  </a:lnTo>
                  <a:lnTo>
                    <a:pt x="3369711" y="1343024"/>
                  </a:lnTo>
                  <a:lnTo>
                    <a:pt x="3367964" y="1343849"/>
                  </a:lnTo>
                  <a:lnTo>
                    <a:pt x="3357354" y="1347655"/>
                  </a:lnTo>
                  <a:lnTo>
                    <a:pt x="3346527" y="1350374"/>
                  </a:lnTo>
                  <a:lnTo>
                    <a:pt x="3335484" y="1352006"/>
                  </a:lnTo>
                  <a:lnTo>
                    <a:pt x="3324224" y="1352549"/>
                  </a:lnTo>
                  <a:close/>
                </a:path>
                <a:path w="3438525" h="1352550">
                  <a:moveTo>
                    <a:pt x="3369711" y="1343024"/>
                  </a:moveTo>
                  <a:lnTo>
                    <a:pt x="3331104" y="1343024"/>
                  </a:lnTo>
                  <a:lnTo>
                    <a:pt x="3337917" y="1342353"/>
                  </a:lnTo>
                  <a:lnTo>
                    <a:pt x="3351412" y="1339669"/>
                  </a:lnTo>
                  <a:lnTo>
                    <a:pt x="3388154" y="1321545"/>
                  </a:lnTo>
                  <a:lnTo>
                    <a:pt x="3415163" y="1290739"/>
                  </a:lnTo>
                  <a:lnTo>
                    <a:pt x="3428328" y="1251943"/>
                  </a:lnTo>
                  <a:lnTo>
                    <a:pt x="3428999" y="1245129"/>
                  </a:lnTo>
                  <a:lnTo>
                    <a:pt x="3428999" y="107420"/>
                  </a:lnTo>
                  <a:lnTo>
                    <a:pt x="3418391" y="67848"/>
                  </a:lnTo>
                  <a:lnTo>
                    <a:pt x="3393446" y="35348"/>
                  </a:lnTo>
                  <a:lnTo>
                    <a:pt x="3357963" y="14867"/>
                  </a:lnTo>
                  <a:lnTo>
                    <a:pt x="3331104" y="9524"/>
                  </a:lnTo>
                  <a:lnTo>
                    <a:pt x="3369712" y="9524"/>
                  </a:lnTo>
                  <a:lnTo>
                    <a:pt x="3405046" y="33477"/>
                  </a:lnTo>
                  <a:lnTo>
                    <a:pt x="3429824" y="70559"/>
                  </a:lnTo>
                  <a:lnTo>
                    <a:pt x="3438524" y="114299"/>
                  </a:lnTo>
                  <a:lnTo>
                    <a:pt x="3438524" y="1238249"/>
                  </a:lnTo>
                  <a:lnTo>
                    <a:pt x="3429824" y="1281990"/>
                  </a:lnTo>
                  <a:lnTo>
                    <a:pt x="3405046" y="1319072"/>
                  </a:lnTo>
                  <a:lnTo>
                    <a:pt x="3378159" y="1339038"/>
                  </a:lnTo>
                  <a:lnTo>
                    <a:pt x="3369711" y="1343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2652375" y="2276475"/>
              <a:ext cx="317500" cy="285750"/>
            </a:xfrm>
            <a:custGeom>
              <a:avLst/>
              <a:gdLst/>
              <a:ahLst/>
              <a:cxnLst/>
              <a:rect l="l" t="t" r="r" b="b"/>
              <a:pathLst>
                <a:path w="317500" h="285750">
                  <a:moveTo>
                    <a:pt x="222249" y="285749"/>
                  </a:moveTo>
                  <a:lnTo>
                    <a:pt x="222249" y="253999"/>
                  </a:lnTo>
                  <a:lnTo>
                    <a:pt x="222249" y="249830"/>
                  </a:lnTo>
                  <a:lnTo>
                    <a:pt x="221843" y="245701"/>
                  </a:lnTo>
                  <a:lnTo>
                    <a:pt x="221029" y="241611"/>
                  </a:lnTo>
                  <a:lnTo>
                    <a:pt x="220216" y="237522"/>
                  </a:lnTo>
                  <a:lnTo>
                    <a:pt x="197495" y="203518"/>
                  </a:lnTo>
                  <a:lnTo>
                    <a:pt x="194028" y="201201"/>
                  </a:lnTo>
                  <a:lnTo>
                    <a:pt x="190561" y="198885"/>
                  </a:lnTo>
                  <a:lnTo>
                    <a:pt x="162919" y="190499"/>
                  </a:lnTo>
                  <a:lnTo>
                    <a:pt x="158749" y="190499"/>
                  </a:lnTo>
                  <a:lnTo>
                    <a:pt x="63499" y="190499"/>
                  </a:lnTo>
                  <a:lnTo>
                    <a:pt x="59330" y="190499"/>
                  </a:lnTo>
                  <a:lnTo>
                    <a:pt x="55201" y="190906"/>
                  </a:lnTo>
                  <a:lnTo>
                    <a:pt x="18598" y="209098"/>
                  </a:lnTo>
                  <a:lnTo>
                    <a:pt x="15650" y="212046"/>
                  </a:lnTo>
                  <a:lnTo>
                    <a:pt x="1220" y="241611"/>
                  </a:lnTo>
                  <a:lnTo>
                    <a:pt x="406" y="245701"/>
                  </a:lnTo>
                  <a:lnTo>
                    <a:pt x="0" y="249830"/>
                  </a:lnTo>
                  <a:lnTo>
                    <a:pt x="0" y="253999"/>
                  </a:lnTo>
                  <a:lnTo>
                    <a:pt x="0" y="285749"/>
                  </a:lnTo>
                </a:path>
                <a:path w="317500" h="285750">
                  <a:moveTo>
                    <a:pt x="174624" y="63499"/>
                  </a:moveTo>
                  <a:lnTo>
                    <a:pt x="163923" y="98778"/>
                  </a:lnTo>
                  <a:lnTo>
                    <a:pt x="161606" y="102245"/>
                  </a:lnTo>
                  <a:lnTo>
                    <a:pt x="158974" y="105453"/>
                  </a:lnTo>
                  <a:lnTo>
                    <a:pt x="156026" y="108401"/>
                  </a:lnTo>
                  <a:lnTo>
                    <a:pt x="153077" y="111349"/>
                  </a:lnTo>
                  <a:lnTo>
                    <a:pt x="115294" y="126999"/>
                  </a:lnTo>
                  <a:lnTo>
                    <a:pt x="111124" y="126999"/>
                  </a:lnTo>
                  <a:lnTo>
                    <a:pt x="106955" y="126999"/>
                  </a:lnTo>
                  <a:lnTo>
                    <a:pt x="69171" y="111349"/>
                  </a:lnTo>
                  <a:lnTo>
                    <a:pt x="66223" y="108401"/>
                  </a:lnTo>
                  <a:lnTo>
                    <a:pt x="63275" y="105453"/>
                  </a:lnTo>
                  <a:lnTo>
                    <a:pt x="60643" y="102245"/>
                  </a:lnTo>
                  <a:lnTo>
                    <a:pt x="58326" y="98778"/>
                  </a:lnTo>
                  <a:lnTo>
                    <a:pt x="56010" y="95311"/>
                  </a:lnTo>
                  <a:lnTo>
                    <a:pt x="48845" y="75888"/>
                  </a:lnTo>
                  <a:lnTo>
                    <a:pt x="48031" y="71798"/>
                  </a:lnTo>
                  <a:lnTo>
                    <a:pt x="47624" y="67669"/>
                  </a:lnTo>
                  <a:lnTo>
                    <a:pt x="47624" y="63499"/>
                  </a:lnTo>
                  <a:lnTo>
                    <a:pt x="47624" y="59330"/>
                  </a:lnTo>
                  <a:lnTo>
                    <a:pt x="48031" y="55201"/>
                  </a:lnTo>
                  <a:lnTo>
                    <a:pt x="48845" y="51111"/>
                  </a:lnTo>
                  <a:lnTo>
                    <a:pt x="49658" y="47022"/>
                  </a:lnTo>
                  <a:lnTo>
                    <a:pt x="66223" y="18598"/>
                  </a:lnTo>
                  <a:lnTo>
                    <a:pt x="69171" y="15650"/>
                  </a:lnTo>
                  <a:lnTo>
                    <a:pt x="98736" y="1220"/>
                  </a:lnTo>
                  <a:lnTo>
                    <a:pt x="102826" y="406"/>
                  </a:lnTo>
                  <a:lnTo>
                    <a:pt x="106955" y="0"/>
                  </a:lnTo>
                  <a:lnTo>
                    <a:pt x="111124" y="0"/>
                  </a:lnTo>
                  <a:lnTo>
                    <a:pt x="115294" y="0"/>
                  </a:lnTo>
                  <a:lnTo>
                    <a:pt x="135425" y="4833"/>
                  </a:lnTo>
                  <a:lnTo>
                    <a:pt x="139277" y="6429"/>
                  </a:lnTo>
                  <a:lnTo>
                    <a:pt x="156026" y="18598"/>
                  </a:lnTo>
                  <a:lnTo>
                    <a:pt x="158974" y="21546"/>
                  </a:lnTo>
                  <a:lnTo>
                    <a:pt x="174624" y="59330"/>
                  </a:lnTo>
                  <a:lnTo>
                    <a:pt x="174624" y="63499"/>
                  </a:lnTo>
                  <a:close/>
                </a:path>
                <a:path w="317500" h="285750">
                  <a:moveTo>
                    <a:pt x="317499" y="285749"/>
                  </a:moveTo>
                  <a:lnTo>
                    <a:pt x="317499" y="253999"/>
                  </a:lnTo>
                  <a:lnTo>
                    <a:pt x="317494" y="246965"/>
                  </a:lnTo>
                  <a:lnTo>
                    <a:pt x="316352" y="240120"/>
                  </a:lnTo>
                  <a:lnTo>
                    <a:pt x="314071" y="233465"/>
                  </a:lnTo>
                  <a:lnTo>
                    <a:pt x="311791" y="226810"/>
                  </a:lnTo>
                  <a:lnTo>
                    <a:pt x="283030" y="197135"/>
                  </a:lnTo>
                  <a:lnTo>
                    <a:pt x="276686" y="194322"/>
                  </a:lnTo>
                  <a:lnTo>
                    <a:pt x="269874" y="192563"/>
                  </a:lnTo>
                </a:path>
                <a:path w="317500" h="285750">
                  <a:moveTo>
                    <a:pt x="222249" y="2063"/>
                  </a:moveTo>
                  <a:lnTo>
                    <a:pt x="229079" y="3812"/>
                  </a:lnTo>
                  <a:lnTo>
                    <a:pt x="235441" y="6620"/>
                  </a:lnTo>
                  <a:lnTo>
                    <a:pt x="241335" y="10488"/>
                  </a:lnTo>
                  <a:lnTo>
                    <a:pt x="247229" y="14355"/>
                  </a:lnTo>
                  <a:lnTo>
                    <a:pt x="252338" y="19073"/>
                  </a:lnTo>
                  <a:lnTo>
                    <a:pt x="256661" y="24642"/>
                  </a:lnTo>
                  <a:lnTo>
                    <a:pt x="260983" y="30211"/>
                  </a:lnTo>
                  <a:lnTo>
                    <a:pt x="269999" y="63579"/>
                  </a:lnTo>
                  <a:lnTo>
                    <a:pt x="269999" y="70629"/>
                  </a:lnTo>
                  <a:lnTo>
                    <a:pt x="256661" y="102515"/>
                  </a:lnTo>
                  <a:lnTo>
                    <a:pt x="252338" y="108084"/>
                  </a:lnTo>
                  <a:lnTo>
                    <a:pt x="247229" y="112803"/>
                  </a:lnTo>
                  <a:lnTo>
                    <a:pt x="241335" y="116670"/>
                  </a:lnTo>
                  <a:lnTo>
                    <a:pt x="235441" y="120538"/>
                  </a:lnTo>
                  <a:lnTo>
                    <a:pt x="229079" y="123346"/>
                  </a:lnTo>
                  <a:lnTo>
                    <a:pt x="222249" y="125094"/>
                  </a:lnTo>
                </a:path>
              </a:pathLst>
            </a:custGeom>
            <a:ln w="31749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597828" y="2558358"/>
            <a:ext cx="2419350" cy="6921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sz="2150" b="1" spc="-155" dirty="0">
                <a:solidFill>
                  <a:srgbClr val="FFFFFF"/>
                </a:solidFill>
                <a:latin typeface="Times New Roman"/>
                <a:cs typeface="Times New Roman"/>
              </a:rPr>
              <a:t>Direct</a:t>
            </a:r>
            <a:r>
              <a:rPr sz="2150" b="1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Market</a:t>
            </a:r>
            <a:r>
              <a:rPr sz="2150" b="1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4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endParaRPr sz="2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450" spc="-105" dirty="0">
                <a:solidFill>
                  <a:srgbClr val="FFFFFF"/>
                </a:solidFill>
                <a:latin typeface="Times New Roman"/>
                <a:cs typeface="Times New Roman"/>
              </a:rPr>
              <a:t>Eliminate</a:t>
            </a:r>
            <a:r>
              <a:rPr sz="14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70" dirty="0">
                <a:solidFill>
                  <a:srgbClr val="FFFFFF"/>
                </a:solidFill>
                <a:latin typeface="Times New Roman"/>
                <a:cs typeface="Times New Roman"/>
              </a:rPr>
              <a:t>4-</a:t>
            </a: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sz="13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intermediaries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762375" y="3648074"/>
            <a:ext cx="3438525" cy="1352550"/>
            <a:chOff x="3762375" y="3648074"/>
            <a:chExt cx="3438525" cy="1352550"/>
          </a:xfrm>
        </p:grpSpPr>
        <p:sp>
          <p:nvSpPr>
            <p:cNvPr id="23" name="object 23"/>
            <p:cNvSpPr/>
            <p:nvPr/>
          </p:nvSpPr>
          <p:spPr>
            <a:xfrm>
              <a:off x="3762375" y="3648074"/>
              <a:ext cx="3438525" cy="1352550"/>
            </a:xfrm>
            <a:custGeom>
              <a:avLst/>
              <a:gdLst/>
              <a:ahLst/>
              <a:cxnLst/>
              <a:rect l="l" t="t" r="r" b="b"/>
              <a:pathLst>
                <a:path w="3438525" h="1352550">
                  <a:moveTo>
                    <a:pt x="3324225" y="1352550"/>
                  </a:moveTo>
                  <a:lnTo>
                    <a:pt x="114300" y="1352550"/>
                  </a:lnTo>
                  <a:lnTo>
                    <a:pt x="103040" y="1352006"/>
                  </a:lnTo>
                  <a:lnTo>
                    <a:pt x="60364" y="1339038"/>
                  </a:lnTo>
                  <a:lnTo>
                    <a:pt x="25900" y="1310725"/>
                  </a:lnTo>
                  <a:lnTo>
                    <a:pt x="4894" y="1271379"/>
                  </a:lnTo>
                  <a:lnTo>
                    <a:pt x="0" y="12382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3324225" y="0"/>
                  </a:lnTo>
                  <a:lnTo>
                    <a:pt x="3367965" y="8700"/>
                  </a:lnTo>
                  <a:lnTo>
                    <a:pt x="3405047" y="33477"/>
                  </a:lnTo>
                  <a:lnTo>
                    <a:pt x="3429824" y="70559"/>
                  </a:lnTo>
                  <a:lnTo>
                    <a:pt x="3438525" y="114300"/>
                  </a:lnTo>
                  <a:lnTo>
                    <a:pt x="3438525" y="1238250"/>
                  </a:lnTo>
                  <a:lnTo>
                    <a:pt x="3429824" y="1281990"/>
                  </a:lnTo>
                  <a:lnTo>
                    <a:pt x="3405047" y="1319072"/>
                  </a:lnTo>
                  <a:lnTo>
                    <a:pt x="3367965" y="1343849"/>
                  </a:lnTo>
                  <a:lnTo>
                    <a:pt x="3324225" y="13525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762375" y="3648075"/>
              <a:ext cx="3438525" cy="1352550"/>
            </a:xfrm>
            <a:custGeom>
              <a:avLst/>
              <a:gdLst/>
              <a:ahLst/>
              <a:cxnLst/>
              <a:rect l="l" t="t" r="r" b="b"/>
              <a:pathLst>
                <a:path w="3438525" h="1352550">
                  <a:moveTo>
                    <a:pt x="3324224" y="1352549"/>
                  </a:moveTo>
                  <a:lnTo>
                    <a:pt x="114299" y="1352549"/>
                  </a:lnTo>
                  <a:lnTo>
                    <a:pt x="103040" y="1352006"/>
                  </a:lnTo>
                  <a:lnTo>
                    <a:pt x="60364" y="1339037"/>
                  </a:lnTo>
                  <a:lnTo>
                    <a:pt x="25900" y="1310725"/>
                  </a:lnTo>
                  <a:lnTo>
                    <a:pt x="4894" y="1271379"/>
                  </a:lnTo>
                  <a:lnTo>
                    <a:pt x="0" y="1238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324224" y="0"/>
                  </a:lnTo>
                  <a:lnTo>
                    <a:pt x="3367965" y="8700"/>
                  </a:lnTo>
                  <a:lnTo>
                    <a:pt x="336971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45129"/>
                  </a:lnTo>
                  <a:lnTo>
                    <a:pt x="20133" y="1284701"/>
                  </a:lnTo>
                  <a:lnTo>
                    <a:pt x="45077" y="1317201"/>
                  </a:lnTo>
                  <a:lnTo>
                    <a:pt x="80560" y="1337681"/>
                  </a:lnTo>
                  <a:lnTo>
                    <a:pt x="107420" y="1343024"/>
                  </a:lnTo>
                  <a:lnTo>
                    <a:pt x="3369711" y="1343024"/>
                  </a:lnTo>
                  <a:lnTo>
                    <a:pt x="3367965" y="1343849"/>
                  </a:lnTo>
                  <a:lnTo>
                    <a:pt x="3357354" y="1347655"/>
                  </a:lnTo>
                  <a:lnTo>
                    <a:pt x="3346527" y="1350374"/>
                  </a:lnTo>
                  <a:lnTo>
                    <a:pt x="3335484" y="1352006"/>
                  </a:lnTo>
                  <a:lnTo>
                    <a:pt x="3324224" y="1352549"/>
                  </a:lnTo>
                  <a:close/>
                </a:path>
                <a:path w="3438525" h="1352550">
                  <a:moveTo>
                    <a:pt x="3369711" y="1343024"/>
                  </a:moveTo>
                  <a:lnTo>
                    <a:pt x="3331104" y="1343024"/>
                  </a:lnTo>
                  <a:lnTo>
                    <a:pt x="3337917" y="1342353"/>
                  </a:lnTo>
                  <a:lnTo>
                    <a:pt x="3351412" y="1339669"/>
                  </a:lnTo>
                  <a:lnTo>
                    <a:pt x="3388154" y="1321544"/>
                  </a:lnTo>
                  <a:lnTo>
                    <a:pt x="3415163" y="1290739"/>
                  </a:lnTo>
                  <a:lnTo>
                    <a:pt x="3428328" y="1251943"/>
                  </a:lnTo>
                  <a:lnTo>
                    <a:pt x="3428999" y="1245129"/>
                  </a:lnTo>
                  <a:lnTo>
                    <a:pt x="3428999" y="107420"/>
                  </a:lnTo>
                  <a:lnTo>
                    <a:pt x="3418391" y="67848"/>
                  </a:lnTo>
                  <a:lnTo>
                    <a:pt x="3393447" y="35348"/>
                  </a:lnTo>
                  <a:lnTo>
                    <a:pt x="3357964" y="14867"/>
                  </a:lnTo>
                  <a:lnTo>
                    <a:pt x="3331104" y="9524"/>
                  </a:lnTo>
                  <a:lnTo>
                    <a:pt x="3369712" y="9524"/>
                  </a:lnTo>
                  <a:lnTo>
                    <a:pt x="3405046" y="33477"/>
                  </a:lnTo>
                  <a:lnTo>
                    <a:pt x="3429824" y="70559"/>
                  </a:lnTo>
                  <a:lnTo>
                    <a:pt x="3438524" y="114299"/>
                  </a:lnTo>
                  <a:lnTo>
                    <a:pt x="3438524" y="1238249"/>
                  </a:lnTo>
                  <a:lnTo>
                    <a:pt x="3429824" y="1281990"/>
                  </a:lnTo>
                  <a:lnTo>
                    <a:pt x="3405046" y="1319072"/>
                  </a:lnTo>
                  <a:lnTo>
                    <a:pt x="3378159" y="1339037"/>
                  </a:lnTo>
                  <a:lnTo>
                    <a:pt x="3369711" y="1343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5318125" y="3841749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317499" y="158749"/>
                  </a:moveTo>
                  <a:lnTo>
                    <a:pt x="312741" y="197332"/>
                  </a:lnTo>
                  <a:lnTo>
                    <a:pt x="298756" y="233585"/>
                  </a:lnTo>
                  <a:lnTo>
                    <a:pt x="276383" y="265353"/>
                  </a:lnTo>
                  <a:lnTo>
                    <a:pt x="246946" y="290745"/>
                  </a:lnTo>
                  <a:lnTo>
                    <a:pt x="212222" y="308224"/>
                  </a:lnTo>
                  <a:lnTo>
                    <a:pt x="174310" y="316737"/>
                  </a:lnTo>
                  <a:lnTo>
                    <a:pt x="158749" y="317499"/>
                  </a:lnTo>
                  <a:lnTo>
                    <a:pt x="150951" y="317309"/>
                  </a:lnTo>
                  <a:lnTo>
                    <a:pt x="112666" y="310666"/>
                  </a:lnTo>
                  <a:lnTo>
                    <a:pt x="77143" y="294920"/>
                  </a:lnTo>
                  <a:lnTo>
                    <a:pt x="46496" y="271003"/>
                  </a:lnTo>
                  <a:lnTo>
                    <a:pt x="22579" y="240356"/>
                  </a:lnTo>
                  <a:lnTo>
                    <a:pt x="6833" y="204833"/>
                  </a:lnTo>
                  <a:lnTo>
                    <a:pt x="190" y="166548"/>
                  </a:lnTo>
                  <a:lnTo>
                    <a:pt x="0" y="158749"/>
                  </a:lnTo>
                  <a:lnTo>
                    <a:pt x="190" y="150951"/>
                  </a:lnTo>
                  <a:lnTo>
                    <a:pt x="6833" y="112666"/>
                  </a:lnTo>
                  <a:lnTo>
                    <a:pt x="22579" y="77143"/>
                  </a:lnTo>
                  <a:lnTo>
                    <a:pt x="46496" y="46496"/>
                  </a:lnTo>
                  <a:lnTo>
                    <a:pt x="77143" y="22579"/>
                  </a:lnTo>
                  <a:lnTo>
                    <a:pt x="112666" y="6833"/>
                  </a:lnTo>
                  <a:lnTo>
                    <a:pt x="150951" y="190"/>
                  </a:lnTo>
                  <a:lnTo>
                    <a:pt x="158749" y="0"/>
                  </a:lnTo>
                  <a:lnTo>
                    <a:pt x="166548" y="190"/>
                  </a:lnTo>
                  <a:lnTo>
                    <a:pt x="204833" y="6833"/>
                  </a:lnTo>
                  <a:lnTo>
                    <a:pt x="240356" y="22579"/>
                  </a:lnTo>
                  <a:lnTo>
                    <a:pt x="271003" y="46496"/>
                  </a:lnTo>
                  <a:lnTo>
                    <a:pt x="294920" y="77143"/>
                  </a:lnTo>
                  <a:lnTo>
                    <a:pt x="310666" y="112666"/>
                  </a:lnTo>
                  <a:lnTo>
                    <a:pt x="317309" y="150951"/>
                  </a:lnTo>
                  <a:lnTo>
                    <a:pt x="317499" y="158749"/>
                  </a:lnTo>
                  <a:close/>
                </a:path>
                <a:path w="317500" h="317500">
                  <a:moveTo>
                    <a:pt x="158749" y="0"/>
                  </a:moveTo>
                  <a:lnTo>
                    <a:pt x="131736" y="34386"/>
                  </a:lnTo>
                  <a:lnTo>
                    <a:pt x="111713" y="73260"/>
                  </a:lnTo>
                  <a:lnTo>
                    <a:pt x="99403" y="115219"/>
                  </a:lnTo>
                  <a:lnTo>
                    <a:pt x="95249" y="158749"/>
                  </a:lnTo>
                  <a:lnTo>
                    <a:pt x="95509" y="169706"/>
                  </a:lnTo>
                  <a:lnTo>
                    <a:pt x="101730" y="212990"/>
                  </a:lnTo>
                  <a:lnTo>
                    <a:pt x="116024" y="254316"/>
                  </a:lnTo>
                  <a:lnTo>
                    <a:pt x="137874" y="292193"/>
                  </a:lnTo>
                  <a:lnTo>
                    <a:pt x="158749" y="317499"/>
                  </a:lnTo>
                  <a:lnTo>
                    <a:pt x="166118" y="309386"/>
                  </a:lnTo>
                  <a:lnTo>
                    <a:pt x="191464" y="273753"/>
                  </a:lnTo>
                  <a:lnTo>
                    <a:pt x="209614" y="233969"/>
                  </a:lnTo>
                  <a:lnTo>
                    <a:pt x="219913" y="191471"/>
                  </a:lnTo>
                  <a:lnTo>
                    <a:pt x="222249" y="158749"/>
                  </a:lnTo>
                  <a:lnTo>
                    <a:pt x="221990" y="147793"/>
                  </a:lnTo>
                  <a:lnTo>
                    <a:pt x="215769" y="104509"/>
                  </a:lnTo>
                  <a:lnTo>
                    <a:pt x="201475" y="63183"/>
                  </a:lnTo>
                  <a:lnTo>
                    <a:pt x="179625" y="25306"/>
                  </a:lnTo>
                  <a:lnTo>
                    <a:pt x="158749" y="0"/>
                  </a:lnTo>
                </a:path>
                <a:path w="317500" h="317500">
                  <a:moveTo>
                    <a:pt x="0" y="158749"/>
                  </a:moveTo>
                  <a:lnTo>
                    <a:pt x="317499" y="158749"/>
                  </a:lnTo>
                </a:path>
              </a:pathLst>
            </a:custGeom>
            <a:ln w="31749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458245" y="4139508"/>
            <a:ext cx="2044700" cy="6921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sz="215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$</a:t>
            </a:r>
            <a:r>
              <a:rPr sz="195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r>
              <a:rPr sz="215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150" b="1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Market</a:t>
            </a:r>
            <a:endParaRPr sz="2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450" spc="-100" dirty="0">
                <a:solidFill>
                  <a:srgbClr val="FFFFFF"/>
                </a:solidFill>
                <a:latin typeface="Times New Roman"/>
                <a:cs typeface="Times New Roman"/>
              </a:rPr>
              <a:t>Massive</a:t>
            </a:r>
            <a:r>
              <a:rPr sz="14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65" dirty="0">
                <a:solidFill>
                  <a:srgbClr val="FFFFFF"/>
                </a:solidFill>
                <a:latin typeface="Times New Roman"/>
                <a:cs typeface="Times New Roman"/>
              </a:rPr>
              <a:t>scalability</a:t>
            </a:r>
            <a:r>
              <a:rPr sz="14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55" dirty="0">
                <a:solidFill>
                  <a:srgbClr val="FFFFFF"/>
                </a:solidFill>
                <a:latin typeface="Times New Roman"/>
                <a:cs typeface="Times New Roman"/>
              </a:rPr>
              <a:t>potential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429499" y="3648074"/>
            <a:ext cx="3429000" cy="1352550"/>
            <a:chOff x="7429499" y="3648074"/>
            <a:chExt cx="3429000" cy="1352550"/>
          </a:xfrm>
        </p:grpSpPr>
        <p:sp>
          <p:nvSpPr>
            <p:cNvPr id="28" name="object 28"/>
            <p:cNvSpPr/>
            <p:nvPr/>
          </p:nvSpPr>
          <p:spPr>
            <a:xfrm>
              <a:off x="7429499" y="3648074"/>
              <a:ext cx="3429000" cy="1352550"/>
            </a:xfrm>
            <a:custGeom>
              <a:avLst/>
              <a:gdLst/>
              <a:ahLst/>
              <a:cxnLst/>
              <a:rect l="l" t="t" r="r" b="b"/>
              <a:pathLst>
                <a:path w="3429000" h="1352550">
                  <a:moveTo>
                    <a:pt x="3314700" y="1352550"/>
                  </a:moveTo>
                  <a:lnTo>
                    <a:pt x="114300" y="1352550"/>
                  </a:lnTo>
                  <a:lnTo>
                    <a:pt x="103040" y="1352006"/>
                  </a:lnTo>
                  <a:lnTo>
                    <a:pt x="60364" y="1339038"/>
                  </a:lnTo>
                  <a:lnTo>
                    <a:pt x="25900" y="1310725"/>
                  </a:lnTo>
                  <a:lnTo>
                    <a:pt x="4894" y="1271379"/>
                  </a:lnTo>
                  <a:lnTo>
                    <a:pt x="0" y="12382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3314700" y="0"/>
                  </a:lnTo>
                  <a:lnTo>
                    <a:pt x="3358440" y="8700"/>
                  </a:lnTo>
                  <a:lnTo>
                    <a:pt x="3395522" y="33477"/>
                  </a:lnTo>
                  <a:lnTo>
                    <a:pt x="3420299" y="70559"/>
                  </a:lnTo>
                  <a:lnTo>
                    <a:pt x="3429000" y="114300"/>
                  </a:lnTo>
                  <a:lnTo>
                    <a:pt x="3429000" y="1238250"/>
                  </a:lnTo>
                  <a:lnTo>
                    <a:pt x="3420299" y="1281990"/>
                  </a:lnTo>
                  <a:lnTo>
                    <a:pt x="3395522" y="1319072"/>
                  </a:lnTo>
                  <a:lnTo>
                    <a:pt x="3358440" y="1343849"/>
                  </a:lnTo>
                  <a:lnTo>
                    <a:pt x="3314700" y="13525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429499" y="3648075"/>
              <a:ext cx="3429000" cy="1352550"/>
            </a:xfrm>
            <a:custGeom>
              <a:avLst/>
              <a:gdLst/>
              <a:ahLst/>
              <a:cxnLst/>
              <a:rect l="l" t="t" r="r" b="b"/>
              <a:pathLst>
                <a:path w="3429000" h="1352550">
                  <a:moveTo>
                    <a:pt x="3314699" y="1352549"/>
                  </a:moveTo>
                  <a:lnTo>
                    <a:pt x="114299" y="1352549"/>
                  </a:lnTo>
                  <a:lnTo>
                    <a:pt x="103040" y="1352006"/>
                  </a:lnTo>
                  <a:lnTo>
                    <a:pt x="60364" y="1339037"/>
                  </a:lnTo>
                  <a:lnTo>
                    <a:pt x="25900" y="1310725"/>
                  </a:lnTo>
                  <a:lnTo>
                    <a:pt x="4894" y="1271379"/>
                  </a:lnTo>
                  <a:lnTo>
                    <a:pt x="0" y="1238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314699" y="0"/>
                  </a:lnTo>
                  <a:lnTo>
                    <a:pt x="3358440" y="8700"/>
                  </a:lnTo>
                  <a:lnTo>
                    <a:pt x="33601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45129"/>
                  </a:lnTo>
                  <a:lnTo>
                    <a:pt x="20133" y="1284701"/>
                  </a:lnTo>
                  <a:lnTo>
                    <a:pt x="45077" y="1317201"/>
                  </a:lnTo>
                  <a:lnTo>
                    <a:pt x="80560" y="1337681"/>
                  </a:lnTo>
                  <a:lnTo>
                    <a:pt x="107420" y="1343024"/>
                  </a:lnTo>
                  <a:lnTo>
                    <a:pt x="3360186" y="1343024"/>
                  </a:lnTo>
                  <a:lnTo>
                    <a:pt x="3358440" y="1343849"/>
                  </a:lnTo>
                  <a:lnTo>
                    <a:pt x="3347829" y="1347655"/>
                  </a:lnTo>
                  <a:lnTo>
                    <a:pt x="3337002" y="1350374"/>
                  </a:lnTo>
                  <a:lnTo>
                    <a:pt x="3325959" y="1352006"/>
                  </a:lnTo>
                  <a:lnTo>
                    <a:pt x="3314699" y="1352549"/>
                  </a:lnTo>
                  <a:close/>
                </a:path>
                <a:path w="3429000" h="1352550">
                  <a:moveTo>
                    <a:pt x="3360186" y="1343024"/>
                  </a:moveTo>
                  <a:lnTo>
                    <a:pt x="3321579" y="1343024"/>
                  </a:lnTo>
                  <a:lnTo>
                    <a:pt x="3328392" y="1342353"/>
                  </a:lnTo>
                  <a:lnTo>
                    <a:pt x="3341887" y="1339669"/>
                  </a:lnTo>
                  <a:lnTo>
                    <a:pt x="3378629" y="1321544"/>
                  </a:lnTo>
                  <a:lnTo>
                    <a:pt x="3405638" y="1290739"/>
                  </a:lnTo>
                  <a:lnTo>
                    <a:pt x="3418803" y="1251943"/>
                  </a:lnTo>
                  <a:lnTo>
                    <a:pt x="3419474" y="1245129"/>
                  </a:lnTo>
                  <a:lnTo>
                    <a:pt x="3419474" y="107420"/>
                  </a:lnTo>
                  <a:lnTo>
                    <a:pt x="3408866" y="67848"/>
                  </a:lnTo>
                  <a:lnTo>
                    <a:pt x="3383921" y="35348"/>
                  </a:lnTo>
                  <a:lnTo>
                    <a:pt x="3348439" y="14867"/>
                  </a:lnTo>
                  <a:lnTo>
                    <a:pt x="3321579" y="9524"/>
                  </a:lnTo>
                  <a:lnTo>
                    <a:pt x="3360187" y="9524"/>
                  </a:lnTo>
                  <a:lnTo>
                    <a:pt x="3395521" y="33477"/>
                  </a:lnTo>
                  <a:lnTo>
                    <a:pt x="3420299" y="70559"/>
                  </a:lnTo>
                  <a:lnTo>
                    <a:pt x="3428999" y="114299"/>
                  </a:lnTo>
                  <a:lnTo>
                    <a:pt x="3428999" y="1238249"/>
                  </a:lnTo>
                  <a:lnTo>
                    <a:pt x="3420299" y="1281990"/>
                  </a:lnTo>
                  <a:lnTo>
                    <a:pt x="3395521" y="1319072"/>
                  </a:lnTo>
                  <a:lnTo>
                    <a:pt x="3368634" y="1339037"/>
                  </a:lnTo>
                  <a:lnTo>
                    <a:pt x="3360186" y="1343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9016999" y="3841742"/>
              <a:ext cx="254000" cy="318135"/>
            </a:xfrm>
            <a:custGeom>
              <a:avLst/>
              <a:gdLst/>
              <a:ahLst/>
              <a:cxnLst/>
              <a:rect l="l" t="t" r="r" b="b"/>
              <a:pathLst>
                <a:path w="254000" h="318135">
                  <a:moveTo>
                    <a:pt x="253999" y="174632"/>
                  </a:moveTo>
                  <a:lnTo>
                    <a:pt x="244286" y="227081"/>
                  </a:lnTo>
                  <a:lnTo>
                    <a:pt x="217963" y="266806"/>
                  </a:lnTo>
                  <a:lnTo>
                    <a:pt x="179258" y="295964"/>
                  </a:lnTo>
                  <a:lnTo>
                    <a:pt x="132397" y="316713"/>
                  </a:lnTo>
                  <a:lnTo>
                    <a:pt x="128833" y="317921"/>
                  </a:lnTo>
                  <a:lnTo>
                    <a:pt x="125287" y="317868"/>
                  </a:lnTo>
                  <a:lnTo>
                    <a:pt x="74808" y="295897"/>
                  </a:lnTo>
                  <a:lnTo>
                    <a:pt x="36056" y="266786"/>
                  </a:lnTo>
                  <a:lnTo>
                    <a:pt x="9715" y="227079"/>
                  </a:lnTo>
                  <a:lnTo>
                    <a:pt x="0" y="174632"/>
                  </a:lnTo>
                  <a:lnTo>
                    <a:pt x="0" y="63507"/>
                  </a:lnTo>
                  <a:lnTo>
                    <a:pt x="0" y="61401"/>
                  </a:lnTo>
                  <a:lnTo>
                    <a:pt x="4649" y="52281"/>
                  </a:lnTo>
                  <a:lnTo>
                    <a:pt x="6138" y="50793"/>
                  </a:lnTo>
                  <a:lnTo>
                    <a:pt x="7854" y="49646"/>
                  </a:lnTo>
                  <a:lnTo>
                    <a:pt x="9799" y="48840"/>
                  </a:lnTo>
                  <a:lnTo>
                    <a:pt x="11744" y="48034"/>
                  </a:lnTo>
                  <a:lnTo>
                    <a:pt x="13769" y="47632"/>
                  </a:lnTo>
                  <a:lnTo>
                    <a:pt x="15874" y="47632"/>
                  </a:lnTo>
                  <a:lnTo>
                    <a:pt x="40863" y="44278"/>
                  </a:lnTo>
                  <a:lnTo>
                    <a:pt x="66952" y="35090"/>
                  </a:lnTo>
                  <a:lnTo>
                    <a:pt x="92268" y="21378"/>
                  </a:lnTo>
                  <a:lnTo>
                    <a:pt x="114934" y="4452"/>
                  </a:lnTo>
                  <a:lnTo>
                    <a:pt x="118409" y="1484"/>
                  </a:lnTo>
                  <a:lnTo>
                    <a:pt x="122430" y="0"/>
                  </a:lnTo>
                  <a:lnTo>
                    <a:pt x="126999" y="0"/>
                  </a:lnTo>
                  <a:lnTo>
                    <a:pt x="131569" y="0"/>
                  </a:lnTo>
                  <a:lnTo>
                    <a:pt x="135590" y="1484"/>
                  </a:lnTo>
                  <a:lnTo>
                    <a:pt x="187106" y="35150"/>
                  </a:lnTo>
                  <a:lnTo>
                    <a:pt x="238124" y="47632"/>
                  </a:lnTo>
                  <a:lnTo>
                    <a:pt x="240230" y="47632"/>
                  </a:lnTo>
                  <a:lnTo>
                    <a:pt x="242255" y="48034"/>
                  </a:lnTo>
                  <a:lnTo>
                    <a:pt x="244200" y="48840"/>
                  </a:lnTo>
                  <a:lnTo>
                    <a:pt x="246144" y="49646"/>
                  </a:lnTo>
                  <a:lnTo>
                    <a:pt x="247861" y="50793"/>
                  </a:lnTo>
                  <a:lnTo>
                    <a:pt x="253999" y="63507"/>
                  </a:lnTo>
                  <a:lnTo>
                    <a:pt x="253999" y="174632"/>
                  </a:lnTo>
                  <a:close/>
                </a:path>
              </a:pathLst>
            </a:custGeom>
            <a:ln w="31749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945437" y="4139508"/>
            <a:ext cx="2397125" cy="6921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sz="2150" b="1" spc="-190" dirty="0">
                <a:solidFill>
                  <a:srgbClr val="FFFFFF"/>
                </a:solidFill>
                <a:latin typeface="Times New Roman"/>
                <a:cs typeface="Times New Roman"/>
              </a:rPr>
              <a:t>Blockchain</a:t>
            </a:r>
            <a:r>
              <a:rPr sz="2150" b="1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Trust</a:t>
            </a:r>
            <a:endParaRPr sz="2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450" spc="-90" dirty="0">
                <a:solidFill>
                  <a:srgbClr val="FFFFFF"/>
                </a:solidFill>
                <a:latin typeface="Times New Roman"/>
                <a:cs typeface="Times New Roman"/>
              </a:rPr>
              <a:t>Transparent</a:t>
            </a:r>
            <a:r>
              <a:rPr sz="1300" spc="-9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3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85" dirty="0">
                <a:solidFill>
                  <a:srgbClr val="FFFFFF"/>
                </a:solidFill>
                <a:latin typeface="Times New Roman"/>
                <a:cs typeface="Times New Roman"/>
              </a:rPr>
              <a:t>secure</a:t>
            </a:r>
            <a:r>
              <a:rPr sz="14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7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1087100" y="3648074"/>
            <a:ext cx="3438525" cy="1352550"/>
            <a:chOff x="11087100" y="3648074"/>
            <a:chExt cx="3438525" cy="1352550"/>
          </a:xfrm>
        </p:grpSpPr>
        <p:sp>
          <p:nvSpPr>
            <p:cNvPr id="33" name="object 33"/>
            <p:cNvSpPr/>
            <p:nvPr/>
          </p:nvSpPr>
          <p:spPr>
            <a:xfrm>
              <a:off x="11087100" y="3648074"/>
              <a:ext cx="3438525" cy="1352550"/>
            </a:xfrm>
            <a:custGeom>
              <a:avLst/>
              <a:gdLst/>
              <a:ahLst/>
              <a:cxnLst/>
              <a:rect l="l" t="t" r="r" b="b"/>
              <a:pathLst>
                <a:path w="3438525" h="1352550">
                  <a:moveTo>
                    <a:pt x="3324225" y="1352550"/>
                  </a:moveTo>
                  <a:lnTo>
                    <a:pt x="114300" y="1352550"/>
                  </a:lnTo>
                  <a:lnTo>
                    <a:pt x="103040" y="1352006"/>
                  </a:lnTo>
                  <a:lnTo>
                    <a:pt x="60364" y="1339038"/>
                  </a:lnTo>
                  <a:lnTo>
                    <a:pt x="25900" y="1310725"/>
                  </a:lnTo>
                  <a:lnTo>
                    <a:pt x="4894" y="1271379"/>
                  </a:lnTo>
                  <a:lnTo>
                    <a:pt x="0" y="1238250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3324225" y="0"/>
                  </a:lnTo>
                  <a:lnTo>
                    <a:pt x="3367965" y="8700"/>
                  </a:lnTo>
                  <a:lnTo>
                    <a:pt x="3405047" y="33477"/>
                  </a:lnTo>
                  <a:lnTo>
                    <a:pt x="3429824" y="70559"/>
                  </a:lnTo>
                  <a:lnTo>
                    <a:pt x="3438525" y="114300"/>
                  </a:lnTo>
                  <a:lnTo>
                    <a:pt x="3438525" y="1238250"/>
                  </a:lnTo>
                  <a:lnTo>
                    <a:pt x="3429824" y="1281990"/>
                  </a:lnTo>
                  <a:lnTo>
                    <a:pt x="3405047" y="1319072"/>
                  </a:lnTo>
                  <a:lnTo>
                    <a:pt x="3367965" y="1343849"/>
                  </a:lnTo>
                  <a:lnTo>
                    <a:pt x="3324225" y="135255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1087100" y="3648075"/>
              <a:ext cx="3438525" cy="1352550"/>
            </a:xfrm>
            <a:custGeom>
              <a:avLst/>
              <a:gdLst/>
              <a:ahLst/>
              <a:cxnLst/>
              <a:rect l="l" t="t" r="r" b="b"/>
              <a:pathLst>
                <a:path w="3438525" h="1352550">
                  <a:moveTo>
                    <a:pt x="3324224" y="1352549"/>
                  </a:moveTo>
                  <a:lnTo>
                    <a:pt x="114299" y="1352549"/>
                  </a:lnTo>
                  <a:lnTo>
                    <a:pt x="103040" y="1352006"/>
                  </a:lnTo>
                  <a:lnTo>
                    <a:pt x="60364" y="1339037"/>
                  </a:lnTo>
                  <a:lnTo>
                    <a:pt x="25900" y="1310725"/>
                  </a:lnTo>
                  <a:lnTo>
                    <a:pt x="4894" y="1271379"/>
                  </a:lnTo>
                  <a:lnTo>
                    <a:pt x="0" y="1238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324224" y="0"/>
                  </a:lnTo>
                  <a:lnTo>
                    <a:pt x="3367965" y="8700"/>
                  </a:lnTo>
                  <a:lnTo>
                    <a:pt x="336971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245129"/>
                  </a:lnTo>
                  <a:lnTo>
                    <a:pt x="20133" y="1284701"/>
                  </a:lnTo>
                  <a:lnTo>
                    <a:pt x="45077" y="1317201"/>
                  </a:lnTo>
                  <a:lnTo>
                    <a:pt x="80560" y="1337681"/>
                  </a:lnTo>
                  <a:lnTo>
                    <a:pt x="107420" y="1343024"/>
                  </a:lnTo>
                  <a:lnTo>
                    <a:pt x="3369711" y="1343024"/>
                  </a:lnTo>
                  <a:lnTo>
                    <a:pt x="3367965" y="1343849"/>
                  </a:lnTo>
                  <a:lnTo>
                    <a:pt x="3357354" y="1347655"/>
                  </a:lnTo>
                  <a:lnTo>
                    <a:pt x="3346527" y="1350374"/>
                  </a:lnTo>
                  <a:lnTo>
                    <a:pt x="3335484" y="1352006"/>
                  </a:lnTo>
                  <a:lnTo>
                    <a:pt x="3324224" y="1352549"/>
                  </a:lnTo>
                  <a:close/>
                </a:path>
                <a:path w="3438525" h="1352550">
                  <a:moveTo>
                    <a:pt x="3369711" y="1343024"/>
                  </a:moveTo>
                  <a:lnTo>
                    <a:pt x="3331104" y="1343024"/>
                  </a:lnTo>
                  <a:lnTo>
                    <a:pt x="3337917" y="1342353"/>
                  </a:lnTo>
                  <a:lnTo>
                    <a:pt x="3351412" y="1339669"/>
                  </a:lnTo>
                  <a:lnTo>
                    <a:pt x="3388154" y="1321544"/>
                  </a:lnTo>
                  <a:lnTo>
                    <a:pt x="3415163" y="1290739"/>
                  </a:lnTo>
                  <a:lnTo>
                    <a:pt x="3428328" y="1251943"/>
                  </a:lnTo>
                  <a:lnTo>
                    <a:pt x="3428999" y="1245129"/>
                  </a:lnTo>
                  <a:lnTo>
                    <a:pt x="3428999" y="107420"/>
                  </a:lnTo>
                  <a:lnTo>
                    <a:pt x="3418391" y="67848"/>
                  </a:lnTo>
                  <a:lnTo>
                    <a:pt x="3393446" y="35348"/>
                  </a:lnTo>
                  <a:lnTo>
                    <a:pt x="3357963" y="14867"/>
                  </a:lnTo>
                  <a:lnTo>
                    <a:pt x="3331104" y="9524"/>
                  </a:lnTo>
                  <a:lnTo>
                    <a:pt x="3369712" y="9524"/>
                  </a:lnTo>
                  <a:lnTo>
                    <a:pt x="3405046" y="33477"/>
                  </a:lnTo>
                  <a:lnTo>
                    <a:pt x="3429824" y="70559"/>
                  </a:lnTo>
                  <a:lnTo>
                    <a:pt x="3438524" y="114299"/>
                  </a:lnTo>
                  <a:lnTo>
                    <a:pt x="3438524" y="1238249"/>
                  </a:lnTo>
                  <a:lnTo>
                    <a:pt x="3429824" y="1281990"/>
                  </a:lnTo>
                  <a:lnTo>
                    <a:pt x="3405046" y="1319072"/>
                  </a:lnTo>
                  <a:lnTo>
                    <a:pt x="3378159" y="1339037"/>
                  </a:lnTo>
                  <a:lnTo>
                    <a:pt x="3369711" y="13430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2668250" y="3841782"/>
              <a:ext cx="285750" cy="317500"/>
            </a:xfrm>
            <a:custGeom>
              <a:avLst/>
              <a:gdLst/>
              <a:ahLst/>
              <a:cxnLst/>
              <a:rect l="l" t="t" r="r" b="b"/>
              <a:pathLst>
                <a:path w="285750" h="317500">
                  <a:moveTo>
                    <a:pt x="71437" y="36003"/>
                  </a:moveTo>
                  <a:lnTo>
                    <a:pt x="214312" y="117759"/>
                  </a:lnTo>
                </a:path>
                <a:path w="285750" h="317500">
                  <a:moveTo>
                    <a:pt x="285749" y="95217"/>
                  </a:moveTo>
                  <a:lnTo>
                    <a:pt x="158749" y="4253"/>
                  </a:lnTo>
                  <a:lnTo>
                    <a:pt x="153838" y="1417"/>
                  </a:lnTo>
                  <a:lnTo>
                    <a:pt x="148546" y="0"/>
                  </a:lnTo>
                  <a:lnTo>
                    <a:pt x="142874" y="0"/>
                  </a:lnTo>
                  <a:lnTo>
                    <a:pt x="137203" y="0"/>
                  </a:lnTo>
                  <a:lnTo>
                    <a:pt x="131911" y="1417"/>
                  </a:lnTo>
                  <a:lnTo>
                    <a:pt x="126999" y="4253"/>
                  </a:lnTo>
                  <a:lnTo>
                    <a:pt x="15874" y="67753"/>
                  </a:lnTo>
                  <a:lnTo>
                    <a:pt x="10968" y="70586"/>
                  </a:lnTo>
                  <a:lnTo>
                    <a:pt x="7097" y="74455"/>
                  </a:lnTo>
                  <a:lnTo>
                    <a:pt x="4261" y="79360"/>
                  </a:lnTo>
                  <a:lnTo>
                    <a:pt x="1426" y="84266"/>
                  </a:lnTo>
                  <a:lnTo>
                    <a:pt x="5" y="89551"/>
                  </a:lnTo>
                  <a:lnTo>
                    <a:pt x="0" y="95217"/>
                  </a:lnTo>
                  <a:lnTo>
                    <a:pt x="0" y="222217"/>
                  </a:lnTo>
                  <a:lnTo>
                    <a:pt x="126999" y="313181"/>
                  </a:lnTo>
                  <a:lnTo>
                    <a:pt x="131911" y="316016"/>
                  </a:lnTo>
                  <a:lnTo>
                    <a:pt x="137203" y="317434"/>
                  </a:lnTo>
                  <a:lnTo>
                    <a:pt x="142874" y="317434"/>
                  </a:lnTo>
                  <a:lnTo>
                    <a:pt x="148546" y="317434"/>
                  </a:lnTo>
                  <a:lnTo>
                    <a:pt x="153838" y="316016"/>
                  </a:lnTo>
                  <a:lnTo>
                    <a:pt x="158749" y="313181"/>
                  </a:lnTo>
                  <a:lnTo>
                    <a:pt x="269874" y="249681"/>
                  </a:lnTo>
                  <a:lnTo>
                    <a:pt x="285749" y="222217"/>
                  </a:lnTo>
                  <a:lnTo>
                    <a:pt x="285749" y="95217"/>
                  </a:lnTo>
                  <a:close/>
                </a:path>
                <a:path w="285750" h="317500">
                  <a:moveTo>
                    <a:pt x="4762" y="79342"/>
                  </a:moveTo>
                  <a:lnTo>
                    <a:pt x="142874" y="158717"/>
                  </a:lnTo>
                  <a:lnTo>
                    <a:pt x="280987" y="79342"/>
                  </a:lnTo>
                </a:path>
                <a:path w="285750" h="317500">
                  <a:moveTo>
                    <a:pt x="142874" y="317467"/>
                  </a:moveTo>
                  <a:lnTo>
                    <a:pt x="142874" y="158717"/>
                  </a:lnTo>
                </a:path>
              </a:pathLst>
            </a:custGeom>
            <a:ln w="31749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636375" y="4139508"/>
            <a:ext cx="2341880" cy="6921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sz="2150" b="1" spc="-175" dirty="0">
                <a:solidFill>
                  <a:srgbClr val="FFFFFF"/>
                </a:solidFill>
                <a:latin typeface="Times New Roman"/>
                <a:cs typeface="Times New Roman"/>
              </a:rPr>
              <a:t>Smart</a:t>
            </a:r>
            <a:r>
              <a:rPr sz="2150" b="1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Logistics</a:t>
            </a:r>
            <a:endParaRPr sz="2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300" dirty="0">
                <a:solidFill>
                  <a:srgbClr val="FFFFFF"/>
                </a:solidFill>
                <a:latin typeface="Times New Roman"/>
                <a:cs typeface="Times New Roman"/>
              </a:rPr>
              <a:t>60-75%</a:t>
            </a:r>
            <a:r>
              <a:rPr sz="13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75" dirty="0">
                <a:solidFill>
                  <a:srgbClr val="FFFFFF"/>
                </a:solidFill>
                <a:latin typeface="Times New Roman"/>
                <a:cs typeface="Times New Roman"/>
              </a:rPr>
              <a:t>shipping</a:t>
            </a:r>
            <a:r>
              <a:rPr sz="1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7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1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60" dirty="0">
                <a:solidFill>
                  <a:srgbClr val="FFFFFF"/>
                </a:solidFill>
                <a:latin typeface="Times New Roman"/>
                <a:cs typeface="Times New Roman"/>
              </a:rPr>
              <a:t>reduction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886575" y="8153400"/>
            <a:ext cx="4514850" cy="1238250"/>
          </a:xfrm>
          <a:custGeom>
            <a:avLst/>
            <a:gdLst/>
            <a:ahLst/>
            <a:cxnLst/>
            <a:rect l="l" t="t" r="r" b="b"/>
            <a:pathLst>
              <a:path w="4514850" h="1238250">
                <a:moveTo>
                  <a:pt x="0" y="1133475"/>
                </a:moveTo>
                <a:lnTo>
                  <a:pt x="0" y="104775"/>
                </a:lnTo>
                <a:lnTo>
                  <a:pt x="0" y="97895"/>
                </a:lnTo>
                <a:lnTo>
                  <a:pt x="670" y="91081"/>
                </a:lnTo>
                <a:lnTo>
                  <a:pt x="13835" y="52284"/>
                </a:lnTo>
                <a:lnTo>
                  <a:pt x="40844" y="21479"/>
                </a:lnTo>
                <a:lnTo>
                  <a:pt x="77586" y="3355"/>
                </a:lnTo>
                <a:lnTo>
                  <a:pt x="97895" y="0"/>
                </a:lnTo>
                <a:lnTo>
                  <a:pt x="104775" y="0"/>
                </a:lnTo>
                <a:lnTo>
                  <a:pt x="4410075" y="0"/>
                </a:lnTo>
                <a:lnTo>
                  <a:pt x="4416955" y="0"/>
                </a:lnTo>
                <a:lnTo>
                  <a:pt x="4423767" y="671"/>
                </a:lnTo>
                <a:lnTo>
                  <a:pt x="4462563" y="13834"/>
                </a:lnTo>
                <a:lnTo>
                  <a:pt x="4493369" y="40844"/>
                </a:lnTo>
                <a:lnTo>
                  <a:pt x="4497191" y="46564"/>
                </a:lnTo>
                <a:lnTo>
                  <a:pt x="4501013" y="52284"/>
                </a:lnTo>
                <a:lnTo>
                  <a:pt x="4504239" y="58322"/>
                </a:lnTo>
                <a:lnTo>
                  <a:pt x="4506873" y="64678"/>
                </a:lnTo>
                <a:lnTo>
                  <a:pt x="4509506" y="71034"/>
                </a:lnTo>
                <a:lnTo>
                  <a:pt x="4511493" y="77585"/>
                </a:lnTo>
                <a:lnTo>
                  <a:pt x="4512835" y="84334"/>
                </a:lnTo>
                <a:lnTo>
                  <a:pt x="4514178" y="91081"/>
                </a:lnTo>
                <a:lnTo>
                  <a:pt x="4514850" y="97895"/>
                </a:lnTo>
                <a:lnTo>
                  <a:pt x="4514850" y="104775"/>
                </a:lnTo>
                <a:lnTo>
                  <a:pt x="4514850" y="1133475"/>
                </a:lnTo>
                <a:lnTo>
                  <a:pt x="4514850" y="1140353"/>
                </a:lnTo>
                <a:lnTo>
                  <a:pt x="4514178" y="1147167"/>
                </a:lnTo>
                <a:lnTo>
                  <a:pt x="4512835" y="1153913"/>
                </a:lnTo>
                <a:lnTo>
                  <a:pt x="4511493" y="1160661"/>
                </a:lnTo>
                <a:lnTo>
                  <a:pt x="4497191" y="1191683"/>
                </a:lnTo>
                <a:lnTo>
                  <a:pt x="4493369" y="1197403"/>
                </a:lnTo>
                <a:lnTo>
                  <a:pt x="4462563" y="1224413"/>
                </a:lnTo>
                <a:lnTo>
                  <a:pt x="4423767" y="1237578"/>
                </a:lnTo>
                <a:lnTo>
                  <a:pt x="4410075" y="1238250"/>
                </a:lnTo>
                <a:lnTo>
                  <a:pt x="104775" y="1238250"/>
                </a:lnTo>
                <a:lnTo>
                  <a:pt x="64678" y="1230273"/>
                </a:lnTo>
                <a:lnTo>
                  <a:pt x="30687" y="1207561"/>
                </a:lnTo>
                <a:lnTo>
                  <a:pt x="7974" y="1173569"/>
                </a:lnTo>
                <a:lnTo>
                  <a:pt x="0" y="1140353"/>
                </a:lnTo>
                <a:lnTo>
                  <a:pt x="0" y="1133475"/>
                </a:lnTo>
                <a:close/>
              </a:path>
            </a:pathLst>
          </a:custGeom>
          <a:ln w="19049">
            <a:solidFill>
              <a:srgbClr val="FF9933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28815" y="5165135"/>
            <a:ext cx="8830310" cy="40398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2550" b="1" spc="-175" dirty="0">
                <a:solidFill>
                  <a:srgbClr val="128708"/>
                </a:solidFill>
                <a:latin typeface="Times New Roman"/>
                <a:cs typeface="Times New Roman"/>
              </a:rPr>
              <a:t>Our</a:t>
            </a:r>
            <a:r>
              <a:rPr sz="2550" b="1" spc="-165" dirty="0">
                <a:solidFill>
                  <a:srgbClr val="128708"/>
                </a:solidFill>
                <a:latin typeface="Times New Roman"/>
                <a:cs typeface="Times New Roman"/>
              </a:rPr>
              <a:t> </a:t>
            </a:r>
            <a:r>
              <a:rPr sz="2550" b="1" spc="-10" dirty="0">
                <a:solidFill>
                  <a:srgbClr val="128708"/>
                </a:solidFill>
                <a:latin typeface="Times New Roman"/>
                <a:cs typeface="Times New Roman"/>
              </a:rPr>
              <a:t>Vision</a:t>
            </a:r>
            <a:endParaRPr sz="2550" dirty="0">
              <a:latin typeface="Times New Roman"/>
              <a:cs typeface="Times New Roman"/>
            </a:endParaRPr>
          </a:p>
          <a:p>
            <a:pPr marL="12065" marR="5080" algn="ctr">
              <a:lnSpc>
                <a:spcPct val="113399"/>
              </a:lnSpc>
              <a:spcBef>
                <a:spcPts val="215"/>
              </a:spcBef>
            </a:pPr>
            <a:r>
              <a:rPr sz="2150" spc="-22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1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95" dirty="0">
                <a:solidFill>
                  <a:srgbClr val="FFFFFF"/>
                </a:solidFill>
                <a:latin typeface="Times New Roman"/>
                <a:cs typeface="Times New Roman"/>
              </a:rPr>
              <a:t>build</a:t>
            </a:r>
            <a:r>
              <a:rPr sz="21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85" dirty="0">
                <a:solidFill>
                  <a:srgbClr val="FFFFFF"/>
                </a:solidFill>
                <a:latin typeface="Times New Roman"/>
                <a:cs typeface="Times New Roman"/>
              </a:rPr>
              <a:t>India</a:t>
            </a:r>
            <a:r>
              <a:rPr sz="1950" spc="-85" dirty="0">
                <a:solidFill>
                  <a:srgbClr val="FFFFFF"/>
                </a:solidFill>
                <a:latin typeface="Times New Roman"/>
                <a:cs typeface="Times New Roman"/>
              </a:rPr>
              <a:t>'</a:t>
            </a:r>
            <a:r>
              <a:rPr sz="2150" spc="-8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1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10" dirty="0">
                <a:solidFill>
                  <a:srgbClr val="FFFFFF"/>
                </a:solidFill>
                <a:latin typeface="Times New Roman"/>
                <a:cs typeface="Times New Roman"/>
              </a:rPr>
              <a:t>largest</a:t>
            </a:r>
            <a:r>
              <a:rPr sz="21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10" dirty="0">
                <a:solidFill>
                  <a:srgbClr val="FFFFFF"/>
                </a:solidFill>
                <a:latin typeface="Times New Roman"/>
                <a:cs typeface="Times New Roman"/>
              </a:rPr>
              <a:t>artisan</a:t>
            </a:r>
            <a:r>
              <a:rPr sz="21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00" dirty="0">
                <a:solidFill>
                  <a:srgbClr val="FFFFFF"/>
                </a:solidFill>
                <a:latin typeface="Times New Roman"/>
                <a:cs typeface="Times New Roman"/>
              </a:rPr>
              <a:t>export</a:t>
            </a:r>
            <a:r>
              <a:rPr sz="21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14" dirty="0">
                <a:solidFill>
                  <a:srgbClr val="FFFFFF"/>
                </a:solidFill>
                <a:latin typeface="Times New Roman"/>
                <a:cs typeface="Times New Roman"/>
              </a:rPr>
              <a:t>ecosystem</a:t>
            </a:r>
            <a:r>
              <a:rPr sz="1950" spc="-114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9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20" dirty="0">
                <a:solidFill>
                  <a:srgbClr val="FFFFFF"/>
                </a:solidFill>
                <a:latin typeface="Times New Roman"/>
                <a:cs typeface="Times New Roman"/>
              </a:rPr>
              <a:t>onboarding</a:t>
            </a:r>
            <a:r>
              <a:rPr sz="21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FFFFFF"/>
                </a:solidFill>
                <a:latin typeface="Times New Roman"/>
                <a:cs typeface="Times New Roman"/>
              </a:rPr>
              <a:t>50,000</a:t>
            </a:r>
            <a:r>
              <a:rPr sz="19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14" dirty="0">
                <a:solidFill>
                  <a:srgbClr val="FFFFFF"/>
                </a:solidFill>
                <a:latin typeface="Times New Roman"/>
                <a:cs typeface="Times New Roman"/>
              </a:rPr>
              <a:t>artisans</a:t>
            </a:r>
            <a:r>
              <a:rPr sz="21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9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150" spc="-114" dirty="0">
                <a:solidFill>
                  <a:srgbClr val="FFFFFF"/>
                </a:solidFill>
                <a:latin typeface="Times New Roman"/>
                <a:cs typeface="Times New Roman"/>
              </a:rPr>
              <a:t>generating</a:t>
            </a:r>
            <a:r>
              <a:rPr sz="21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50" dirty="0">
                <a:solidFill>
                  <a:srgbClr val="FFFFFF"/>
                </a:solidFill>
                <a:latin typeface="Times New Roman"/>
                <a:cs typeface="Times New Roman"/>
              </a:rPr>
              <a:t>$</a:t>
            </a:r>
            <a:r>
              <a:rPr sz="1950" spc="-5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r>
              <a:rPr sz="2150" spc="-5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21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0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1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05" dirty="0">
                <a:solidFill>
                  <a:srgbClr val="FFFFFF"/>
                </a:solidFill>
                <a:latin typeface="Times New Roman"/>
                <a:cs typeface="Times New Roman"/>
              </a:rPr>
              <a:t>exports</a:t>
            </a:r>
            <a:r>
              <a:rPr sz="21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1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1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Times New Roman"/>
                <a:cs typeface="Times New Roman"/>
              </a:rPr>
              <a:t>202</a:t>
            </a:r>
            <a:r>
              <a:rPr lang="en-IN" sz="1950" spc="-1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195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19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3050" b="1" spc="-130" dirty="0">
                <a:solidFill>
                  <a:srgbClr val="FF9933"/>
                </a:solidFill>
                <a:latin typeface="Times New Roman"/>
                <a:cs typeface="Times New Roman"/>
              </a:rPr>
              <a:t>Make</a:t>
            </a:r>
            <a:r>
              <a:rPr sz="3050" b="1" spc="-19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160" dirty="0">
                <a:solidFill>
                  <a:srgbClr val="FF9933"/>
                </a:solidFill>
                <a:latin typeface="Times New Roman"/>
                <a:cs typeface="Times New Roman"/>
              </a:rPr>
              <a:t>in</a:t>
            </a:r>
            <a:r>
              <a:rPr sz="3050" b="1" spc="-19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150" dirty="0">
                <a:solidFill>
                  <a:srgbClr val="FF9933"/>
                </a:solidFill>
                <a:latin typeface="Times New Roman"/>
                <a:cs typeface="Times New Roman"/>
              </a:rPr>
              <a:t>India</a:t>
            </a:r>
            <a:r>
              <a:rPr sz="3050" b="1" spc="-185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114" dirty="0">
                <a:solidFill>
                  <a:srgbClr val="FF9933"/>
                </a:solidFill>
                <a:latin typeface="Times New Roman"/>
                <a:cs typeface="Times New Roman"/>
              </a:rPr>
              <a:t>for</a:t>
            </a:r>
            <a:r>
              <a:rPr sz="3050" b="1" spc="-19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110" dirty="0">
                <a:solidFill>
                  <a:srgbClr val="FF9933"/>
                </a:solidFill>
                <a:latin typeface="Times New Roman"/>
                <a:cs typeface="Times New Roman"/>
              </a:rPr>
              <a:t>the</a:t>
            </a:r>
            <a:r>
              <a:rPr sz="3050" b="1" spc="-185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165" dirty="0">
                <a:solidFill>
                  <a:srgbClr val="FF9933"/>
                </a:solidFill>
                <a:latin typeface="Times New Roman"/>
                <a:cs typeface="Times New Roman"/>
              </a:rPr>
              <a:t>World</a:t>
            </a:r>
            <a:r>
              <a:rPr sz="3050" b="1" spc="-19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100" b="1" spc="-405" dirty="0">
                <a:solidFill>
                  <a:srgbClr val="FF9933"/>
                </a:solidFill>
                <a:latin typeface="Times New Roman"/>
                <a:cs typeface="Times New Roman"/>
              </a:rPr>
              <a:t>—</a:t>
            </a:r>
            <a:r>
              <a:rPr sz="3100" b="1" spc="-20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204" dirty="0">
                <a:solidFill>
                  <a:srgbClr val="FF9933"/>
                </a:solidFill>
                <a:latin typeface="Times New Roman"/>
                <a:cs typeface="Times New Roman"/>
              </a:rPr>
              <a:t>One</a:t>
            </a:r>
            <a:r>
              <a:rPr sz="3050" b="1" spc="-19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135" dirty="0">
                <a:solidFill>
                  <a:srgbClr val="FF9933"/>
                </a:solidFill>
                <a:latin typeface="Times New Roman"/>
                <a:cs typeface="Times New Roman"/>
              </a:rPr>
              <a:t>Artisan</a:t>
            </a:r>
            <a:r>
              <a:rPr sz="3050" b="1" spc="-185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90" dirty="0">
                <a:solidFill>
                  <a:srgbClr val="FF9933"/>
                </a:solidFill>
                <a:latin typeface="Times New Roman"/>
                <a:cs typeface="Times New Roman"/>
              </a:rPr>
              <a:t>at</a:t>
            </a:r>
            <a:r>
              <a:rPr sz="3050" b="1" spc="-190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140" dirty="0">
                <a:solidFill>
                  <a:srgbClr val="FF9933"/>
                </a:solidFill>
                <a:latin typeface="Times New Roman"/>
                <a:cs typeface="Times New Roman"/>
              </a:rPr>
              <a:t>a</a:t>
            </a:r>
            <a:r>
              <a:rPr sz="3050" b="1" spc="-185" dirty="0">
                <a:solidFill>
                  <a:srgbClr val="FF9933"/>
                </a:solidFill>
                <a:latin typeface="Times New Roman"/>
                <a:cs typeface="Times New Roman"/>
              </a:rPr>
              <a:t> </a:t>
            </a:r>
            <a:r>
              <a:rPr sz="3050" b="1" spc="-20" dirty="0">
                <a:solidFill>
                  <a:srgbClr val="FF9933"/>
                </a:solidFill>
                <a:latin typeface="Times New Roman"/>
                <a:cs typeface="Times New Roman"/>
              </a:rPr>
              <a:t>Time</a:t>
            </a:r>
            <a:endParaRPr sz="30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30"/>
              </a:spcBef>
            </a:pPr>
            <a:r>
              <a:rPr sz="3050" b="1" spc="-170" dirty="0">
                <a:solidFill>
                  <a:srgbClr val="FFFFFF"/>
                </a:solidFill>
                <a:latin typeface="Times New Roman"/>
                <a:cs typeface="Times New Roman"/>
              </a:rPr>
              <a:t>Join</a:t>
            </a:r>
            <a:r>
              <a:rPr sz="3050" b="1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220" dirty="0">
                <a:solidFill>
                  <a:srgbClr val="FFFFFF"/>
                </a:solidFill>
                <a:latin typeface="Times New Roman"/>
                <a:cs typeface="Times New Roman"/>
              </a:rPr>
              <a:t>Us</a:t>
            </a:r>
            <a:r>
              <a:rPr sz="3050" b="1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16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050" b="1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170" dirty="0">
                <a:solidFill>
                  <a:srgbClr val="FFFFFF"/>
                </a:solidFill>
                <a:latin typeface="Times New Roman"/>
                <a:cs typeface="Times New Roman"/>
              </a:rPr>
              <a:t>Transforming </a:t>
            </a:r>
            <a:r>
              <a:rPr sz="2900" b="1" spc="-145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sz="2900" b="1" spc="-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140" dirty="0">
                <a:solidFill>
                  <a:srgbClr val="FFFFFF"/>
                </a:solidFill>
                <a:latin typeface="Times New Roman"/>
                <a:cs typeface="Times New Roman"/>
              </a:rPr>
              <a:t>Million</a:t>
            </a:r>
            <a:r>
              <a:rPr sz="3050" b="1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Lives</a:t>
            </a:r>
            <a:endParaRPr sz="30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150" spc="-170" dirty="0">
                <a:solidFill>
                  <a:srgbClr val="FFFFFF"/>
                </a:solidFill>
                <a:latin typeface="Times New Roman"/>
                <a:cs typeface="Times New Roman"/>
              </a:rPr>
              <a:t>TechGig</a:t>
            </a:r>
            <a:r>
              <a:rPr sz="21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35" dirty="0">
                <a:solidFill>
                  <a:srgbClr val="FFFFFF"/>
                </a:solidFill>
                <a:latin typeface="Times New Roman"/>
                <a:cs typeface="Times New Roman"/>
              </a:rPr>
              <a:t>Hackathon</a:t>
            </a:r>
            <a:r>
              <a:rPr sz="21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FFFFFF"/>
                </a:solidFill>
                <a:latin typeface="Times New Roman"/>
                <a:cs typeface="Times New Roman"/>
              </a:rPr>
              <a:t>202</a:t>
            </a:r>
            <a:r>
              <a:rPr lang="en-IN" sz="195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195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19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75" dirty="0">
                <a:solidFill>
                  <a:srgbClr val="FFFFFF"/>
                </a:solidFill>
                <a:latin typeface="Times New Roman"/>
                <a:cs typeface="Times New Roman"/>
              </a:rPr>
              <a:t>Make</a:t>
            </a:r>
            <a:r>
              <a:rPr sz="21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0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1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25" dirty="0">
                <a:solidFill>
                  <a:srgbClr val="FFFFFF"/>
                </a:solidFill>
                <a:latin typeface="Times New Roman"/>
                <a:cs typeface="Times New Roman"/>
              </a:rPr>
              <a:t>India</a:t>
            </a:r>
            <a:r>
              <a:rPr sz="21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4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1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0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1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Times New Roman"/>
                <a:cs typeface="Times New Roman"/>
              </a:rPr>
              <a:t>World</a:t>
            </a:r>
            <a:endParaRPr sz="2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15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Bharatcraft</a:t>
            </a:r>
            <a:endParaRPr sz="2150" dirty="0">
              <a:latin typeface="Times New Roman"/>
              <a:cs typeface="Times New Roman"/>
            </a:endParaRPr>
          </a:p>
          <a:p>
            <a:pPr marL="2317750" marR="2310130" algn="ctr">
              <a:lnSpc>
                <a:spcPts val="2400"/>
              </a:lnSpc>
            </a:pP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450" spc="-3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600" spc="-114" dirty="0">
                <a:solidFill>
                  <a:srgbClr val="FFFFFF"/>
                </a:solidFill>
                <a:latin typeface="Times New Roman"/>
                <a:cs typeface="Times New Roman"/>
              </a:rPr>
              <a:t>Powered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Times New Roman"/>
                <a:cs typeface="Times New Roman"/>
              </a:rPr>
              <a:t>Export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Times New Roman"/>
                <a:cs typeface="Times New Roman"/>
              </a:rPr>
              <a:t>Marketplace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sz="1600" spc="-75" dirty="0">
                <a:solidFill>
                  <a:srgbClr val="FFFFFF"/>
                </a:solidFill>
                <a:latin typeface="Times New Roman"/>
                <a:cs typeface="Times New Roman"/>
              </a:rPr>
              <a:t>Artisan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Clusters </a:t>
            </a:r>
            <a:r>
              <a:rPr sz="1500" spc="-10" dirty="0">
                <a:solidFill>
                  <a:srgbClr val="2DD4BE"/>
                </a:solidFill>
                <a:latin typeface="Times New Roman"/>
                <a:cs typeface="Times New Roman"/>
                <a:hlinkClick r:id="rId2"/>
              </a:rPr>
              <a:t>team</a:t>
            </a:r>
            <a:r>
              <a:rPr sz="1400" spc="-10" dirty="0">
                <a:solidFill>
                  <a:srgbClr val="2DD4BE"/>
                </a:solidFill>
                <a:latin typeface="Times New Roman"/>
                <a:cs typeface="Times New Roman"/>
                <a:hlinkClick r:id="rId2"/>
              </a:rPr>
              <a:t>@</a:t>
            </a:r>
            <a:r>
              <a:rPr sz="1500" spc="-10" dirty="0">
                <a:solidFill>
                  <a:srgbClr val="2DD4BE"/>
                </a:solidFill>
                <a:latin typeface="Times New Roman"/>
                <a:cs typeface="Times New Roman"/>
                <a:hlinkClick r:id="rId2"/>
              </a:rPr>
              <a:t>bharatcraft</a:t>
            </a:r>
            <a:r>
              <a:rPr sz="1400" spc="-10" dirty="0">
                <a:solidFill>
                  <a:srgbClr val="2DD4BE"/>
                </a:solidFill>
                <a:latin typeface="Times New Roman"/>
                <a:cs typeface="Times New Roman"/>
                <a:hlinkClick r:id="rId2"/>
              </a:rPr>
              <a:t>.</a:t>
            </a:r>
            <a:r>
              <a:rPr sz="1500" spc="-10" dirty="0">
                <a:solidFill>
                  <a:srgbClr val="2DD4BE"/>
                </a:solidFill>
                <a:latin typeface="Times New Roman"/>
                <a:cs typeface="Times New Roman"/>
                <a:hlinkClick r:id="rId2"/>
              </a:rPr>
              <a:t>ai</a:t>
            </a:r>
            <a:endParaRPr sz="1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DD4B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1266</Words>
  <Application>Microsoft Office PowerPoint</Application>
  <PresentationFormat>Custom</PresentationFormat>
  <Paragraphs>310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Bharatcraft</vt:lpstr>
      <vt:lpstr>The Artisan Crisis</vt:lpstr>
      <vt:lpstr>The Bharatcraft Solution</vt:lpstr>
      <vt:lpstr>Feature 1: Cultural Context AI Negotiation</vt:lpstr>
      <vt:lpstr>Feature 2: Computer Vision Quality Grading &amp; Export Compliance</vt:lpstr>
      <vt:lpstr>Feature 3: Cluster Logistics Pooling</vt:lpstr>
      <vt:lpstr>Technical Architecture</vt:lpstr>
      <vt:lpstr>Impact &amp; Growth Metrics</vt:lpstr>
      <vt:lpstr>Revenue Model &amp; Market Opportunity</vt:lpstr>
      <vt:lpstr>Empowering Artisans, Preserving Heritage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Madhan J</cp:lastModifiedBy>
  <cp:revision>27</cp:revision>
  <dcterms:created xsi:type="dcterms:W3CDTF">2025-10-01T17:53:57Z</dcterms:created>
  <dcterms:modified xsi:type="dcterms:W3CDTF">2025-10-01T18:08:55Z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2025-10-01T00:00:00Z</vt:filetime>
  </property>
  <property fmtid="{D5CDD505-2E9C-101B-9397-08002B2CF9AE}" pid="3" name="LastSaved">
    <vt:filetime>2025-10-01T00:00:00Z</vt:filetime>
  </property>
</Properties>
</file>